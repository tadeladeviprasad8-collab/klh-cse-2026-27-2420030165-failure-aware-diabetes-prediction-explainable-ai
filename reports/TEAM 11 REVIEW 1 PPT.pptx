
<file path=[Content_Types].xml><?xml version="1.0" encoding="utf-8"?>
<Types xmlns="http://schemas.openxmlformats.org/package/2006/content-types">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0537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2468880"/>
            <a:ext cx="11094415" cy="1828800"/>
          </a:xfrm>
          <a:prstGeom prst="rect">
            <a:avLst/>
          </a:prstGeom>
          <a:noFill/>
          <a:ln/>
        </p:spPr>
        <p:txBody>
          <a:bodyPr wrap="square" rtlCol="0" anchor="ctr"/>
          <a:lstStyle/>
          <a:p>
            <a:pPr algn="ctr"/>
            <a:r>
              <a:rPr lang="en-US" sz="3000" b="1" dirty="0">
                <a:solidFill>
                  <a:srgbClr val="B32B2E"/>
                </a:solidFill>
                <a:latin typeface="Arial" pitchFamily="34" charset="0"/>
                <a:ea typeface="Arial" pitchFamily="34" charset="-122"/>
                <a:cs typeface="Arial" pitchFamily="34" charset="-120"/>
              </a:rPr>
              <a:t>HEART DISEASE EARLY RISK PREDICTION USING MULTI-DATASET ANALYSIS</a:t>
            </a:r>
            <a:endParaRPr lang="en-US" sz="3000" dirty="0"/>
          </a:p>
        </p:txBody>
      </p:sp>
      <p:pic>
        <p:nvPicPr>
          <p:cNvPr id="7" name="Picture 6">
            <a:extLst>
              <a:ext uri="{FF2B5EF4-FFF2-40B4-BE49-F238E27FC236}">
                <a16:creationId xmlns:a16="http://schemas.microsoft.com/office/drawing/2014/main" id="{DE9DFA40-F1C4-2122-89F4-30BFA5A00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0"/>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PROBLEM STATEMENT</a:t>
            </a:r>
            <a:endParaRPr lang="en-US" sz="2400" dirty="0"/>
          </a:p>
        </p:txBody>
      </p:sp>
      <p:sp>
        <p:nvSpPr>
          <p:cNvPr id="5" name="Text 2"/>
          <p:cNvSpPr/>
          <p:nvPr/>
        </p:nvSpPr>
        <p:spPr>
          <a:xfrm>
            <a:off x="822960" y="1691640"/>
            <a:ext cx="10820095" cy="4572000"/>
          </a:xfrm>
          <a:prstGeom prst="rect">
            <a:avLst/>
          </a:prstGeom>
          <a:noFill/>
          <a:ln/>
        </p:spPr>
        <p:txBody>
          <a:bodyPr wrap="square" rtlCol="0" anchor="t"/>
          <a:lstStyle/>
          <a:p>
            <a:pPr marL="228600" indent="-228600">
              <a:lnSpc>
                <a:spcPct val="115000"/>
              </a:lnSpc>
              <a:spcAft>
                <a:spcPts val="1000"/>
              </a:spcAft>
              <a:buSzPct val="100000"/>
              <a:buChar char="•"/>
            </a:pPr>
            <a:r>
              <a:rPr lang="en-US" sz="1700" dirty="0">
                <a:solidFill>
                  <a:srgbClr val="1A1A1A"/>
                </a:solidFill>
                <a:latin typeface="Arial" pitchFamily="34" charset="0"/>
                <a:ea typeface="Arial" pitchFamily="34" charset="-122"/>
                <a:cs typeface="Arial" pitchFamily="34" charset="-120"/>
              </a:rPr>
              <a:t>Heart disease is one of the major causes of death worldwide. It can develop due to multiple interacting risk factors such as high blood pressure, high cholesterol, diabetes, obesity, unhealthy lifestyle, and abnormal heart rate.</a:t>
            </a:r>
            <a:endParaRPr lang="en-US" sz="1700" dirty="0"/>
          </a:p>
          <a:p>
            <a:pPr marL="228600" indent="-228600">
              <a:lnSpc>
                <a:spcPct val="115000"/>
              </a:lnSpc>
              <a:spcAft>
                <a:spcPts val="1000"/>
              </a:spcAft>
              <a:buSzPct val="100000"/>
              <a:buChar char="•"/>
            </a:pPr>
            <a:r>
              <a:rPr lang="en-US" sz="1700" dirty="0">
                <a:solidFill>
                  <a:srgbClr val="1A1A1A"/>
                </a:solidFill>
                <a:latin typeface="Arial" pitchFamily="34" charset="0"/>
                <a:ea typeface="Arial" pitchFamily="34" charset="-122"/>
                <a:cs typeface="Arial" pitchFamily="34" charset="-120"/>
              </a:rPr>
              <a:t>Early detection is difficult because symptoms may vary between individuals and some high-risk patients may show few or no noticeable symptoms.</a:t>
            </a:r>
            <a:endParaRPr lang="en-US" sz="1700" dirty="0"/>
          </a:p>
          <a:p>
            <a:pPr marL="228600" indent="-228600">
              <a:lnSpc>
                <a:spcPct val="115000"/>
              </a:lnSpc>
              <a:spcAft>
                <a:spcPts val="1000"/>
              </a:spcAft>
              <a:buSzPct val="100000"/>
              <a:buChar char="•"/>
            </a:pPr>
            <a:r>
              <a:rPr lang="en-US" sz="1700" dirty="0">
                <a:solidFill>
                  <a:srgbClr val="1A1A1A"/>
                </a:solidFill>
                <a:latin typeface="Arial" pitchFamily="34" charset="0"/>
                <a:ea typeface="Arial" pitchFamily="34" charset="-122"/>
                <a:cs typeface="Arial" pitchFamily="34" charset="-120"/>
              </a:rPr>
              <a:t>Therefore, there is a need for an effective early heart disease risk prediction system that can analyze patient health factors and help identify individuals who may be at higher risk.</a:t>
            </a:r>
            <a:endParaRPr lang="en-US" sz="1700" dirty="0"/>
          </a:p>
        </p:txBody>
      </p:sp>
      <p:pic>
        <p:nvPicPr>
          <p:cNvPr id="7" name="Picture 6">
            <a:extLst>
              <a:ext uri="{FF2B5EF4-FFF2-40B4-BE49-F238E27FC236}">
                <a16:creationId xmlns:a16="http://schemas.microsoft.com/office/drawing/2014/main" id="{B96E80F2-31AB-E7D4-6287-1BF895C5A6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OBJECTIVES</a:t>
            </a:r>
            <a:endParaRPr lang="en-US" sz="2400" dirty="0"/>
          </a:p>
        </p:txBody>
      </p:sp>
      <p:sp>
        <p:nvSpPr>
          <p:cNvPr id="5" name="Text 2"/>
          <p:cNvSpPr/>
          <p:nvPr/>
        </p:nvSpPr>
        <p:spPr>
          <a:xfrm>
            <a:off x="822960" y="1828800"/>
            <a:ext cx="10820095" cy="4572000"/>
          </a:xfrm>
          <a:prstGeom prst="rect">
            <a:avLst/>
          </a:prstGeom>
          <a:noFill/>
          <a:ln/>
        </p:spPr>
        <p:txBody>
          <a:bodyPr wrap="square" rtlCol="0" anchor="t"/>
          <a:lstStyle/>
          <a:p>
            <a:pPr marL="228600" indent="-228600">
              <a:lnSpc>
                <a:spcPct val="115000"/>
              </a:lnSpc>
              <a:buSzPct val="100000"/>
              <a:buChar char="•"/>
            </a:pPr>
            <a:r>
              <a:rPr lang="en-US" sz="1700" b="1" dirty="0">
                <a:solidFill>
                  <a:srgbClr val="1A1A1A"/>
                </a:solidFill>
                <a:latin typeface="Arial" pitchFamily="34" charset="0"/>
                <a:ea typeface="Arial" pitchFamily="34" charset="-122"/>
                <a:cs typeface="Arial" pitchFamily="34" charset="-120"/>
              </a:rPr>
              <a:t>To integrate</a:t>
            </a:r>
            <a:r>
              <a:rPr lang="en-US" sz="1700" dirty="0">
                <a:solidFill>
                  <a:srgbClr val="1A1A1A"/>
                </a:solidFill>
                <a:latin typeface="Arial" pitchFamily="34" charset="0"/>
                <a:ea typeface="Arial" pitchFamily="34" charset="-122"/>
                <a:cs typeface="Arial" pitchFamily="34" charset="-120"/>
              </a:rPr>
              <a:t> data preprocessing, exploratory data analysis, and feature selection within a single analytical framework.</a:t>
            </a:r>
            <a:endParaRPr lang="en-US" sz="1700" dirty="0"/>
          </a:p>
          <a:p>
            <a:pPr marL="228600" indent="-228600">
              <a:lnSpc>
                <a:spcPct val="115000"/>
              </a:lnSpc>
              <a:buSzPct val="100000"/>
              <a:buChar char="•"/>
            </a:pPr>
            <a:r>
              <a:rPr lang="en-US" sz="1700" b="1" dirty="0">
                <a:solidFill>
                  <a:srgbClr val="1A1A1A"/>
                </a:solidFill>
                <a:latin typeface="Arial" pitchFamily="34" charset="0"/>
                <a:ea typeface="Arial" pitchFamily="34" charset="-122"/>
                <a:cs typeface="Arial" pitchFamily="34" charset="-120"/>
              </a:rPr>
              <a:t>To incorporate</a:t>
            </a:r>
            <a:r>
              <a:rPr lang="en-US" sz="1700" dirty="0">
                <a:solidFill>
                  <a:srgbClr val="1A1A1A"/>
                </a:solidFill>
                <a:latin typeface="Arial" pitchFamily="34" charset="0"/>
                <a:ea typeface="Arial" pitchFamily="34" charset="-122"/>
                <a:cs typeface="Arial" pitchFamily="34" charset="-120"/>
              </a:rPr>
              <a:t> SHAP and LIME techniques to provide clear and interpretable explanations of model predictions.</a:t>
            </a:r>
            <a:endParaRPr lang="en-US" sz="1700" dirty="0"/>
          </a:p>
          <a:p>
            <a:pPr marL="228600" indent="-228600">
              <a:lnSpc>
                <a:spcPct val="115000"/>
              </a:lnSpc>
              <a:buSzPct val="100000"/>
              <a:buChar char="•"/>
            </a:pPr>
            <a:r>
              <a:rPr lang="en-US" sz="1700" b="1" dirty="0">
                <a:solidFill>
                  <a:srgbClr val="1A1A1A"/>
                </a:solidFill>
                <a:latin typeface="Arial" pitchFamily="34" charset="0"/>
                <a:ea typeface="Arial" pitchFamily="34" charset="-122"/>
                <a:cs typeface="Arial" pitchFamily="34" charset="-120"/>
              </a:rPr>
              <a:t>To implement</a:t>
            </a:r>
            <a:r>
              <a:rPr lang="en-US" sz="1700" dirty="0">
                <a:solidFill>
                  <a:srgbClr val="1A1A1A"/>
                </a:solidFill>
                <a:latin typeface="Arial" pitchFamily="34" charset="0"/>
                <a:ea typeface="Arial" pitchFamily="34" charset="-122"/>
                <a:cs typeface="Arial" pitchFamily="34" charset="-120"/>
              </a:rPr>
              <a:t> realistic input validation to ensure only clinically plausible values are processed.</a:t>
            </a:r>
            <a:endParaRPr lang="en-US" sz="1700" dirty="0"/>
          </a:p>
          <a:p>
            <a:pPr marL="228600" indent="-228600">
              <a:lnSpc>
                <a:spcPct val="115000"/>
              </a:lnSpc>
              <a:buSzPct val="100000"/>
              <a:buFontTx/>
              <a:buChar char="•"/>
            </a:pPr>
            <a:r>
              <a:rPr lang="en-US" sz="1700" b="1" dirty="0">
                <a:solidFill>
                  <a:srgbClr val="1A1A1A"/>
                </a:solidFill>
                <a:latin typeface="Arial" pitchFamily="34" charset="0"/>
                <a:ea typeface="Arial" pitchFamily="34" charset="-122"/>
                <a:cs typeface="Arial" pitchFamily="34" charset="-120"/>
              </a:rPr>
              <a:t>To develop</a:t>
            </a:r>
            <a:r>
              <a:rPr lang="en-US" sz="1700" dirty="0">
                <a:solidFill>
                  <a:srgbClr val="1A1A1A"/>
                </a:solidFill>
                <a:latin typeface="Arial" pitchFamily="34" charset="0"/>
                <a:ea typeface="Arial" pitchFamily="34" charset="-122"/>
                <a:cs typeface="Arial" pitchFamily="34" charset="-120"/>
              </a:rPr>
              <a:t> an interactive Streamlit dashboard that unifies prediction, explanation, and visualization in one platform.</a:t>
            </a:r>
            <a:r>
              <a:rPr lang="en-US" sz="1700" b="1" dirty="0">
                <a:solidFill>
                  <a:srgbClr val="1A1A1A"/>
                </a:solidFill>
                <a:latin typeface="Arial" pitchFamily="34" charset="0"/>
                <a:ea typeface="Arial" pitchFamily="34" charset="-122"/>
                <a:cs typeface="Arial" pitchFamily="34" charset="-120"/>
              </a:rPr>
              <a:t> </a:t>
            </a:r>
          </a:p>
          <a:p>
            <a:pPr marL="228600" indent="-228600">
              <a:lnSpc>
                <a:spcPct val="115000"/>
              </a:lnSpc>
              <a:buSzPct val="100000"/>
              <a:buFontTx/>
              <a:buChar char="•"/>
            </a:pPr>
            <a:r>
              <a:rPr lang="en-US" sz="1700" b="1" dirty="0">
                <a:solidFill>
                  <a:srgbClr val="1A1A1A"/>
                </a:solidFill>
                <a:latin typeface="Arial" pitchFamily="34" charset="0"/>
                <a:ea typeface="Arial" pitchFamily="34" charset="-122"/>
                <a:cs typeface="Arial" pitchFamily="34" charset="-120"/>
              </a:rPr>
              <a:t>To compare</a:t>
            </a:r>
            <a:r>
              <a:rPr lang="en-US" sz="1700" dirty="0">
                <a:solidFill>
                  <a:srgbClr val="1A1A1A"/>
                </a:solidFill>
                <a:latin typeface="Arial" pitchFamily="34" charset="0"/>
                <a:ea typeface="Arial" pitchFamily="34" charset="-122"/>
                <a:cs typeface="Arial" pitchFamily="34" charset="-120"/>
              </a:rPr>
              <a:t> multiple machine learning classifiers using standard performance metrics to identify the most suitable model.</a:t>
            </a:r>
            <a:endParaRPr lang="en-US" sz="1700" dirty="0"/>
          </a:p>
          <a:p>
            <a:pPr marL="228600" indent="-228600">
              <a:lnSpc>
                <a:spcPct val="115000"/>
              </a:lnSpc>
              <a:buSzPct val="100000"/>
              <a:buChar char="•"/>
            </a:pPr>
            <a:endParaRPr lang="en-US" sz="1700" dirty="0"/>
          </a:p>
        </p:txBody>
      </p:sp>
      <p:pic>
        <p:nvPicPr>
          <p:cNvPr id="7" name="Picture 6">
            <a:extLst>
              <a:ext uri="{FF2B5EF4-FFF2-40B4-BE49-F238E27FC236}">
                <a16:creationId xmlns:a16="http://schemas.microsoft.com/office/drawing/2014/main" id="{1307DE70-48A0-83B4-B1F8-EC0551E7EE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LITERATURE SURVEY — PAPERS 1 TO 5</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2438984663"/>
              </p:ext>
            </p:extLst>
          </p:nvPr>
        </p:nvGraphicFramePr>
        <p:xfrm>
          <a:off x="548640" y="1600200"/>
          <a:ext cx="11094415" cy="4445267"/>
        </p:xfrm>
        <a:graphic>
          <a:graphicData uri="http://schemas.openxmlformats.org/drawingml/2006/table">
            <a:tbl>
              <a:tblPr/>
              <a:tblGrid>
                <a:gridCol w="36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3200000">
                  <a:extLst>
                    <a:ext uri="{9D8B030D-6E8A-4147-A177-3AD203B41FA5}">
                      <a16:colId xmlns:a16="http://schemas.microsoft.com/office/drawing/2014/main" val="20002"/>
                    </a:ext>
                  </a:extLst>
                </a:gridCol>
                <a:gridCol w="2794415">
                  <a:extLst>
                    <a:ext uri="{9D8B030D-6E8A-4147-A177-3AD203B41FA5}">
                      <a16:colId xmlns:a16="http://schemas.microsoft.com/office/drawing/2014/main" val="20003"/>
                    </a:ext>
                  </a:extLst>
                </a:gridCol>
              </a:tblGrid>
              <a:tr h="0">
                <a:tc>
                  <a:txBody>
                    <a:bodyPr/>
                    <a:lstStyle/>
                    <a:p>
                      <a:pPr marL="0" indent="0">
                        <a:buNone/>
                      </a:pPr>
                      <a:r>
                        <a:rPr lang="en-US" sz="1200" b="1" dirty="0">
                          <a:solidFill>
                            <a:srgbClr val="FFFFFF"/>
                          </a:solidFill>
                        </a:rPr>
                        <a:t>Research Paper</a:t>
                      </a:r>
                      <a:endParaRPr lang="en-US" sz="120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pPr marL="0" indent="0">
                        <a:buNone/>
                      </a:pPr>
                      <a:r>
                        <a:rPr lang="en-US" sz="1200" b="1" dirty="0">
                          <a:solidFill>
                            <a:srgbClr val="FFFFFF"/>
                          </a:solidFill>
                        </a:rPr>
                        <a:t>Publication</a:t>
                      </a:r>
                      <a:endParaRPr lang="en-US" sz="120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pPr marL="0" indent="0">
                        <a:buNone/>
                      </a:pPr>
                      <a:r>
                        <a:rPr lang="en-US" sz="1200" b="1" dirty="0">
                          <a:solidFill>
                            <a:srgbClr val="FFFFFF"/>
                          </a:solidFill>
                        </a:rPr>
                        <a:t>Key Contribution</a:t>
                      </a:r>
                      <a:endParaRPr lang="en-US" sz="120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pPr marL="0" indent="0">
                        <a:buNone/>
                      </a:pPr>
                      <a:r>
                        <a:rPr lang="en-US" sz="1200" b="1" dirty="0">
                          <a:solidFill>
                            <a:srgbClr val="FFFFFF"/>
                          </a:solidFill>
                        </a:rPr>
                        <a:t>Limitations</a:t>
                      </a:r>
                      <a:endParaRPr lang="en-US" sz="120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extLst>
                  <a:ext uri="{0D108BD9-81ED-4DB2-BD59-A6C34878D82A}">
                    <a16:rowId xmlns:a16="http://schemas.microsoft.com/office/drawing/2014/main" val="10000"/>
                  </a:ext>
                </a:extLst>
              </a:tr>
              <a:tr h="673768">
                <a:tc>
                  <a:txBody>
                    <a:bodyPr/>
                    <a:lstStyle/>
                    <a:p>
                      <a:pPr marL="0" indent="0">
                        <a:buNone/>
                      </a:pPr>
                      <a:r>
                        <a:rPr lang="en-US" sz="1050" dirty="0">
                          <a:solidFill>
                            <a:srgbClr val="1A1A1A"/>
                          </a:solidFill>
                        </a:rPr>
                        <a:t>Feature-Limited Prediction on the UCI Heart Disease Dataset (2023)</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Computers, Materials &amp; Continua</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Performs EDA on the UCI dataset, examines feature distributions and missing values, applies feature selection, and compares multiple ML models.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Limited to EDA and feature selection; does not incorporate explainability or a deployment interface.</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30179">
                <a:tc>
                  <a:txBody>
                    <a:bodyPr/>
                    <a:lstStyle/>
                    <a:p>
                      <a:pPr marL="0" indent="0">
                        <a:buNone/>
                      </a:pPr>
                      <a:r>
                        <a:rPr lang="en-US" sz="1050" dirty="0">
                          <a:solidFill>
                            <a:srgbClr val="1A1A1A"/>
                          </a:solidFill>
                        </a:rPr>
                        <a:t>An Active Learning Machine Technique Based Prediction of Cardiovascular Heart Disease from UCI-Repository Database (2023)</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Scientific Reports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Performs preprocessing, EDA, and visualization to examine attribute relationships before applying multiple ML classifiers.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Focuses on classification performance only; lacks explainability (SHAP/LIME) and input validation.</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extLst>
                  <a:ext uri="{0D108BD9-81ED-4DB2-BD59-A6C34878D82A}">
                    <a16:rowId xmlns:a16="http://schemas.microsoft.com/office/drawing/2014/main" val="10002"/>
                  </a:ext>
                </a:extLst>
              </a:tr>
              <a:tr h="1002632">
                <a:tc>
                  <a:txBody>
                    <a:bodyPr/>
                    <a:lstStyle/>
                    <a:p>
                      <a:pPr marL="0" indent="0">
                        <a:buNone/>
                      </a:pPr>
                      <a:r>
                        <a:rPr lang="en-US" sz="1050" dirty="0">
                          <a:solidFill>
                            <a:srgbClr val="1A1A1A"/>
                          </a:solidFill>
                        </a:rPr>
                        <a:t>Mixed Machine Learning Approach for Efficient Prediction of Human Heart Disease by Identifying Numerical and Categorical Features (2022)</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Applied Sciences – MDPI</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Uses combined UCI data (Cleveland, Hungary, Switzerland, VA Long Beach); analyzes numerical/categorical features and compares ML approaches.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Does not include model interpretability or an interactive deployment component for practical use.</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968">
                <a:tc>
                  <a:txBody>
                    <a:bodyPr/>
                    <a:lstStyle/>
                    <a:p>
                      <a:pPr marL="0" indent="0">
                        <a:buNone/>
                      </a:pPr>
                      <a:r>
                        <a:rPr lang="en-US" sz="1050" dirty="0">
                          <a:solidFill>
                            <a:srgbClr val="1A1A1A"/>
                          </a:solidFill>
                        </a:rPr>
                        <a:t>Finding the Influential Clinical Traits that Impact on the Diagnosis of Heart Disease Using Statistical and Machine-Learning Techniques (2022)</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Scientific Reports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Investigates feature importance using statistical and ML techniques before applying tree-based classifiers on the combined UCI dataset.</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Limited to feature-importance analysis; lacks broader model comparison and explainability integration.</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extLst>
                  <a:ext uri="{0D108BD9-81ED-4DB2-BD59-A6C34878D82A}">
                    <a16:rowId xmlns:a16="http://schemas.microsoft.com/office/drawing/2014/main" val="10004"/>
                  </a:ext>
                </a:extLst>
              </a:tr>
              <a:tr h="914400">
                <a:tc>
                  <a:txBody>
                    <a:bodyPr/>
                    <a:lstStyle/>
                    <a:p>
                      <a:pPr marL="0" indent="0">
                        <a:buNone/>
                      </a:pPr>
                      <a:r>
                        <a:rPr lang="en-US" sz="1050" dirty="0">
                          <a:solidFill>
                            <a:srgbClr val="1A1A1A"/>
                          </a:solidFill>
                        </a:rPr>
                        <a:t>The Efficacy of Machine-Learning-Supported Smart System for Heart Disease Prediction (2022)</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Healthcare – MDPI</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Evaluates Random Forest, Decision Tree, AdaBoost and KNN; compares performance on combined vs. Cleveland-only datasets.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Provides no model explainability or interactive interface for end users.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7" name="Picture 6">
            <a:extLst>
              <a:ext uri="{FF2B5EF4-FFF2-40B4-BE49-F238E27FC236}">
                <a16:creationId xmlns:a16="http://schemas.microsoft.com/office/drawing/2014/main" id="{B412F581-1D39-1B78-BD31-C5E8984A8F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LITERATURE SURVEY — PAPERS 6 TO 10</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209682793"/>
              </p:ext>
            </p:extLst>
          </p:nvPr>
        </p:nvGraphicFramePr>
        <p:xfrm>
          <a:off x="548640" y="1600200"/>
          <a:ext cx="11094415" cy="4471736"/>
        </p:xfrm>
        <a:graphic>
          <a:graphicData uri="http://schemas.openxmlformats.org/drawingml/2006/table">
            <a:tbl>
              <a:tblPr/>
              <a:tblGrid>
                <a:gridCol w="36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3200000">
                  <a:extLst>
                    <a:ext uri="{9D8B030D-6E8A-4147-A177-3AD203B41FA5}">
                      <a16:colId xmlns:a16="http://schemas.microsoft.com/office/drawing/2014/main" val="20002"/>
                    </a:ext>
                  </a:extLst>
                </a:gridCol>
                <a:gridCol w="2794415">
                  <a:extLst>
                    <a:ext uri="{9D8B030D-6E8A-4147-A177-3AD203B41FA5}">
                      <a16:colId xmlns:a16="http://schemas.microsoft.com/office/drawing/2014/main" val="20003"/>
                    </a:ext>
                  </a:extLst>
                </a:gridCol>
              </a:tblGrid>
              <a:tr h="0">
                <a:tc>
                  <a:txBody>
                    <a:bodyPr/>
                    <a:lstStyle/>
                    <a:p>
                      <a:pPr marL="0" indent="0">
                        <a:buNone/>
                      </a:pPr>
                      <a:r>
                        <a:rPr lang="en-US" sz="1200" b="1" dirty="0">
                          <a:solidFill>
                            <a:srgbClr val="FFFFFF"/>
                          </a:solidFill>
                        </a:rPr>
                        <a:t>Research Paper</a:t>
                      </a:r>
                      <a:endParaRPr lang="en-US" sz="120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pPr marL="0" indent="0">
                        <a:buNone/>
                      </a:pPr>
                      <a:r>
                        <a:rPr lang="en-US" sz="1200" b="1" dirty="0">
                          <a:solidFill>
                            <a:srgbClr val="FFFFFF"/>
                          </a:solidFill>
                        </a:rPr>
                        <a:t>Publication</a:t>
                      </a:r>
                      <a:endParaRPr lang="en-US" sz="120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pPr marL="0" indent="0">
                        <a:buNone/>
                      </a:pPr>
                      <a:r>
                        <a:rPr lang="en-US" sz="1200" b="1" dirty="0">
                          <a:solidFill>
                            <a:srgbClr val="FFFFFF"/>
                          </a:solidFill>
                        </a:rPr>
                        <a:t>Key Contribution</a:t>
                      </a:r>
                      <a:endParaRPr lang="en-US" sz="120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tc>
                  <a:txBody>
                    <a:bodyPr/>
                    <a:lstStyle/>
                    <a:p>
                      <a:pPr marL="0" indent="0">
                        <a:buNone/>
                      </a:pPr>
                      <a:r>
                        <a:rPr lang="en-US" sz="1200" b="1" dirty="0">
                          <a:solidFill>
                            <a:srgbClr val="FFFFFF"/>
                          </a:solidFill>
                        </a:rPr>
                        <a:t>Limitations</a:t>
                      </a:r>
                      <a:endParaRPr lang="en-US" sz="120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B32B2E"/>
                    </a:solidFill>
                  </a:tcPr>
                </a:tc>
                <a:extLst>
                  <a:ext uri="{0D108BD9-81ED-4DB2-BD59-A6C34878D82A}">
                    <a16:rowId xmlns:a16="http://schemas.microsoft.com/office/drawing/2014/main" val="10000"/>
                  </a:ext>
                </a:extLst>
              </a:tr>
              <a:tr h="740343">
                <a:tc>
                  <a:txBody>
                    <a:bodyPr/>
                    <a:lstStyle/>
                    <a:p>
                      <a:pPr marL="0" indent="0">
                        <a:buNone/>
                      </a:pPr>
                      <a:r>
                        <a:rPr lang="en-US" sz="1050" dirty="0">
                          <a:solidFill>
                            <a:srgbClr val="1A1A1A"/>
                          </a:solidFill>
                        </a:rPr>
                        <a:t>Predict2Protect: Machine Learning Web Application in Early Detection of Heart Disease (2023)</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Peer-reviewed biomedical publication</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Develops a machine-learning-based web application for early heart disease detection using the combined dataset.</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Lacks explainability techniques (SHAP/LIME) and does not implement input validation for unrealistic clinical values.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0021">
                <a:tc>
                  <a:txBody>
                    <a:bodyPr/>
                    <a:lstStyle/>
                    <a:p>
                      <a:pPr marL="0" indent="0">
                        <a:buNone/>
                      </a:pPr>
                      <a:r>
                        <a:rPr lang="en-US" sz="1050" dirty="0">
                          <a:solidFill>
                            <a:srgbClr val="1A1A1A"/>
                          </a:solidFill>
                        </a:rPr>
                        <a:t>Comprehensive Evaluation and Performance Analysis of Machine Learning in Heart Disease Prediction (2024)</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Scientific Reports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Provides comparative evaluation of ML approaches and emphasizes assessment using multiple performance measures.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Primarily evaluative in nature; does not incorporate deeper feature selection, explainability or deployment.</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extLst>
                  <a:ext uri="{0D108BD9-81ED-4DB2-BD59-A6C34878D82A}">
                    <a16:rowId xmlns:a16="http://schemas.microsoft.com/office/drawing/2014/main" val="10002"/>
                  </a:ext>
                </a:extLst>
              </a:tr>
              <a:tr h="954505">
                <a:tc>
                  <a:txBody>
                    <a:bodyPr/>
                    <a:lstStyle/>
                    <a:p>
                      <a:pPr marL="0" indent="0">
                        <a:buNone/>
                      </a:pPr>
                      <a:r>
                        <a:rPr lang="en-US" sz="1050" dirty="0">
                          <a:solidFill>
                            <a:srgbClr val="1A1A1A"/>
                          </a:solidFill>
                        </a:rPr>
                        <a:t>XAI–reduct: Accuracy Preservation Despite Dimensionality Reduction for Heart Disease Classification Using Explainable AI (2023)</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Biomedical research publication</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Applies dimensionality reduction and Explainable AI to improve transparency of heart disease classification.</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Focuses on dimensionality reduction and explainability alone; no interactive deployment or input validation.</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87266">
                <a:tc>
                  <a:txBody>
                    <a:bodyPr/>
                    <a:lstStyle/>
                    <a:p>
                      <a:pPr marL="0" indent="0">
                        <a:buNone/>
                      </a:pPr>
                      <a:r>
                        <a:rPr lang="en-US" sz="1050" dirty="0">
                          <a:solidFill>
                            <a:srgbClr val="1A1A1A"/>
                          </a:solidFill>
                        </a:rPr>
                        <a:t>Explainable Soft-Voting Classifier for Heart Disease Prediction Using SHAP and LIME (2026)</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Discover Computing – Springer Nature</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Combines ML models with SHAP and LIME to provide global and local explanations for heart disease predictions.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tc>
                  <a:txBody>
                    <a:bodyPr/>
                    <a:lstStyle/>
                    <a:p>
                      <a:pPr marL="0" indent="0">
                        <a:buNone/>
                      </a:pPr>
                      <a:r>
                        <a:rPr lang="en-US" sz="1050" dirty="0">
                          <a:solidFill>
                            <a:srgbClr val="1A1A1A"/>
                          </a:solidFill>
                        </a:rPr>
                        <a:t>Does not extend to interactive deployment or real-time input validation for clinical use.</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5E9E9"/>
                    </a:solidFill>
                  </a:tcPr>
                </a:tc>
                <a:extLst>
                  <a:ext uri="{0D108BD9-81ED-4DB2-BD59-A6C34878D82A}">
                    <a16:rowId xmlns:a16="http://schemas.microsoft.com/office/drawing/2014/main" val="10004"/>
                  </a:ext>
                </a:extLst>
              </a:tr>
              <a:tr h="945281">
                <a:tc>
                  <a:txBody>
                    <a:bodyPr/>
                    <a:lstStyle/>
                    <a:p>
                      <a:pPr marL="0" indent="0">
                        <a:buNone/>
                      </a:pPr>
                      <a:r>
                        <a:rPr lang="en-US" sz="1050" dirty="0">
                          <a:solidFill>
                            <a:srgbClr val="1A1A1A"/>
                          </a:solidFill>
                        </a:rPr>
                        <a:t>A Hybrid Framework for Heart Disease Prediction Using Classical and Quantum-Inspired Machine Learning Techniques (2025)</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Scientific Reports</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Uses combined datasets (Cleveland, Hungary, Switzerland, Long Beach, Statlog) with extensive EDA and visualization before ML modelling.</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rPr>
                        <a:t>Requires specialized quantum-inspired computation; lacks explainability and an interactive user interface.</a:t>
                      </a:r>
                      <a:endParaRPr lang="en-US" sz="1050" dirty="0"/>
                    </a:p>
                  </a:txBody>
                  <a:tcPr anchor="ctr">
                    <a:lnL w="6350" cap="flat" cmpd="sng" algn="ctr">
                      <a:solidFill>
                        <a:srgbClr val="E0D0D0"/>
                      </a:solidFill>
                      <a:prstDash val="solid"/>
                      <a:round/>
                      <a:headEnd type="none" w="med" len="med"/>
                      <a:tailEnd type="none" w="med" len="med"/>
                    </a:lnL>
                    <a:lnR w="6350" cap="flat" cmpd="sng" algn="ctr">
                      <a:solidFill>
                        <a:srgbClr val="E0D0D0"/>
                      </a:solidFill>
                      <a:prstDash val="solid"/>
                      <a:round/>
                      <a:headEnd type="none" w="med" len="med"/>
                      <a:tailEnd type="none" w="med" len="med"/>
                    </a:lnR>
                    <a:lnT w="6350" cap="flat" cmpd="sng" algn="ctr">
                      <a:solidFill>
                        <a:srgbClr val="E0D0D0"/>
                      </a:solidFill>
                      <a:prstDash val="solid"/>
                      <a:round/>
                      <a:headEnd type="none" w="med" len="med"/>
                      <a:tailEnd type="none" w="med" len="med"/>
                    </a:lnT>
                    <a:lnB w="6350" cap="flat" cmpd="sng" algn="ctr">
                      <a:solidFill>
                        <a:srgbClr val="E0D0D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7" name="Picture 6">
            <a:extLst>
              <a:ext uri="{FF2B5EF4-FFF2-40B4-BE49-F238E27FC236}">
                <a16:creationId xmlns:a16="http://schemas.microsoft.com/office/drawing/2014/main" id="{F37F3D33-8D89-570A-14E7-22E3E14ADE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RESEARCH GAP</a:t>
            </a:r>
            <a:endParaRPr lang="en-US" sz="2400" dirty="0"/>
          </a:p>
        </p:txBody>
      </p:sp>
      <p:sp>
        <p:nvSpPr>
          <p:cNvPr id="5" name="Text 2"/>
          <p:cNvSpPr/>
          <p:nvPr/>
        </p:nvSpPr>
        <p:spPr>
          <a:xfrm>
            <a:off x="822960" y="1691640"/>
            <a:ext cx="10820095" cy="4572000"/>
          </a:xfrm>
          <a:prstGeom prst="rect">
            <a:avLst/>
          </a:prstGeom>
          <a:noFill/>
          <a:ln/>
        </p:spPr>
        <p:txBody>
          <a:bodyPr wrap="square" rtlCol="0" anchor="t"/>
          <a:lstStyle/>
          <a:p>
            <a:pPr marL="228600" indent="-228600">
              <a:lnSpc>
                <a:spcPct val="115000"/>
              </a:lnSpc>
              <a:spcAft>
                <a:spcPts val="1000"/>
              </a:spcAft>
              <a:buSzPct val="100000"/>
              <a:buChar char="•"/>
            </a:pPr>
            <a:r>
              <a:rPr lang="en-US" sz="1400" dirty="0">
                <a:solidFill>
                  <a:srgbClr val="1A1A1A"/>
                </a:solidFill>
                <a:latin typeface="Arial" pitchFamily="34" charset="0"/>
                <a:ea typeface="Arial" pitchFamily="34" charset="-122"/>
                <a:cs typeface="Arial" pitchFamily="34" charset="-120"/>
              </a:rPr>
              <a:t>Existing research has extensively used the UCI Heart Disease dataset for machine learning prediction and exploratory data analysis.</a:t>
            </a:r>
            <a:endParaRPr lang="en-US" sz="1400" dirty="0"/>
          </a:p>
          <a:p>
            <a:pPr marL="228600" indent="-228600">
              <a:lnSpc>
                <a:spcPct val="115000"/>
              </a:lnSpc>
              <a:spcAft>
                <a:spcPts val="1000"/>
              </a:spcAft>
              <a:buSzPct val="100000"/>
              <a:buChar char="•"/>
            </a:pPr>
            <a:r>
              <a:rPr lang="en-US" sz="1400" dirty="0">
                <a:solidFill>
                  <a:srgbClr val="1A1A1A"/>
                </a:solidFill>
                <a:latin typeface="Arial" pitchFamily="34" charset="0"/>
                <a:ea typeface="Arial" pitchFamily="34" charset="-122"/>
                <a:cs typeface="Arial" pitchFamily="34" charset="-120"/>
              </a:rPr>
              <a:t>Several studies have performed data visualization to identify feature distributions, correlations, and clinical patterns.</a:t>
            </a:r>
            <a:endParaRPr lang="en-US" sz="1400" dirty="0"/>
          </a:p>
          <a:p>
            <a:pPr marL="228600" indent="-228600">
              <a:lnSpc>
                <a:spcPct val="115000"/>
              </a:lnSpc>
              <a:spcAft>
                <a:spcPts val="1000"/>
              </a:spcAft>
              <a:buSzPct val="100000"/>
              <a:buChar char="•"/>
            </a:pPr>
            <a:r>
              <a:rPr lang="en-US" sz="1400" dirty="0">
                <a:solidFill>
                  <a:srgbClr val="1A1A1A"/>
                </a:solidFill>
                <a:latin typeface="Arial" pitchFamily="34" charset="0"/>
                <a:ea typeface="Arial" pitchFamily="34" charset="-122"/>
                <a:cs typeface="Arial" pitchFamily="34" charset="-120"/>
              </a:rPr>
              <a:t>Existing studies have compared multiple machine learning models, including Random Forest, Decision Tree, KNN, Logistic Regression, and SVM/SVC.</a:t>
            </a:r>
            <a:endParaRPr lang="en-US" sz="1400" dirty="0"/>
          </a:p>
          <a:p>
            <a:pPr marL="228600" indent="-228600">
              <a:lnSpc>
                <a:spcPct val="115000"/>
              </a:lnSpc>
              <a:spcAft>
                <a:spcPts val="1000"/>
              </a:spcAft>
              <a:buSzPct val="100000"/>
              <a:buChar char="•"/>
            </a:pPr>
            <a:r>
              <a:rPr lang="en-US" sz="1400" dirty="0">
                <a:solidFill>
                  <a:srgbClr val="1A1A1A"/>
                </a:solidFill>
                <a:latin typeface="Arial" pitchFamily="34" charset="0"/>
                <a:ea typeface="Arial" pitchFamily="34" charset="-122"/>
                <a:cs typeface="Arial" pitchFamily="34" charset="-120"/>
              </a:rPr>
              <a:t>Recent research has also introduced SHAP and LIME-based explainability for heart disease prediction.</a:t>
            </a:r>
            <a:endParaRPr lang="en-US" sz="1400" dirty="0"/>
          </a:p>
          <a:p>
            <a:pPr marL="0" indent="0">
              <a:lnSpc>
                <a:spcPct val="115000"/>
              </a:lnSpc>
              <a:spcAft>
                <a:spcPts val="400"/>
              </a:spcAft>
              <a:buNone/>
            </a:pPr>
            <a:r>
              <a:rPr lang="en-US" sz="1400" b="1" dirty="0">
                <a:solidFill>
                  <a:srgbClr val="1A1A1A"/>
                </a:solidFill>
                <a:latin typeface="Arial" pitchFamily="34" charset="0"/>
                <a:ea typeface="Arial" pitchFamily="34" charset="-122"/>
                <a:cs typeface="Arial" pitchFamily="34" charset="-120"/>
              </a:rPr>
              <a:t>Therefore, the novelty of the proposed work is not the use of the UCI dataset or machine learning alone.</a:t>
            </a:r>
            <a:endParaRPr lang="en-US" sz="1400" dirty="0"/>
          </a:p>
          <a:p>
            <a:pPr marL="228600" indent="-228600">
              <a:lnSpc>
                <a:spcPct val="115000"/>
              </a:lnSpc>
              <a:spcAft>
                <a:spcPts val="1000"/>
              </a:spcAft>
              <a:buSzPct val="100000"/>
              <a:buChar char="•"/>
            </a:pPr>
            <a:r>
              <a:rPr lang="en-US" sz="1400" dirty="0">
                <a:solidFill>
                  <a:srgbClr val="1A1A1A"/>
                </a:solidFill>
                <a:latin typeface="Arial" pitchFamily="34" charset="0"/>
                <a:ea typeface="Arial" pitchFamily="34" charset="-122"/>
                <a:cs typeface="Arial" pitchFamily="34" charset="-120"/>
              </a:rPr>
              <a:t>The research opportunity lies in integrating data preprocessing, EDA, feature selection, comparative ML evaluation, SHAP and LIME explainability, realistic input validation, and interactive Streamlit deployment into one unified framework.</a:t>
            </a:r>
            <a:endParaRPr lang="en-US" sz="1400" dirty="0"/>
          </a:p>
          <a:p>
            <a:pPr marL="228600" indent="-228600">
              <a:lnSpc>
                <a:spcPct val="115000"/>
              </a:lnSpc>
              <a:spcAft>
                <a:spcPts val="1000"/>
              </a:spcAft>
              <a:buSzPct val="100000"/>
              <a:buChar char="•"/>
            </a:pPr>
            <a:r>
              <a:rPr lang="en-US" sz="1400" dirty="0">
                <a:solidFill>
                  <a:srgbClr val="1A1A1A"/>
                </a:solidFill>
                <a:latin typeface="Arial" pitchFamily="34" charset="0"/>
                <a:ea typeface="Arial" pitchFamily="34" charset="-122"/>
                <a:cs typeface="Arial" pitchFamily="34" charset="-120"/>
              </a:rPr>
              <a:t>The proposed system focuses on connecting predictive performance with interpretable explanations and practical usability.</a:t>
            </a:r>
            <a:endParaRPr lang="en-US" sz="1400" dirty="0"/>
          </a:p>
        </p:txBody>
      </p:sp>
      <p:pic>
        <p:nvPicPr>
          <p:cNvPr id="7" name="Picture 6">
            <a:extLst>
              <a:ext uri="{FF2B5EF4-FFF2-40B4-BE49-F238E27FC236}">
                <a16:creationId xmlns:a16="http://schemas.microsoft.com/office/drawing/2014/main" id="{7AF53F2C-6708-DF41-6D64-22DBBCF2E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pic>
        <p:nvPicPr>
          <p:cNvPr id="9" name="Picture 8">
            <a:extLst>
              <a:ext uri="{FF2B5EF4-FFF2-40B4-BE49-F238E27FC236}">
                <a16:creationId xmlns:a16="http://schemas.microsoft.com/office/drawing/2014/main" id="{20163BA0-803F-30A5-D6C8-3A0E7DC81470}"/>
              </a:ext>
            </a:extLst>
          </p:cNvPr>
          <p:cNvPicPr>
            <a:picLocks noChangeAspect="1"/>
          </p:cNvPicPr>
          <p:nvPr/>
        </p:nvPicPr>
        <p:blipFill>
          <a:blip r:embed="rId4"/>
          <a:stretch>
            <a:fillRect/>
          </a:stretch>
        </p:blipFill>
        <p:spPr>
          <a:xfrm>
            <a:off x="673768" y="1555905"/>
            <a:ext cx="10969287" cy="37933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DATASET</a:t>
            </a:r>
            <a:endParaRPr lang="en-US" sz="2400" dirty="0"/>
          </a:p>
        </p:txBody>
      </p:sp>
      <p:sp>
        <p:nvSpPr>
          <p:cNvPr id="5" name="Text 2"/>
          <p:cNvSpPr/>
          <p:nvPr/>
        </p:nvSpPr>
        <p:spPr>
          <a:xfrm>
            <a:off x="548640" y="1554480"/>
            <a:ext cx="11094415" cy="365760"/>
          </a:xfrm>
          <a:prstGeom prst="rect">
            <a:avLst/>
          </a:prstGeom>
          <a:noFill/>
          <a:ln/>
        </p:spPr>
        <p:txBody>
          <a:bodyPr wrap="square" rtlCol="0" anchor="ctr"/>
          <a:lstStyle/>
          <a:p>
            <a:pPr marL="0" indent="0">
              <a:buNone/>
            </a:pPr>
            <a:r>
              <a:rPr lang="en-US" sz="1600" b="1" dirty="0">
                <a:solidFill>
                  <a:srgbClr val="B32B2E"/>
                </a:solidFill>
                <a:latin typeface="Arial" pitchFamily="34" charset="0"/>
                <a:ea typeface="Arial" pitchFamily="34" charset="-122"/>
                <a:cs typeface="Arial" pitchFamily="34" charset="-120"/>
              </a:rPr>
              <a:t>UCI Heart Disease Dataset Overview</a:t>
            </a:r>
            <a:endParaRPr lang="en-US" sz="1600" dirty="0"/>
          </a:p>
        </p:txBody>
      </p:sp>
      <p:sp>
        <p:nvSpPr>
          <p:cNvPr id="6" name="Text 3"/>
          <p:cNvSpPr/>
          <p:nvPr/>
        </p:nvSpPr>
        <p:spPr>
          <a:xfrm>
            <a:off x="548640" y="2057400"/>
            <a:ext cx="5272888" cy="4206240"/>
          </a:xfrm>
          <a:prstGeom prst="rect">
            <a:avLst/>
          </a:prstGeom>
          <a:noFill/>
          <a:ln/>
        </p:spPr>
        <p:txBody>
          <a:bodyPr wrap="square" rtlCol="0" anchor="t"/>
          <a:lstStyle/>
          <a:p>
            <a:pPr marL="0" indent="0">
              <a:lnSpc>
                <a:spcPct val="110000"/>
              </a:lnSpc>
              <a:spcAft>
                <a:spcPts val="600"/>
              </a:spcAft>
              <a:buNone/>
            </a:pPr>
            <a:r>
              <a:rPr lang="en-US" sz="1500" b="1" dirty="0">
                <a:solidFill>
                  <a:srgbClr val="1A1A1A"/>
                </a:solidFill>
              </a:rPr>
              <a:t>Source &amp; Records</a:t>
            </a:r>
            <a:endParaRPr lang="en-US" sz="1500" dirty="0"/>
          </a:p>
          <a:p>
            <a:pPr marL="342900" indent="-342900">
              <a:lnSpc>
                <a:spcPct val="110000"/>
              </a:lnSpc>
              <a:spcAft>
                <a:spcPts val="600"/>
              </a:spcAft>
              <a:buSzPct val="100000"/>
              <a:buChar char="•"/>
            </a:pPr>
            <a:r>
              <a:rPr lang="en-US" sz="1400" dirty="0">
                <a:solidFill>
                  <a:srgbClr val="1A1A1A"/>
                </a:solidFill>
              </a:rPr>
              <a:t>920 patient records total</a:t>
            </a:r>
            <a:endParaRPr lang="en-US" sz="1500" dirty="0"/>
          </a:p>
          <a:p>
            <a:pPr marL="342900" indent="-342900">
              <a:lnSpc>
                <a:spcPct val="110000"/>
              </a:lnSpc>
              <a:spcAft>
                <a:spcPts val="400"/>
              </a:spcAft>
              <a:buSzPct val="100000"/>
              <a:buChar char="•"/>
            </a:pPr>
            <a:r>
              <a:rPr lang="en-US" sz="1400" dirty="0">
                <a:solidFill>
                  <a:srgbClr val="1A1A1A"/>
                </a:solidFill>
              </a:rPr>
              <a:t>Four geographic source locations:</a:t>
            </a:r>
            <a:endParaRPr lang="en-US" sz="1500" dirty="0"/>
          </a:p>
          <a:p>
            <a:pPr marL="685800" lvl="1" indent="-342900">
              <a:lnSpc>
                <a:spcPct val="110000"/>
              </a:lnSpc>
              <a:spcAft>
                <a:spcPts val="200"/>
              </a:spcAft>
              <a:buSzPct val="100000"/>
              <a:buChar char="–"/>
            </a:pPr>
            <a:r>
              <a:rPr lang="en-US" sz="1300" dirty="0">
                <a:solidFill>
                  <a:srgbClr val="444444"/>
                </a:solidFill>
              </a:rPr>
              <a:t>Cleveland, USA</a:t>
            </a:r>
            <a:endParaRPr lang="en-US" sz="1500" dirty="0"/>
          </a:p>
          <a:p>
            <a:pPr marL="685800" lvl="1" indent="-342900">
              <a:lnSpc>
                <a:spcPct val="110000"/>
              </a:lnSpc>
              <a:spcAft>
                <a:spcPts val="200"/>
              </a:spcAft>
              <a:buSzPct val="100000"/>
              <a:buChar char="–"/>
            </a:pPr>
            <a:r>
              <a:rPr lang="en-US" sz="1300" dirty="0">
                <a:solidFill>
                  <a:srgbClr val="444444"/>
                </a:solidFill>
              </a:rPr>
              <a:t>Hungary</a:t>
            </a:r>
            <a:endParaRPr lang="en-US" sz="1500" dirty="0"/>
          </a:p>
          <a:p>
            <a:pPr marL="685800" lvl="1" indent="-342900">
              <a:lnSpc>
                <a:spcPct val="110000"/>
              </a:lnSpc>
              <a:spcAft>
                <a:spcPts val="200"/>
              </a:spcAft>
              <a:buSzPct val="100000"/>
              <a:buChar char="–"/>
            </a:pPr>
            <a:r>
              <a:rPr lang="en-US" sz="1300" dirty="0">
                <a:solidFill>
                  <a:srgbClr val="444444"/>
                </a:solidFill>
              </a:rPr>
              <a:t>Switzerland</a:t>
            </a:r>
            <a:endParaRPr lang="en-US" sz="1500" dirty="0"/>
          </a:p>
          <a:p>
            <a:pPr marL="685800" lvl="1" indent="-342900">
              <a:lnSpc>
                <a:spcPct val="110000"/>
              </a:lnSpc>
              <a:spcAft>
                <a:spcPts val="600"/>
              </a:spcAft>
              <a:buSzPct val="100000"/>
              <a:buChar char="–"/>
            </a:pPr>
            <a:r>
              <a:rPr lang="en-US" sz="1300" dirty="0">
                <a:solidFill>
                  <a:srgbClr val="444444"/>
                </a:solidFill>
              </a:rPr>
              <a:t>Long Beach, USA</a:t>
            </a:r>
            <a:endParaRPr lang="en-US" sz="1500" dirty="0"/>
          </a:p>
          <a:p>
            <a:pPr marL="342900" indent="-342900">
              <a:lnSpc>
                <a:spcPct val="110000"/>
              </a:lnSpc>
              <a:spcAft>
                <a:spcPts val="600"/>
              </a:spcAft>
              <a:buSzPct val="100000"/>
              <a:buChar char="•"/>
            </a:pPr>
            <a:r>
              <a:rPr lang="en-US" sz="1400" dirty="0">
                <a:solidFill>
                  <a:srgbClr val="1A1A1A"/>
                </a:solidFill>
              </a:rPr>
              <a:t>Dataset diversity reflects varied clinical and demographic populations</a:t>
            </a:r>
            <a:endParaRPr lang="en-US" sz="1500" dirty="0"/>
          </a:p>
          <a:p>
            <a:pPr marL="342900" indent="-342900">
              <a:lnSpc>
                <a:spcPct val="110000"/>
              </a:lnSpc>
              <a:buSzPct val="100000"/>
              <a:buChar char="•"/>
            </a:pPr>
            <a:r>
              <a:rPr lang="en-US" sz="1400" dirty="0">
                <a:solidFill>
                  <a:srgbClr val="1A1A1A"/>
                </a:solidFill>
              </a:rPr>
              <a:t>Publicly available via UCI Machine Learning Repository</a:t>
            </a:r>
            <a:endParaRPr lang="en-US" sz="1500" dirty="0"/>
          </a:p>
        </p:txBody>
      </p:sp>
      <p:sp>
        <p:nvSpPr>
          <p:cNvPr id="7" name="Text 4"/>
          <p:cNvSpPr/>
          <p:nvPr/>
        </p:nvSpPr>
        <p:spPr>
          <a:xfrm>
            <a:off x="6370168" y="2057400"/>
            <a:ext cx="5272888" cy="4206240"/>
          </a:xfrm>
          <a:prstGeom prst="rect">
            <a:avLst/>
          </a:prstGeom>
          <a:noFill/>
          <a:ln/>
        </p:spPr>
        <p:txBody>
          <a:bodyPr wrap="square" rtlCol="0" anchor="t"/>
          <a:lstStyle/>
          <a:p>
            <a:pPr marL="0" indent="0">
              <a:lnSpc>
                <a:spcPct val="110000"/>
              </a:lnSpc>
              <a:spcAft>
                <a:spcPts val="600"/>
              </a:spcAft>
              <a:buNone/>
            </a:pPr>
            <a:r>
              <a:rPr lang="en-US" sz="1500" b="1" dirty="0">
                <a:solidFill>
                  <a:srgbClr val="1A1A1A"/>
                </a:solidFill>
              </a:rPr>
              <a:t>Clinical Features</a:t>
            </a:r>
            <a:endParaRPr lang="en-US" sz="1500" dirty="0"/>
          </a:p>
          <a:p>
            <a:pPr marL="342900" indent="-342900">
              <a:lnSpc>
                <a:spcPct val="110000"/>
              </a:lnSpc>
              <a:spcAft>
                <a:spcPts val="500"/>
              </a:spcAft>
              <a:buSzPct val="100000"/>
              <a:buChar char="•"/>
            </a:pPr>
            <a:r>
              <a:rPr lang="en-US" sz="1400" dirty="0">
                <a:solidFill>
                  <a:srgbClr val="1A1A1A"/>
                </a:solidFill>
              </a:rPr>
              <a:t>Age and sex</a:t>
            </a:r>
            <a:endParaRPr lang="en-US" sz="1500" dirty="0"/>
          </a:p>
          <a:p>
            <a:pPr marL="342900" indent="-342900">
              <a:lnSpc>
                <a:spcPct val="110000"/>
              </a:lnSpc>
              <a:spcAft>
                <a:spcPts val="500"/>
              </a:spcAft>
              <a:buSzPct val="100000"/>
              <a:buChar char="•"/>
            </a:pPr>
            <a:r>
              <a:rPr lang="en-US" sz="1400" dirty="0">
                <a:solidFill>
                  <a:srgbClr val="1A1A1A"/>
                </a:solidFill>
              </a:rPr>
              <a:t>Chest pain type (4 categories)</a:t>
            </a:r>
            <a:endParaRPr lang="en-US" sz="1500" dirty="0"/>
          </a:p>
          <a:p>
            <a:pPr marL="342900" indent="-342900">
              <a:lnSpc>
                <a:spcPct val="110000"/>
              </a:lnSpc>
              <a:spcAft>
                <a:spcPts val="500"/>
              </a:spcAft>
              <a:buSzPct val="100000"/>
              <a:buChar char="•"/>
            </a:pPr>
            <a:r>
              <a:rPr lang="en-US" sz="1400" dirty="0">
                <a:solidFill>
                  <a:srgbClr val="1A1A1A"/>
                </a:solidFill>
              </a:rPr>
              <a:t>Resting blood pressure</a:t>
            </a:r>
            <a:endParaRPr lang="en-US" sz="1500" dirty="0"/>
          </a:p>
          <a:p>
            <a:pPr marL="342900" indent="-342900">
              <a:lnSpc>
                <a:spcPct val="110000"/>
              </a:lnSpc>
              <a:spcAft>
                <a:spcPts val="500"/>
              </a:spcAft>
              <a:buSzPct val="100000"/>
              <a:buChar char="•"/>
            </a:pPr>
            <a:r>
              <a:rPr lang="en-US" sz="1400" dirty="0">
                <a:solidFill>
                  <a:srgbClr val="1A1A1A"/>
                </a:solidFill>
              </a:rPr>
              <a:t>Serum cholesterol</a:t>
            </a:r>
            <a:endParaRPr lang="en-US" sz="1500" dirty="0"/>
          </a:p>
          <a:p>
            <a:pPr marL="342900" indent="-342900">
              <a:lnSpc>
                <a:spcPct val="110000"/>
              </a:lnSpc>
              <a:spcAft>
                <a:spcPts val="500"/>
              </a:spcAft>
              <a:buSzPct val="100000"/>
              <a:buChar char="•"/>
            </a:pPr>
            <a:r>
              <a:rPr lang="en-US" sz="1400" dirty="0">
                <a:solidFill>
                  <a:srgbClr val="1A1A1A"/>
                </a:solidFill>
              </a:rPr>
              <a:t>Maximum heart rate achieved</a:t>
            </a:r>
            <a:endParaRPr lang="en-US" sz="1500" dirty="0"/>
          </a:p>
          <a:p>
            <a:pPr marL="342900" indent="-342900">
              <a:lnSpc>
                <a:spcPct val="110000"/>
              </a:lnSpc>
              <a:spcAft>
                <a:spcPts val="500"/>
              </a:spcAft>
              <a:buSzPct val="100000"/>
              <a:buChar char="•"/>
            </a:pPr>
            <a:r>
              <a:rPr lang="en-US" sz="1400" dirty="0">
                <a:solidFill>
                  <a:srgbClr val="1A1A1A"/>
                </a:solidFill>
              </a:rPr>
              <a:t>Exercise-induced angina</a:t>
            </a:r>
            <a:endParaRPr lang="en-US" sz="1500" dirty="0"/>
          </a:p>
          <a:p>
            <a:pPr marL="342900" indent="-342900">
              <a:lnSpc>
                <a:spcPct val="110000"/>
              </a:lnSpc>
              <a:spcAft>
                <a:spcPts val="500"/>
              </a:spcAft>
              <a:buSzPct val="100000"/>
              <a:buChar char="•"/>
            </a:pPr>
            <a:r>
              <a:rPr lang="en-US" sz="1400" dirty="0">
                <a:solidFill>
                  <a:srgbClr val="1A1A1A"/>
                </a:solidFill>
              </a:rPr>
              <a:t>ST depression (oldpeak)</a:t>
            </a:r>
            <a:endParaRPr lang="en-US" sz="1500" dirty="0"/>
          </a:p>
          <a:p>
            <a:pPr marL="342900" indent="-342900">
              <a:lnSpc>
                <a:spcPct val="110000"/>
              </a:lnSpc>
              <a:spcAft>
                <a:spcPts val="500"/>
              </a:spcAft>
              <a:buSzPct val="100000"/>
              <a:buChar char="•"/>
            </a:pPr>
            <a:r>
              <a:rPr lang="en-US" sz="1400" dirty="0">
                <a:solidFill>
                  <a:srgbClr val="1A1A1A"/>
                </a:solidFill>
              </a:rPr>
              <a:t>ST slope</a:t>
            </a:r>
            <a:endParaRPr lang="en-US" sz="1500" dirty="0"/>
          </a:p>
          <a:p>
            <a:pPr marL="342900" indent="-342900">
              <a:lnSpc>
                <a:spcPct val="110000"/>
              </a:lnSpc>
              <a:spcAft>
                <a:spcPts val="500"/>
              </a:spcAft>
              <a:buSzPct val="100000"/>
              <a:buChar char="•"/>
            </a:pPr>
            <a:r>
              <a:rPr lang="en-US" sz="1400" dirty="0">
                <a:solidFill>
                  <a:srgbClr val="1A1A1A"/>
                </a:solidFill>
              </a:rPr>
              <a:t>Additional clinical attributes</a:t>
            </a:r>
            <a:endParaRPr lang="en-US" sz="1500" dirty="0"/>
          </a:p>
          <a:p>
            <a:pPr marL="342900" indent="-342900">
              <a:lnSpc>
                <a:spcPct val="110000"/>
              </a:lnSpc>
              <a:buSzPct val="100000"/>
              <a:buChar char="•"/>
            </a:pPr>
            <a:r>
              <a:rPr lang="en-US" sz="1400" dirty="0">
                <a:solidFill>
                  <a:srgbClr val="1A1A1A"/>
                </a:solidFill>
              </a:rPr>
              <a:t>Target: Presence or absence of heart disease</a:t>
            </a:r>
            <a:endParaRPr lang="en-US" sz="1500" dirty="0"/>
          </a:p>
        </p:txBody>
      </p:sp>
      <p:pic>
        <p:nvPicPr>
          <p:cNvPr id="9" name="Picture 8">
            <a:extLst>
              <a:ext uri="{FF2B5EF4-FFF2-40B4-BE49-F238E27FC236}">
                <a16:creationId xmlns:a16="http://schemas.microsoft.com/office/drawing/2014/main" id="{64C05B60-FA32-8702-E69F-FF7B281D1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PROPOSED METHODOLOGY</a:t>
            </a:r>
            <a:endParaRPr lang="en-US" sz="2400" dirty="0"/>
          </a:p>
        </p:txBody>
      </p:sp>
      <p:sp>
        <p:nvSpPr>
          <p:cNvPr id="5" name="Text 2"/>
          <p:cNvSpPr/>
          <p:nvPr/>
        </p:nvSpPr>
        <p:spPr>
          <a:xfrm>
            <a:off x="822960" y="1965960"/>
            <a:ext cx="10820095" cy="4572000"/>
          </a:xfrm>
          <a:prstGeom prst="rect">
            <a:avLst/>
          </a:prstGeom>
          <a:noFill/>
          <a:ln/>
        </p:spPr>
        <p:txBody>
          <a:bodyPr wrap="square" rtlCol="0" anchor="t"/>
          <a:lstStyle/>
          <a:p>
            <a:pPr marL="0" indent="0">
              <a:lnSpc>
                <a:spcPct val="115000"/>
              </a:lnSpc>
              <a:spcAft>
                <a:spcPts val="400"/>
              </a:spcAft>
              <a:buNone/>
            </a:pPr>
            <a:r>
              <a:rPr lang="en-US" sz="1700" b="1" dirty="0">
                <a:solidFill>
                  <a:srgbClr val="1A1A1A"/>
                </a:solidFill>
                <a:latin typeface="Arial" pitchFamily="34" charset="0"/>
                <a:ea typeface="Arial" pitchFamily="34" charset="-122"/>
                <a:cs typeface="Arial" pitchFamily="34" charset="-120"/>
              </a:rPr>
              <a:t>ML Pipeline:</a:t>
            </a:r>
            <a:endParaRPr lang="en-US" sz="1700" dirty="0"/>
          </a:p>
          <a:p>
            <a:pPr marL="228600" indent="-228600">
              <a:lnSpc>
                <a:spcPct val="115000"/>
              </a:lnSpc>
              <a:spcAft>
                <a:spcPts val="1000"/>
              </a:spcAft>
              <a:buSzPct val="100000"/>
              <a:buChar char="•"/>
            </a:pPr>
            <a:r>
              <a:rPr lang="en-US" sz="1700" dirty="0">
                <a:solidFill>
                  <a:srgbClr val="1A1A1A"/>
                </a:solidFill>
                <a:latin typeface="Arial" pitchFamily="34" charset="0"/>
                <a:ea typeface="Arial" pitchFamily="34" charset="-122"/>
                <a:cs typeface="Arial" pitchFamily="34" charset="-120"/>
              </a:rPr>
              <a:t>Dataset → Preprocessing → Exploratory Data Analysis → Feature Selection → Machine Learning Models → Model Evaluation → Location-wise Analysis → Interactive Dashboard</a:t>
            </a:r>
            <a:endParaRPr lang="en-US" sz="1700" dirty="0"/>
          </a:p>
          <a:p>
            <a:pPr marL="0" indent="0">
              <a:lnSpc>
                <a:spcPct val="115000"/>
              </a:lnSpc>
              <a:spcAft>
                <a:spcPts val="400"/>
              </a:spcAft>
              <a:buNone/>
            </a:pPr>
            <a:r>
              <a:rPr lang="en-US" sz="1700" b="1" dirty="0">
                <a:solidFill>
                  <a:srgbClr val="1A1A1A"/>
                </a:solidFill>
                <a:latin typeface="Arial" pitchFamily="34" charset="0"/>
                <a:ea typeface="Arial" pitchFamily="34" charset="-122"/>
                <a:cs typeface="Arial" pitchFamily="34" charset="-120"/>
              </a:rPr>
              <a:t>Evaluation Metrics:</a:t>
            </a:r>
            <a:endParaRPr lang="en-US" sz="1700" dirty="0"/>
          </a:p>
          <a:p>
            <a:pPr marL="228600" indent="-228600">
              <a:lnSpc>
                <a:spcPct val="115000"/>
              </a:lnSpc>
              <a:spcAft>
                <a:spcPts val="1000"/>
              </a:spcAft>
              <a:buSzPct val="100000"/>
              <a:buChar char="•"/>
            </a:pPr>
            <a:r>
              <a:rPr lang="en-US" sz="1700" dirty="0">
                <a:solidFill>
                  <a:srgbClr val="1A1A1A"/>
                </a:solidFill>
                <a:latin typeface="Arial" pitchFamily="34" charset="0"/>
                <a:ea typeface="Arial" pitchFamily="34" charset="-122"/>
                <a:cs typeface="Arial" pitchFamily="34" charset="-120"/>
              </a:rPr>
              <a:t>Accuracy, Precision, Recall, F1-Score, ROC-AUC, Confusion Matrix — ensuring robust prediction and insightful analytics through systematic ML and interactive visualization</a:t>
            </a:r>
            <a:endParaRPr lang="en-US" sz="1700" dirty="0"/>
          </a:p>
        </p:txBody>
      </p:sp>
      <p:pic>
        <p:nvPicPr>
          <p:cNvPr id="7" name="Picture 6">
            <a:extLst>
              <a:ext uri="{FF2B5EF4-FFF2-40B4-BE49-F238E27FC236}">
                <a16:creationId xmlns:a16="http://schemas.microsoft.com/office/drawing/2014/main" id="{25E0A919-6642-BA06-FC40-48C10AC01A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DEVELOPED DASHBOARD</a:t>
            </a:r>
            <a:endParaRPr lang="en-US" sz="2400" dirty="0"/>
          </a:p>
        </p:txBody>
      </p:sp>
      <p:sp>
        <p:nvSpPr>
          <p:cNvPr id="5" name="Text 2"/>
          <p:cNvSpPr/>
          <p:nvPr/>
        </p:nvSpPr>
        <p:spPr>
          <a:xfrm>
            <a:off x="822960" y="2057400"/>
            <a:ext cx="10820095" cy="4572000"/>
          </a:xfrm>
          <a:prstGeom prst="rect">
            <a:avLst/>
          </a:prstGeom>
          <a:noFill/>
          <a:ln/>
        </p:spPr>
        <p:txBody>
          <a:bodyPr wrap="square" rtlCol="0" anchor="t"/>
          <a:lstStyle/>
          <a:p>
            <a:pPr marL="228600" indent="-228600">
              <a:lnSpc>
                <a:spcPct val="115000"/>
              </a:lnSpc>
              <a:spcAft>
                <a:spcPts val="1000"/>
              </a:spcAft>
              <a:buSzPct val="100000"/>
              <a:buChar char="•"/>
            </a:pPr>
            <a:r>
              <a:rPr lang="en-US" sz="1800" dirty="0">
                <a:solidFill>
                  <a:srgbClr val="1A1A1A"/>
                </a:solidFill>
                <a:latin typeface="Arial" pitchFamily="34" charset="0"/>
                <a:ea typeface="Arial" pitchFamily="34" charset="-122"/>
                <a:cs typeface="Arial" pitchFamily="34" charset="-120"/>
              </a:rPr>
              <a:t>Patient-level heart disease risk prediction</a:t>
            </a:r>
            <a:endParaRPr lang="en-US" sz="1800" dirty="0"/>
          </a:p>
          <a:p>
            <a:pPr marL="228600" indent="-228600">
              <a:lnSpc>
                <a:spcPct val="115000"/>
              </a:lnSpc>
              <a:spcAft>
                <a:spcPts val="1000"/>
              </a:spcAft>
              <a:buSzPct val="100000"/>
              <a:buChar char="•"/>
            </a:pPr>
            <a:r>
              <a:rPr lang="en-US" sz="1800" dirty="0">
                <a:solidFill>
                  <a:srgbClr val="1A1A1A"/>
                </a:solidFill>
                <a:latin typeface="Arial" pitchFamily="34" charset="0"/>
                <a:ea typeface="Arial" pitchFamily="34" charset="-122"/>
                <a:cs typeface="Arial" pitchFamily="34" charset="-120"/>
              </a:rPr>
              <a:t>Risk output with interpretability and explanation</a:t>
            </a:r>
            <a:endParaRPr lang="en-US" sz="1800" dirty="0"/>
          </a:p>
          <a:p>
            <a:pPr marL="228600" indent="-228600">
              <a:lnSpc>
                <a:spcPct val="115000"/>
              </a:lnSpc>
              <a:spcAft>
                <a:spcPts val="1000"/>
              </a:spcAft>
              <a:buSzPct val="100000"/>
              <a:buChar char="•"/>
            </a:pPr>
            <a:r>
              <a:rPr lang="en-US" sz="1800" dirty="0">
                <a:solidFill>
                  <a:srgbClr val="1A1A1A"/>
                </a:solidFill>
                <a:latin typeface="Arial" pitchFamily="34" charset="0"/>
                <a:ea typeface="Arial" pitchFamily="34" charset="-122"/>
                <a:cs typeface="Arial" pitchFamily="34" charset="-120"/>
              </a:rPr>
              <a:t>Interactive visualizations of data and features</a:t>
            </a:r>
            <a:endParaRPr lang="en-US" sz="1800" dirty="0"/>
          </a:p>
          <a:p>
            <a:pPr marL="228600" indent="-228600">
              <a:lnSpc>
                <a:spcPct val="115000"/>
              </a:lnSpc>
              <a:spcAft>
                <a:spcPts val="1000"/>
              </a:spcAft>
              <a:buSzPct val="100000"/>
              <a:buChar char="•"/>
            </a:pPr>
            <a:r>
              <a:rPr lang="en-US" sz="1800" dirty="0">
                <a:solidFill>
                  <a:srgbClr val="1A1A1A"/>
                </a:solidFill>
                <a:latin typeface="Arial" pitchFamily="34" charset="0"/>
                <a:ea typeface="Arial" pitchFamily="34" charset="-122"/>
                <a:cs typeface="Arial" pitchFamily="34" charset="-120"/>
              </a:rPr>
              <a:t>Location-wise dataset analysis and filters</a:t>
            </a:r>
            <a:endParaRPr lang="en-US" sz="1800" dirty="0"/>
          </a:p>
          <a:p>
            <a:pPr marL="228600" indent="-228600">
              <a:lnSpc>
                <a:spcPct val="115000"/>
              </a:lnSpc>
              <a:spcAft>
                <a:spcPts val="1000"/>
              </a:spcAft>
              <a:buSzPct val="100000"/>
              <a:buChar char="•"/>
            </a:pPr>
            <a:r>
              <a:rPr lang="en-US" sz="1800" dirty="0">
                <a:solidFill>
                  <a:srgbClr val="1A1A1A"/>
                </a:solidFill>
                <a:latin typeface="Arial" pitchFamily="34" charset="0"/>
                <a:ea typeface="Arial" pitchFamily="34" charset="-122"/>
                <a:cs typeface="Arial" pitchFamily="34" charset="-120"/>
              </a:rPr>
              <a:t>Model performance and feature importance insights</a:t>
            </a:r>
            <a:endParaRPr lang="en-US" sz="1800" dirty="0"/>
          </a:p>
        </p:txBody>
      </p:sp>
      <p:pic>
        <p:nvPicPr>
          <p:cNvPr id="7" name="Picture 6">
            <a:extLst>
              <a:ext uri="{FF2B5EF4-FFF2-40B4-BE49-F238E27FC236}">
                <a16:creationId xmlns:a16="http://schemas.microsoft.com/office/drawing/2014/main" id="{BCE27B93-DA47-7B68-9B3A-059A8D85F3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KEY INNOVATIONS</a:t>
            </a:r>
            <a:endParaRPr lang="en-US" sz="2400" dirty="0"/>
          </a:p>
        </p:txBody>
      </p:sp>
      <p:sp>
        <p:nvSpPr>
          <p:cNvPr id="5" name="Text 2"/>
          <p:cNvSpPr/>
          <p:nvPr/>
        </p:nvSpPr>
        <p:spPr>
          <a:xfrm>
            <a:off x="822960" y="1691640"/>
            <a:ext cx="10820095" cy="4572000"/>
          </a:xfrm>
          <a:prstGeom prst="rect">
            <a:avLst/>
          </a:prstGeom>
          <a:noFill/>
          <a:ln/>
        </p:spPr>
        <p:txBody>
          <a:bodyPr wrap="square" rtlCol="0" anchor="t"/>
          <a:lstStyle/>
          <a:p>
            <a:pPr marL="0" indent="0">
              <a:lnSpc>
                <a:spcPct val="115000"/>
              </a:lnSpc>
              <a:spcAft>
                <a:spcPts val="400"/>
              </a:spcAft>
              <a:buNone/>
            </a:pPr>
            <a:r>
              <a:rPr lang="en-US" sz="1350" b="1" dirty="0">
                <a:solidFill>
                  <a:srgbClr val="1A1A1A"/>
                </a:solidFill>
                <a:latin typeface="Arial" pitchFamily="34" charset="0"/>
                <a:ea typeface="Arial" pitchFamily="34" charset="-122"/>
                <a:cs typeface="Arial" pitchFamily="34" charset="-120"/>
              </a:rPr>
              <a:t>Interactive Dashboard</a:t>
            </a:r>
            <a:endParaRPr lang="en-US" sz="1350" dirty="0"/>
          </a:p>
          <a:p>
            <a:pPr marL="228600" indent="-228600">
              <a:lnSpc>
                <a:spcPct val="115000"/>
              </a:lnSpc>
              <a:spcAft>
                <a:spcPts val="1000"/>
              </a:spcAft>
              <a:buSzPct val="100000"/>
              <a:buChar char="•"/>
            </a:pPr>
            <a:r>
              <a:rPr lang="en-US" sz="1350" dirty="0">
                <a:solidFill>
                  <a:srgbClr val="1A1A1A"/>
                </a:solidFill>
                <a:latin typeface="Arial" pitchFamily="34" charset="0"/>
                <a:ea typeface="Arial" pitchFamily="34" charset="-122"/>
                <a:cs typeface="Arial" pitchFamily="34" charset="-120"/>
              </a:rPr>
              <a:t>User-driven heart disease risk prediction and exploration</a:t>
            </a:r>
            <a:endParaRPr lang="en-US" sz="1350" dirty="0"/>
          </a:p>
          <a:p>
            <a:pPr marL="228600" indent="-228600">
              <a:lnSpc>
                <a:spcPct val="115000"/>
              </a:lnSpc>
              <a:spcAft>
                <a:spcPts val="1000"/>
              </a:spcAft>
              <a:buSzPct val="100000"/>
              <a:buChar char="•"/>
            </a:pPr>
            <a:r>
              <a:rPr lang="en-US" sz="1350" dirty="0">
                <a:solidFill>
                  <a:srgbClr val="1A1A1A"/>
                </a:solidFill>
                <a:latin typeface="Arial" pitchFamily="34" charset="0"/>
                <a:ea typeface="Arial" pitchFamily="34" charset="-122"/>
                <a:cs typeface="Arial" pitchFamily="34" charset="-120"/>
              </a:rPr>
              <a:t>Patient-level prediction with interpretability and risk output</a:t>
            </a:r>
            <a:endParaRPr lang="en-US" sz="1350" dirty="0"/>
          </a:p>
          <a:p>
            <a:pPr marL="0" indent="0">
              <a:lnSpc>
                <a:spcPct val="115000"/>
              </a:lnSpc>
              <a:spcAft>
                <a:spcPts val="400"/>
              </a:spcAft>
              <a:buNone/>
            </a:pPr>
            <a:r>
              <a:rPr lang="en-US" sz="1350" b="1" dirty="0">
                <a:solidFill>
                  <a:srgbClr val="1A1A1A"/>
                </a:solidFill>
                <a:latin typeface="Arial" pitchFamily="34" charset="0"/>
                <a:ea typeface="Arial" pitchFamily="34" charset="-122"/>
                <a:cs typeface="Arial" pitchFamily="34" charset="-120"/>
              </a:rPr>
              <a:t>Location-Wise Geographic Analysis</a:t>
            </a:r>
            <a:endParaRPr lang="en-US" sz="1350" dirty="0"/>
          </a:p>
          <a:p>
            <a:pPr marL="228600" indent="-228600">
              <a:lnSpc>
                <a:spcPct val="115000"/>
              </a:lnSpc>
              <a:spcAft>
                <a:spcPts val="1000"/>
              </a:spcAft>
              <a:buSzPct val="100000"/>
              <a:buChar char="•"/>
            </a:pPr>
            <a:r>
              <a:rPr lang="en-US" sz="1350" dirty="0">
                <a:solidFill>
                  <a:srgbClr val="1A1A1A"/>
                </a:solidFill>
                <a:latin typeface="Arial" pitchFamily="34" charset="0"/>
                <a:ea typeface="Arial" pitchFamily="34" charset="-122"/>
                <a:cs typeface="Arial" pitchFamily="34" charset="-120"/>
              </a:rPr>
              <a:t>Analysis across four UCI dataset source locations: Cleveland, Hungary, Switzerland, Long Beach</a:t>
            </a:r>
            <a:endParaRPr lang="en-US" sz="1350" dirty="0"/>
          </a:p>
          <a:p>
            <a:pPr marL="228600" indent="-228600">
              <a:lnSpc>
                <a:spcPct val="115000"/>
              </a:lnSpc>
              <a:spcAft>
                <a:spcPts val="1000"/>
              </a:spcAft>
              <a:buSzPct val="100000"/>
              <a:buChar char="•"/>
            </a:pPr>
            <a:r>
              <a:rPr lang="en-US" sz="1350" dirty="0">
                <a:solidFill>
                  <a:srgbClr val="1A1A1A"/>
                </a:solidFill>
                <a:latin typeface="Arial" pitchFamily="34" charset="0"/>
                <a:ea typeface="Arial" pitchFamily="34" charset="-122"/>
                <a:cs typeface="Arial" pitchFamily="34" charset="-120"/>
              </a:rPr>
              <a:t>Uncovers geographic variations in heart disease patterns</a:t>
            </a:r>
            <a:endParaRPr lang="en-US" sz="1350" dirty="0"/>
          </a:p>
          <a:p>
            <a:pPr marL="0" indent="0">
              <a:lnSpc>
                <a:spcPct val="115000"/>
              </a:lnSpc>
              <a:spcAft>
                <a:spcPts val="400"/>
              </a:spcAft>
              <a:buNone/>
            </a:pPr>
            <a:r>
              <a:rPr lang="en-US" sz="1350" b="1" dirty="0">
                <a:solidFill>
                  <a:srgbClr val="1A1A1A"/>
                </a:solidFill>
                <a:latin typeface="Arial" pitchFamily="34" charset="0"/>
                <a:ea typeface="Arial" pitchFamily="34" charset="-122"/>
                <a:cs typeface="Arial" pitchFamily="34" charset="-120"/>
              </a:rPr>
              <a:t>Unified ML + Visual Analytics Platform</a:t>
            </a:r>
            <a:endParaRPr lang="en-US" sz="1350" dirty="0"/>
          </a:p>
          <a:p>
            <a:pPr marL="228600" indent="-228600">
              <a:lnSpc>
                <a:spcPct val="115000"/>
              </a:lnSpc>
              <a:spcAft>
                <a:spcPts val="1000"/>
              </a:spcAft>
              <a:buSzPct val="100000"/>
              <a:buChar char="•"/>
            </a:pPr>
            <a:r>
              <a:rPr lang="en-US" sz="1350" dirty="0">
                <a:solidFill>
                  <a:srgbClr val="1A1A1A"/>
                </a:solidFill>
                <a:latin typeface="Arial" pitchFamily="34" charset="0"/>
                <a:ea typeface="Arial" pitchFamily="34" charset="-122"/>
                <a:cs typeface="Arial" pitchFamily="34" charset="-120"/>
              </a:rPr>
              <a:t>Integration of machine learning prediction with interactive visualizations in one platform</a:t>
            </a:r>
            <a:endParaRPr lang="en-US" sz="1350" dirty="0"/>
          </a:p>
          <a:p>
            <a:pPr marL="228600" indent="-228600">
              <a:lnSpc>
                <a:spcPct val="115000"/>
              </a:lnSpc>
              <a:spcAft>
                <a:spcPts val="1000"/>
              </a:spcAft>
              <a:buSzPct val="100000"/>
              <a:buChar char="•"/>
            </a:pPr>
            <a:r>
              <a:rPr lang="en-US" sz="1350" dirty="0">
                <a:solidFill>
                  <a:srgbClr val="1A1A1A"/>
                </a:solidFill>
                <a:latin typeface="Arial" pitchFamily="34" charset="0"/>
                <a:ea typeface="Arial" pitchFamily="34" charset="-122"/>
                <a:cs typeface="Arial" pitchFamily="34" charset="-120"/>
              </a:rPr>
              <a:t>Feature-based interpretation to explain model outputs and increase transparency</a:t>
            </a:r>
            <a:endParaRPr lang="en-US" sz="1350" dirty="0"/>
          </a:p>
          <a:p>
            <a:pPr marL="228600" indent="-228600">
              <a:lnSpc>
                <a:spcPct val="115000"/>
              </a:lnSpc>
              <a:spcAft>
                <a:spcPts val="1000"/>
              </a:spcAft>
              <a:buSzPct val="100000"/>
              <a:buChar char="•"/>
            </a:pPr>
            <a:r>
              <a:rPr lang="en-US" sz="1350" dirty="0">
                <a:solidFill>
                  <a:srgbClr val="1A1A1A"/>
                </a:solidFill>
                <a:latin typeface="Arial" pitchFamily="34" charset="0"/>
                <a:ea typeface="Arial" pitchFamily="34" charset="-122"/>
                <a:cs typeface="Arial" pitchFamily="34" charset="-120"/>
              </a:rPr>
              <a:t>Transforms original research methodology into an interactive research prototype for academic and decision-support use</a:t>
            </a:r>
            <a:endParaRPr lang="en-US" sz="1350" dirty="0"/>
          </a:p>
        </p:txBody>
      </p:sp>
      <p:pic>
        <p:nvPicPr>
          <p:cNvPr id="7" name="Picture 6">
            <a:extLst>
              <a:ext uri="{FF2B5EF4-FFF2-40B4-BE49-F238E27FC236}">
                <a16:creationId xmlns:a16="http://schemas.microsoft.com/office/drawing/2014/main" id="{230F5609-2635-4579-8A7A-8129961EB5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RESEARCH CONTRIBUTION &amp; FEASIBILITY</a:t>
            </a:r>
            <a:endParaRPr lang="en-US" sz="2400" dirty="0"/>
          </a:p>
        </p:txBody>
      </p:sp>
      <p:sp>
        <p:nvSpPr>
          <p:cNvPr id="5" name="Text 2"/>
          <p:cNvSpPr/>
          <p:nvPr/>
        </p:nvSpPr>
        <p:spPr>
          <a:xfrm>
            <a:off x="548640" y="1965960"/>
            <a:ext cx="5272888" cy="4206240"/>
          </a:xfrm>
          <a:prstGeom prst="rect">
            <a:avLst/>
          </a:prstGeom>
          <a:noFill/>
          <a:ln/>
        </p:spPr>
        <p:txBody>
          <a:bodyPr wrap="square" rtlCol="0" anchor="t"/>
          <a:lstStyle/>
          <a:p>
            <a:pPr marL="0" indent="0">
              <a:lnSpc>
                <a:spcPct val="115000"/>
              </a:lnSpc>
              <a:spcAft>
                <a:spcPts val="800"/>
              </a:spcAft>
              <a:buNone/>
            </a:pPr>
            <a:r>
              <a:rPr lang="en-US" sz="1600" b="1" dirty="0">
                <a:solidFill>
                  <a:srgbClr val="B32B2E"/>
                </a:solidFill>
              </a:rPr>
              <a:t>Contributions</a:t>
            </a:r>
            <a:endParaRPr lang="en-US" sz="1600" dirty="0"/>
          </a:p>
          <a:p>
            <a:pPr marL="342900" indent="-342900">
              <a:lnSpc>
                <a:spcPct val="115000"/>
              </a:lnSpc>
              <a:spcAft>
                <a:spcPts val="800"/>
              </a:spcAft>
              <a:buSzPct val="100000"/>
              <a:buChar char="•"/>
            </a:pPr>
            <a:r>
              <a:rPr lang="en-US" sz="1400" dirty="0">
                <a:solidFill>
                  <a:srgbClr val="1A1A1A"/>
                </a:solidFill>
              </a:rPr>
              <a:t>Extension of published heart disease prediction study with location-wise analysis across four UCI dataset sources</a:t>
            </a:r>
            <a:endParaRPr lang="en-US" sz="1600" dirty="0"/>
          </a:p>
          <a:p>
            <a:pPr marL="342900" indent="-342900">
              <a:lnSpc>
                <a:spcPct val="115000"/>
              </a:lnSpc>
              <a:spcAft>
                <a:spcPts val="800"/>
              </a:spcAft>
              <a:buSzPct val="100000"/>
              <a:buChar char="•"/>
            </a:pPr>
            <a:r>
              <a:rPr lang="en-US" sz="1400" dirty="0">
                <a:solidFill>
                  <a:srgbClr val="1A1A1A"/>
                </a:solidFill>
              </a:rPr>
              <a:t>Integration of prediction and visualization into a unified interactive environment</a:t>
            </a:r>
            <a:endParaRPr lang="en-US" sz="1600" dirty="0"/>
          </a:p>
          <a:p>
            <a:pPr marL="342900" indent="-342900">
              <a:lnSpc>
                <a:spcPct val="115000"/>
              </a:lnSpc>
              <a:buSzPct val="100000"/>
              <a:buChar char="•"/>
            </a:pPr>
            <a:r>
              <a:rPr lang="en-US" sz="1400" dirty="0">
                <a:solidFill>
                  <a:srgbClr val="1A1A1A"/>
                </a:solidFill>
              </a:rPr>
              <a:t>Foundation for future explainable AI and cross-dataset research</a:t>
            </a:r>
            <a:endParaRPr lang="en-US" sz="1600" dirty="0"/>
          </a:p>
        </p:txBody>
      </p:sp>
      <p:sp>
        <p:nvSpPr>
          <p:cNvPr id="6" name="Text 3"/>
          <p:cNvSpPr/>
          <p:nvPr/>
        </p:nvSpPr>
        <p:spPr>
          <a:xfrm>
            <a:off x="6370168" y="1965960"/>
            <a:ext cx="5272888" cy="4206240"/>
          </a:xfrm>
          <a:prstGeom prst="rect">
            <a:avLst/>
          </a:prstGeom>
          <a:noFill/>
          <a:ln/>
        </p:spPr>
        <p:txBody>
          <a:bodyPr wrap="square" rtlCol="0" anchor="t"/>
          <a:lstStyle/>
          <a:p>
            <a:pPr marL="0" indent="0">
              <a:lnSpc>
                <a:spcPct val="115000"/>
              </a:lnSpc>
              <a:spcAft>
                <a:spcPts val="800"/>
              </a:spcAft>
              <a:buNone/>
            </a:pPr>
            <a:r>
              <a:rPr lang="en-US" sz="1600" b="1" dirty="0">
                <a:solidFill>
                  <a:srgbClr val="B32B2E"/>
                </a:solidFill>
              </a:rPr>
              <a:t>Technical Feasibility</a:t>
            </a:r>
            <a:endParaRPr lang="en-US" sz="1600" dirty="0"/>
          </a:p>
          <a:p>
            <a:pPr marL="342900" indent="-342900">
              <a:lnSpc>
                <a:spcPct val="115000"/>
              </a:lnSpc>
              <a:spcAft>
                <a:spcPts val="800"/>
              </a:spcAft>
              <a:buSzPct val="100000"/>
              <a:buChar char="•"/>
            </a:pPr>
            <a:r>
              <a:rPr lang="en-US" sz="1400" dirty="0">
                <a:solidFill>
                  <a:srgbClr val="1A1A1A"/>
                </a:solidFill>
              </a:rPr>
              <a:t>Built with Python and open-source ML and data visualization libraries (Scikit-learn, Plotly, Dash)</a:t>
            </a:r>
            <a:endParaRPr lang="en-US" sz="1600" dirty="0"/>
          </a:p>
          <a:p>
            <a:pPr marL="342900" indent="-342900">
              <a:lnSpc>
                <a:spcPct val="115000"/>
              </a:lnSpc>
              <a:spcAft>
                <a:spcPts val="800"/>
              </a:spcAft>
              <a:buSzPct val="100000"/>
              <a:buChar char="•"/>
            </a:pPr>
            <a:r>
              <a:rPr lang="en-US" sz="1400" dirty="0">
                <a:solidFill>
                  <a:srgbClr val="1A1A1A"/>
                </a:solidFill>
              </a:rPr>
              <a:t>Uses the publicly available UCI Heart Disease Dataset</a:t>
            </a:r>
            <a:endParaRPr lang="en-US" sz="1600" dirty="0"/>
          </a:p>
          <a:p>
            <a:pPr marL="342900" indent="-342900">
              <a:lnSpc>
                <a:spcPct val="115000"/>
              </a:lnSpc>
              <a:spcAft>
                <a:spcPts val="800"/>
              </a:spcAft>
              <a:buSzPct val="100000"/>
              <a:buChar char="•"/>
            </a:pPr>
            <a:r>
              <a:rPr lang="en-US" sz="1400" dirty="0">
                <a:solidFill>
                  <a:srgbClr val="1A1A1A"/>
                </a:solidFill>
              </a:rPr>
              <a:t>No specialized hardware required</a:t>
            </a:r>
            <a:endParaRPr lang="en-US" sz="1600" dirty="0"/>
          </a:p>
          <a:p>
            <a:pPr marL="342900" indent="-342900">
              <a:lnSpc>
                <a:spcPct val="115000"/>
              </a:lnSpc>
              <a:buSzPct val="100000"/>
              <a:buChar char="•"/>
            </a:pPr>
            <a:r>
              <a:rPr lang="en-US" sz="1400" dirty="0">
                <a:solidFill>
                  <a:srgbClr val="1A1A1A"/>
                </a:solidFill>
              </a:rPr>
              <a:t>Browser-based dashboard prototype accessible for research use</a:t>
            </a:r>
            <a:endParaRPr lang="en-US" sz="1600" dirty="0"/>
          </a:p>
        </p:txBody>
      </p:sp>
      <p:pic>
        <p:nvPicPr>
          <p:cNvPr id="8" name="Picture 7">
            <a:extLst>
              <a:ext uri="{FF2B5EF4-FFF2-40B4-BE49-F238E27FC236}">
                <a16:creationId xmlns:a16="http://schemas.microsoft.com/office/drawing/2014/main" id="{9DDA86EB-A9E4-87DE-5D59-DB9DABE926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2649986" y="502920"/>
            <a:ext cx="8993069" cy="822960"/>
          </a:xfrm>
          <a:prstGeom prst="roundRect">
            <a:avLst>
              <a:gd name="adj" fmla="val 8889"/>
            </a:avLst>
          </a:prstGeom>
          <a:solidFill>
            <a:srgbClr val="B32B2E"/>
          </a:solidFill>
          <a:ln/>
        </p:spPr>
      </p:sp>
      <p:sp>
        <p:nvSpPr>
          <p:cNvPr id="4" name="Text 1"/>
          <p:cNvSpPr/>
          <p:nvPr/>
        </p:nvSpPr>
        <p:spPr>
          <a:xfrm>
            <a:off x="2649986" y="502920"/>
            <a:ext cx="8993069" cy="82296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CONCLUSION &amp; FUTURE SCOPE</a:t>
            </a:r>
            <a:endParaRPr lang="en-US" sz="2400" dirty="0"/>
          </a:p>
        </p:txBody>
      </p:sp>
      <p:sp>
        <p:nvSpPr>
          <p:cNvPr id="5" name="Text 2"/>
          <p:cNvSpPr/>
          <p:nvPr/>
        </p:nvSpPr>
        <p:spPr>
          <a:xfrm>
            <a:off x="822960" y="1691640"/>
            <a:ext cx="10820095" cy="4572000"/>
          </a:xfrm>
          <a:prstGeom prst="rect">
            <a:avLst/>
          </a:prstGeom>
          <a:noFill/>
          <a:ln/>
        </p:spPr>
        <p:txBody>
          <a:bodyPr wrap="square" rtlCol="0" anchor="t"/>
          <a:lstStyle/>
          <a:p>
            <a:pPr marL="0" indent="0">
              <a:lnSpc>
                <a:spcPct val="115000"/>
              </a:lnSpc>
              <a:spcAft>
                <a:spcPts val="400"/>
              </a:spcAft>
              <a:buNone/>
            </a:pPr>
            <a:r>
              <a:rPr lang="en-US" sz="1450" b="1" dirty="0">
                <a:solidFill>
                  <a:srgbClr val="1A1A1A"/>
                </a:solidFill>
                <a:latin typeface="Arial" pitchFamily="34" charset="0"/>
                <a:ea typeface="Arial" pitchFamily="34" charset="-122"/>
                <a:cs typeface="Arial" pitchFamily="34" charset="-120"/>
              </a:rPr>
              <a:t>Conclusion:</a:t>
            </a:r>
            <a:endParaRPr lang="en-US" sz="1450" dirty="0"/>
          </a:p>
          <a:p>
            <a:pPr marL="228600" indent="-228600">
              <a:lnSpc>
                <a:spcPct val="115000"/>
              </a:lnSpc>
              <a:spcAft>
                <a:spcPts val="1000"/>
              </a:spcAft>
              <a:buSzPct val="100000"/>
              <a:buChar char="•"/>
            </a:pPr>
            <a:r>
              <a:rPr lang="en-US" sz="1450" dirty="0">
                <a:solidFill>
                  <a:srgbClr val="1A1A1A"/>
                </a:solidFill>
                <a:latin typeface="Arial" pitchFamily="34" charset="0"/>
                <a:ea typeface="Arial" pitchFamily="34" charset="-122"/>
                <a:cs typeface="Arial" pitchFamily="34" charset="-120"/>
              </a:rPr>
              <a:t>Successfully extended the feature-limited heart disease prediction framework by combining machine learning, location-wise analysis, and an interactive dashboard for risk analytics.</a:t>
            </a:r>
            <a:endParaRPr lang="en-US" sz="1450" dirty="0"/>
          </a:p>
          <a:p>
            <a:pPr marL="0" indent="0">
              <a:lnSpc>
                <a:spcPct val="115000"/>
              </a:lnSpc>
              <a:spcAft>
                <a:spcPts val="400"/>
              </a:spcAft>
              <a:buNone/>
            </a:pPr>
            <a:r>
              <a:rPr lang="en-US" sz="1450" b="1" dirty="0">
                <a:solidFill>
                  <a:srgbClr val="1A1A1A"/>
                </a:solidFill>
                <a:latin typeface="Arial" pitchFamily="34" charset="0"/>
                <a:ea typeface="Arial" pitchFamily="34" charset="-122"/>
                <a:cs typeface="Arial" pitchFamily="34" charset="-120"/>
              </a:rPr>
              <a:t>Future Scope:</a:t>
            </a:r>
            <a:endParaRPr lang="en-US" sz="1450" dirty="0"/>
          </a:p>
          <a:p>
            <a:pPr marL="228600" indent="-228600">
              <a:lnSpc>
                <a:spcPct val="115000"/>
              </a:lnSpc>
              <a:spcAft>
                <a:spcPts val="1000"/>
              </a:spcAft>
              <a:buSzPct val="100000"/>
              <a:buChar char="•"/>
            </a:pPr>
            <a:r>
              <a:rPr lang="en-US" sz="1450" dirty="0">
                <a:solidFill>
                  <a:srgbClr val="1A1A1A"/>
                </a:solidFill>
                <a:latin typeface="Arial" pitchFamily="34" charset="0"/>
                <a:ea typeface="Arial" pitchFamily="34" charset="-122"/>
                <a:cs typeface="Arial" pitchFamily="34" charset="-120"/>
              </a:rPr>
              <a:t>Validation on additional heart disease datasets</a:t>
            </a:r>
            <a:endParaRPr lang="en-US" sz="1450" dirty="0"/>
          </a:p>
          <a:p>
            <a:pPr marL="228600" indent="-228600">
              <a:lnSpc>
                <a:spcPct val="115000"/>
              </a:lnSpc>
              <a:spcAft>
                <a:spcPts val="1000"/>
              </a:spcAft>
              <a:buSzPct val="100000"/>
              <a:buChar char="•"/>
            </a:pPr>
            <a:r>
              <a:rPr lang="en-US" sz="1450" dirty="0">
                <a:solidFill>
                  <a:srgbClr val="1A1A1A"/>
                </a:solidFill>
                <a:latin typeface="Arial" pitchFamily="34" charset="0"/>
                <a:ea typeface="Arial" pitchFamily="34" charset="-122"/>
                <a:cs typeface="Arial" pitchFamily="34" charset="-120"/>
              </a:rPr>
              <a:t>Cross-dataset and generalization studies</a:t>
            </a:r>
            <a:endParaRPr lang="en-US" sz="1450" dirty="0"/>
          </a:p>
          <a:p>
            <a:pPr marL="228600" indent="-228600">
              <a:lnSpc>
                <a:spcPct val="115000"/>
              </a:lnSpc>
              <a:spcAft>
                <a:spcPts val="1000"/>
              </a:spcAft>
              <a:buSzPct val="100000"/>
              <a:buChar char="•"/>
            </a:pPr>
            <a:r>
              <a:rPr lang="en-US" sz="1450" dirty="0">
                <a:solidFill>
                  <a:srgbClr val="1A1A1A"/>
                </a:solidFill>
                <a:latin typeface="Arial" pitchFamily="34" charset="0"/>
                <a:ea typeface="Arial" pitchFamily="34" charset="-122"/>
                <a:cs typeface="Arial" pitchFamily="34" charset="-120"/>
              </a:rPr>
              <a:t>Incorporation of advanced explainable AI methods</a:t>
            </a:r>
            <a:endParaRPr lang="en-US" sz="1450" dirty="0"/>
          </a:p>
          <a:p>
            <a:pPr marL="228600" indent="-228600">
              <a:lnSpc>
                <a:spcPct val="115000"/>
              </a:lnSpc>
              <a:spcAft>
                <a:spcPts val="1000"/>
              </a:spcAft>
              <a:buSzPct val="100000"/>
              <a:buChar char="•"/>
            </a:pPr>
            <a:r>
              <a:rPr lang="en-US" sz="1450" dirty="0">
                <a:solidFill>
                  <a:srgbClr val="1A1A1A"/>
                </a:solidFill>
                <a:latin typeface="Arial" pitchFamily="34" charset="0"/>
                <a:ea typeface="Arial" pitchFamily="34" charset="-122"/>
                <a:cs typeface="Arial" pitchFamily="34" charset="-120"/>
              </a:rPr>
              <a:t>Use of larger, more diverse clinical datasets</a:t>
            </a:r>
            <a:endParaRPr lang="en-US" sz="1450" dirty="0"/>
          </a:p>
          <a:p>
            <a:pPr marL="228600" indent="-228600">
              <a:lnSpc>
                <a:spcPct val="115000"/>
              </a:lnSpc>
              <a:spcAft>
                <a:spcPts val="1000"/>
              </a:spcAft>
              <a:buSzPct val="100000"/>
              <a:buChar char="•"/>
            </a:pPr>
            <a:r>
              <a:rPr lang="en-US" sz="1450" dirty="0">
                <a:solidFill>
                  <a:srgbClr val="1A1A1A"/>
                </a:solidFill>
                <a:latin typeface="Arial" pitchFamily="34" charset="0"/>
                <a:ea typeface="Arial" pitchFamily="34" charset="-122"/>
                <a:cs typeface="Arial" pitchFamily="34" charset="-120"/>
              </a:rPr>
              <a:t>Exploration of further relevant clinical and demographic features</a:t>
            </a:r>
            <a:endParaRPr lang="en-US" sz="1450" dirty="0"/>
          </a:p>
        </p:txBody>
      </p:sp>
      <p:sp>
        <p:nvSpPr>
          <p:cNvPr id="6" name="Text 3"/>
          <p:cNvSpPr/>
          <p:nvPr/>
        </p:nvSpPr>
        <p:spPr>
          <a:xfrm>
            <a:off x="548640" y="6126480"/>
            <a:ext cx="11094415" cy="457200"/>
          </a:xfrm>
          <a:prstGeom prst="rect">
            <a:avLst/>
          </a:prstGeom>
          <a:noFill/>
          <a:ln/>
        </p:spPr>
        <p:txBody>
          <a:bodyPr wrap="square" rtlCol="0" anchor="ctr"/>
          <a:lstStyle/>
          <a:p>
            <a:pPr marL="0" indent="0">
              <a:buNone/>
            </a:pPr>
            <a:r>
              <a:rPr lang="en-US" sz="1100" i="1" dirty="0">
                <a:solidFill>
                  <a:srgbClr val="444444"/>
                </a:solidFill>
                <a:latin typeface="Arial" pitchFamily="34" charset="0"/>
                <a:ea typeface="Arial" pitchFamily="34" charset="-122"/>
                <a:cs typeface="Arial" pitchFamily="34" charset="-120"/>
              </a:rPr>
              <a:t>Note: This system is a research and decision-support prototype — not a substitute for professional medical diagnosis.</a:t>
            </a:r>
            <a:endParaRPr lang="en-US" sz="1100" dirty="0"/>
          </a:p>
        </p:txBody>
      </p:sp>
      <p:pic>
        <p:nvPicPr>
          <p:cNvPr id="8" name="Picture 7">
            <a:extLst>
              <a:ext uri="{FF2B5EF4-FFF2-40B4-BE49-F238E27FC236}">
                <a16:creationId xmlns:a16="http://schemas.microsoft.com/office/drawing/2014/main" id="{A8669151-4E5E-7FD9-FA9E-4DD65C5D6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0" y="2926080"/>
            <a:ext cx="12191695" cy="1097280"/>
          </a:xfrm>
          <a:prstGeom prst="rect">
            <a:avLst/>
          </a:prstGeom>
          <a:noFill/>
          <a:ln/>
        </p:spPr>
        <p:txBody>
          <a:bodyPr wrap="square" rtlCol="0" anchor="ctr"/>
          <a:lstStyle/>
          <a:p>
            <a:pPr marL="0" indent="0" algn="ctr">
              <a:buNone/>
            </a:pPr>
            <a:r>
              <a:rPr lang="en-US" sz="4000" b="1" dirty="0">
                <a:solidFill>
                  <a:srgbClr val="B32B2E"/>
                </a:solidFill>
                <a:latin typeface="Arial" pitchFamily="34" charset="0"/>
                <a:ea typeface="Arial" pitchFamily="34" charset="-122"/>
                <a:cs typeface="Arial" pitchFamily="34" charset="-120"/>
              </a:rPr>
              <a:t>THANK YOU</a:t>
            </a:r>
            <a:endParaRPr lang="en-US" sz="4000" dirty="0"/>
          </a:p>
        </p:txBody>
      </p:sp>
      <p:pic>
        <p:nvPicPr>
          <p:cNvPr id="5" name="Picture 4">
            <a:extLst>
              <a:ext uri="{FF2B5EF4-FFF2-40B4-BE49-F238E27FC236}">
                <a16:creationId xmlns:a16="http://schemas.microsoft.com/office/drawing/2014/main" id="{7DE3674E-96EB-3616-0C1E-D8C280541E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99986" cy="125304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1324</Words>
  <Application>Microsoft Office PowerPoint</Application>
  <PresentationFormat>Widescreen</PresentationFormat>
  <Paragraphs>147</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vinay varma</cp:lastModifiedBy>
  <cp:revision>6</cp:revision>
  <dcterms:created xsi:type="dcterms:W3CDTF">2026-08-13T08:42:59Z</dcterms:created>
  <dcterms:modified xsi:type="dcterms:W3CDTF">2026-08-17T04:56:40Z</dcterms:modified>
</cp:coreProperties>
</file>