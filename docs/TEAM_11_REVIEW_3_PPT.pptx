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ED3679-4600-9E14-AAC5-6E6AC65C7AB8}">
          <p14:sldIdLst>
            <p14:sldId id="256"/>
          </p14:sldIdLst>
        </p14:section>
        <p14:section name="Problem and Literature" id="{87B10A1B-8EE4-C43A-69BB-9F96C211F4A6}">
          <p14:sldIdLst>
            <p14:sldId id="257"/>
            <p14:sldId id="258"/>
            <p14:sldId id="259"/>
            <p14:sldId id="260"/>
          </p14:sldIdLst>
        </p14:section>
        <p14:section name="Method" id="{D3F00191-9ECE-BBB8-D334-96D6D3940CC7}">
          <p14:sldIdLst>
            <p14:sldId id="261"/>
            <p14:sldId id="262"/>
            <p14:sldId id="263"/>
            <p14:sldId id="264"/>
          </p14:sldIdLst>
        </p14:section>
        <p14:section name="Execution and Results" id="{3E12BF48-CAFB-0372-A770-A38ADB4EDC42}">
          <p14:sldIdLst>
            <p14:sldId id="265"/>
            <p14:sldId id="266"/>
            <p14:sldId id="267"/>
            <p14:sldId id="268"/>
          </p14:sldIdLst>
        </p14:section>
        <p14:section name="Reproducibility and Paper" id="{46469AC1-ADF2-5BF6-31CB-0CA78515BFAD}">
          <p14:sldIdLst>
            <p14:sldId id="269"/>
            <p14:sldId id="270"/>
            <p14:sldId id="271"/>
          </p14:sldIdLst>
        </p14:section>
        <p14:section name="Closing" id="{124680E8-CC8F-8E59-01A7-AE903834B305}">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0" d="100"/>
          <a:sy n="80" d="100"/>
        </p:scale>
        <p:origin x="754"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E1520"/>
                </a:solidFill>
                <a:latin typeface="+mn-lt"/>
              </a:defRPr>
            </a:pPr>
            <a:r>
              <a:rPr lang="en-IN" sz="1300" b="0" i="0" u="none" strike="noStrike">
                <a:solidFill>
                  <a:srgbClr val="5E1520"/>
                </a:solidFill>
                <a:latin typeface="+mn-lt"/>
              </a:rPr>
              <a:t>Class distribution (full dataset)</a:t>
            </a:r>
          </a:p>
        </c:rich>
      </c:tx>
      <c:overlay val="0"/>
    </c:title>
    <c:autoTitleDeleted val="0"/>
    <c:plotArea>
      <c:layout/>
      <c:barChart>
        <c:barDir val="col"/>
        <c:grouping val="clustered"/>
        <c:varyColors val="0"/>
        <c:ser>
          <c:idx val="0"/>
          <c:order val="0"/>
          <c:tx>
            <c:strRef>
              <c:f>Sheet1!$B$1</c:f>
              <c:strCache>
                <c:ptCount val="1"/>
                <c:pt idx="0">
                  <c:v>Respondents</c:v>
                </c:pt>
              </c:strCache>
            </c:strRef>
          </c:tx>
          <c:spPr>
            <a:solidFill>
              <a:srgbClr val="7A1F2B"/>
            </a:solidFill>
            <a:effectLst/>
          </c:spPr>
          <c:invertIfNegative val="0"/>
          <c:dLbls>
            <c:numFmt formatCode="#,##0" sourceLinked="0"/>
            <c:spPr>
              <a:noFill/>
              <a:ln>
                <a:noFill/>
              </a:ln>
              <a:effectLst/>
            </c:spPr>
            <c:txPr>
              <a:bodyPr/>
              <a:lstStyle/>
              <a:p>
                <a:pPr>
                  <a:defRPr sz="1100" b="0" i="0" u="none" strike="noStrike">
                    <a:solidFill>
                      <a:srgbClr val="222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 No Diabetes (84.24%)</c:v>
                </c:pt>
                <c:pt idx="1">
                  <c:v>1 Prediabetes (1.83%)</c:v>
                </c:pt>
                <c:pt idx="2">
                  <c:v>2 Diabetes (13.93%)</c:v>
                </c:pt>
              </c:strCache>
            </c:strRef>
          </c:cat>
          <c:val>
            <c:numRef>
              <c:f>Sheet1!$B$2:$B$4</c:f>
              <c:numCache>
                <c:formatCode>General</c:formatCode>
                <c:ptCount val="3"/>
                <c:pt idx="0">
                  <c:v>213703</c:v>
                </c:pt>
                <c:pt idx="1">
                  <c:v>4631</c:v>
                </c:pt>
                <c:pt idx="2">
                  <c:v>35346</c:v>
                </c:pt>
              </c:numCache>
            </c:numRef>
          </c:val>
          <c:extLst>
            <c:ext xmlns:c16="http://schemas.microsoft.com/office/drawing/2014/chart" uri="{C3380CC4-5D6E-409C-BE32-E72D297353CC}">
              <c16:uniqueId val="{00000000-B2C1-4EAD-A25F-610574F83AE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DAD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E1520"/>
                </a:solidFill>
                <a:latin typeface="+mn-lt"/>
              </a:defRPr>
            </a:pPr>
            <a:r>
              <a:rPr lang="en-IN" sz="1300" b="0" i="0" u="none" strike="noStrike">
                <a:solidFill>
                  <a:srgbClr val="5E1520"/>
                </a:solidFill>
                <a:latin typeface="+mn-lt"/>
              </a:rPr>
              <a:t>Macro-F1 and balanced accuracy</a:t>
            </a:r>
          </a:p>
        </c:rich>
      </c:tx>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7A1F2B"/>
            </a:solidFill>
            <a:effectLst/>
          </c:spPr>
          <c:invertIfNegative val="0"/>
          <c:cat>
            <c:strRef>
              <c:f>Sheet1!$A$2:$A$11</c:f>
              <c:strCache>
                <c:ptCount val="10"/>
                <c:pt idx="0">
                  <c:v>LR</c:v>
                </c:pt>
                <c:pt idx="1">
                  <c:v>DT</c:v>
                </c:pt>
                <c:pt idx="2">
                  <c:v>RF</c:v>
                </c:pt>
                <c:pt idx="3">
                  <c:v>SGD-mH</c:v>
                </c:pt>
                <c:pt idx="4">
                  <c:v>XGB</c:v>
                </c:pt>
                <c:pt idx="5">
                  <c:v>LGBM</c:v>
                </c:pt>
                <c:pt idx="6">
                  <c:v>CatB</c:v>
                </c:pt>
                <c:pt idx="7">
                  <c:v>Soft Vote</c:v>
                </c:pt>
                <c:pt idx="8">
                  <c:v>Std Stack</c:v>
                </c:pt>
                <c:pt idx="9">
                  <c:v>FA Hybrid</c:v>
                </c:pt>
              </c:strCache>
            </c:strRef>
          </c:cat>
          <c:val>
            <c:numRef>
              <c:f>Sheet1!$B$2:$B$11</c:f>
              <c:numCache>
                <c:formatCode>General</c:formatCode>
                <c:ptCount val="10"/>
                <c:pt idx="0">
                  <c:v>0.42570000000000002</c:v>
                </c:pt>
                <c:pt idx="1">
                  <c:v>0.3926</c:v>
                </c:pt>
                <c:pt idx="2">
                  <c:v>0.43009999999999998</c:v>
                </c:pt>
                <c:pt idx="3">
                  <c:v>0.44719999999999999</c:v>
                </c:pt>
                <c:pt idx="4">
                  <c:v>0.43469999999999998</c:v>
                </c:pt>
                <c:pt idx="5">
                  <c:v>0.4234</c:v>
                </c:pt>
                <c:pt idx="6">
                  <c:v>0.43</c:v>
                </c:pt>
                <c:pt idx="7">
                  <c:v>0.4476</c:v>
                </c:pt>
                <c:pt idx="8">
                  <c:v>0.4199</c:v>
                </c:pt>
                <c:pt idx="9">
                  <c:v>0.42409999999999998</c:v>
                </c:pt>
              </c:numCache>
            </c:numRef>
          </c:val>
          <c:extLst>
            <c:ext xmlns:c16="http://schemas.microsoft.com/office/drawing/2014/chart" uri="{C3380CC4-5D6E-409C-BE32-E72D297353CC}">
              <c16:uniqueId val="{00000000-73AB-4E0D-8E89-61D21610BEA6}"/>
            </c:ext>
          </c:extLst>
        </c:ser>
        <c:ser>
          <c:idx val="1"/>
          <c:order val="1"/>
          <c:tx>
            <c:strRef>
              <c:f>Sheet1!$C$1</c:f>
              <c:strCache>
                <c:ptCount val="1"/>
                <c:pt idx="0">
                  <c:v>Balanced accuracy</c:v>
                </c:pt>
              </c:strCache>
            </c:strRef>
          </c:tx>
          <c:spPr>
            <a:solidFill>
              <a:srgbClr val="D08A8F"/>
            </a:solidFill>
            <a:effectLst/>
          </c:spPr>
          <c:invertIfNegative val="0"/>
          <c:cat>
            <c:strRef>
              <c:f>Sheet1!$A$2:$A$11</c:f>
              <c:strCache>
                <c:ptCount val="10"/>
                <c:pt idx="0">
                  <c:v>LR</c:v>
                </c:pt>
                <c:pt idx="1">
                  <c:v>DT</c:v>
                </c:pt>
                <c:pt idx="2">
                  <c:v>RF</c:v>
                </c:pt>
                <c:pt idx="3">
                  <c:v>SGD-mH</c:v>
                </c:pt>
                <c:pt idx="4">
                  <c:v>XGB</c:v>
                </c:pt>
                <c:pt idx="5">
                  <c:v>LGBM</c:v>
                </c:pt>
                <c:pt idx="6">
                  <c:v>CatB</c:v>
                </c:pt>
                <c:pt idx="7">
                  <c:v>Soft Vote</c:v>
                </c:pt>
                <c:pt idx="8">
                  <c:v>Std Stack</c:v>
                </c:pt>
                <c:pt idx="9">
                  <c:v>FA Hybrid</c:v>
                </c:pt>
              </c:strCache>
            </c:strRef>
          </c:cat>
          <c:val>
            <c:numRef>
              <c:f>Sheet1!$C$2:$C$11</c:f>
              <c:numCache>
                <c:formatCode>General</c:formatCode>
                <c:ptCount val="10"/>
                <c:pt idx="0">
                  <c:v>0.51890000000000003</c:v>
                </c:pt>
                <c:pt idx="1">
                  <c:v>0.49020000000000002</c:v>
                </c:pt>
                <c:pt idx="2">
                  <c:v>0.49830000000000002</c:v>
                </c:pt>
                <c:pt idx="3">
                  <c:v>0.47110000000000002</c:v>
                </c:pt>
                <c:pt idx="4">
                  <c:v>0.46889999999999998</c:v>
                </c:pt>
                <c:pt idx="5">
                  <c:v>0.5161</c:v>
                </c:pt>
                <c:pt idx="6">
                  <c:v>0.51280000000000003</c:v>
                </c:pt>
                <c:pt idx="7">
                  <c:v>0.50280000000000002</c:v>
                </c:pt>
                <c:pt idx="8">
                  <c:v>0.52600000000000002</c:v>
                </c:pt>
                <c:pt idx="9">
                  <c:v>0.5232</c:v>
                </c:pt>
              </c:numCache>
            </c:numRef>
          </c:val>
          <c:extLst>
            <c:ext xmlns:c16="http://schemas.microsoft.com/office/drawing/2014/chart" uri="{C3380CC4-5D6E-409C-BE32-E72D297353CC}">
              <c16:uniqueId val="{00000001-73AB-4E0D-8E89-61D21610BEA6}"/>
            </c:ext>
          </c:extLst>
        </c:ser>
        <c:dLbls>
          <c:showLegendKey val="0"/>
          <c:showVal val="0"/>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max val="0.55000000000000004"/>
          <c:min val="0.3"/>
        </c:scaling>
        <c:delete val="0"/>
        <c:axPos val="t"/>
        <c:majorGridlines>
          <c:spPr>
            <a:ln w="6350" cap="flat">
              <a:solidFill>
                <a:srgbClr val="E5DADA"/>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666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44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E1520"/>
                </a:solidFill>
                <a:latin typeface="+mn-lt"/>
              </a:defRPr>
            </a:pPr>
            <a:r>
              <a:rPr lang="en-US" sz="1300" b="0" i="0" u="none" strike="noStrike">
                <a:solidFill>
                  <a:srgbClr val="5E1520"/>
                </a:solidFill>
                <a:latin typeface="+mn-lt"/>
              </a:rPr>
              <a:t>Prediabetes recall by model (locked test)</a:t>
            </a:r>
          </a:p>
        </c:rich>
      </c:tx>
      <c:overlay val="0"/>
    </c:title>
    <c:autoTitleDeleted val="0"/>
    <c:plotArea>
      <c:layout/>
      <c:barChart>
        <c:barDir val="col"/>
        <c:grouping val="clustered"/>
        <c:varyColors val="0"/>
        <c:ser>
          <c:idx val="0"/>
          <c:order val="0"/>
          <c:tx>
            <c:strRef>
              <c:f>Sheet1!$B$1</c:f>
              <c:strCache>
                <c:ptCount val="1"/>
                <c:pt idx="0">
                  <c:v>Prediabetes recall</c:v>
                </c:pt>
              </c:strCache>
            </c:strRef>
          </c:tx>
          <c:spPr>
            <a:solidFill>
              <a:srgbClr val="7A1F2B"/>
            </a:solidFill>
            <a:effectLst/>
          </c:spPr>
          <c:invertIfNegative val="0"/>
          <c:dLbls>
            <c:numFmt formatCode="0.000" sourceLinked="0"/>
            <c:spPr>
              <a:noFill/>
              <a:ln>
                <a:noFill/>
              </a:ln>
              <a:effectLst/>
            </c:spPr>
            <c:txPr>
              <a:bodyPr/>
              <a:lstStyle/>
              <a:p>
                <a:pPr>
                  <a:defRPr sz="1000" b="0" i="0" u="none" strike="noStrike">
                    <a:solidFill>
                      <a:srgbClr val="222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LR</c:v>
                </c:pt>
                <c:pt idx="1">
                  <c:v>DT</c:v>
                </c:pt>
                <c:pt idx="2">
                  <c:v>RF</c:v>
                </c:pt>
                <c:pt idx="3">
                  <c:v>SGD-mH</c:v>
                </c:pt>
                <c:pt idx="4">
                  <c:v>XGB</c:v>
                </c:pt>
                <c:pt idx="5">
                  <c:v>LGBM</c:v>
                </c:pt>
                <c:pt idx="6">
                  <c:v>CatB</c:v>
                </c:pt>
                <c:pt idx="7">
                  <c:v>Soft Vote</c:v>
                </c:pt>
                <c:pt idx="8">
                  <c:v>Std Stack</c:v>
                </c:pt>
                <c:pt idx="9">
                  <c:v>FA Hybrid</c:v>
                </c:pt>
              </c:strCache>
            </c:strRef>
          </c:cat>
          <c:val>
            <c:numRef>
              <c:f>Sheet1!$B$2:$B$11</c:f>
              <c:numCache>
                <c:formatCode>General</c:formatCode>
                <c:ptCount val="10"/>
                <c:pt idx="0">
                  <c:v>0.32400000000000001</c:v>
                </c:pt>
                <c:pt idx="1">
                  <c:v>0.33589999999999998</c:v>
                </c:pt>
                <c:pt idx="2">
                  <c:v>7.7799999999999994E-2</c:v>
                </c:pt>
                <c:pt idx="3">
                  <c:v>4.3E-3</c:v>
                </c:pt>
                <c:pt idx="4">
                  <c:v>2.0500000000000001E-2</c:v>
                </c:pt>
                <c:pt idx="5">
                  <c:v>0.25380000000000003</c:v>
                </c:pt>
                <c:pt idx="6">
                  <c:v>0.1825</c:v>
                </c:pt>
                <c:pt idx="7">
                  <c:v>4.2099999999999999E-2</c:v>
                </c:pt>
                <c:pt idx="8">
                  <c:v>0.3402</c:v>
                </c:pt>
                <c:pt idx="9">
                  <c:v>0.2959</c:v>
                </c:pt>
              </c:numCache>
            </c:numRef>
          </c:val>
          <c:extLst>
            <c:ext xmlns:c16="http://schemas.microsoft.com/office/drawing/2014/chart" uri="{C3380CC4-5D6E-409C-BE32-E72D297353CC}">
              <c16:uniqueId val="{00000000-5A16-40B7-B3D0-E089DA7AAA6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max val="0.45"/>
          <c:min val="0"/>
        </c:scaling>
        <c:delete val="0"/>
        <c:axPos val="l"/>
        <c:majorGridlines>
          <c:spPr>
            <a:ln w="6350" cap="flat">
              <a:solidFill>
                <a:srgbClr val="E5DAD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533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Project Review-3 of our B.Tech project. Today we cover five things: methodology and code validation, the dashboard, a fair comparison of baseline models with soft voting, standard stacking and our failure-aware hybrid, the GitHub update, and the status of the research paper draft. Fill in the student, guide and department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problem matters, then why three-class prediction is hard: Prediabetes is about 1.83% of respondents, so a model can score well on accuracy while almost never finding Prediabetes. State the research question slowly; the rest of the review is about how we test it honestly.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objectives in order. Point out that objective 8 says verified results: we only report numbers that exist in saved result files. The CDC surveillance work is not claimed as complete unless real, usable data are confirmed.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entries come from the team literature survey in Review 1; authors and DOIs were not supplied, so they are marked to be inserted from verified sources before the paper is submitted. Do not quote numerical results from these papers unless you have checked the originals. The old heart-disease table that sits hidden beneath the picture on Review 1 slide 4 should not be reused.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each tied to something we measure later. Be careful with wording: prior work already uses confidence and entropy-type information in stacking and in dynamic ensemble selection, so we present our work as a careful, audited comparison, not as a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key numbers: 253,680 respondents, 21 original plus 8 engineered features, three classes. The chart shows the imbalance directly. The test set is split once and kept locked. Be upfront about the 23,899 duplicate rows: we kept them, and we still need to count how many test rows have an identical twin in the training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then the second row. Stress three rules: out-of-fold predictions for meta-feature training, a locked test set that is never used for selection or thresholds, and a fair comparison against standalone models, soft voting and standard stacking.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models were evaluated. Say clearly that the model labelled SVM in our code is really SGDClassifier with modified Huber loss, a linear model, and not a kernel SVM. Five models feed the hybrid; Logistic Regression and Decision Tree are standalone baselines. The exact component list must be confirmed from the source code before the paper is finalised.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idea in plain words: the meta-learner sees not only what each base model predicts, but how sure each one is and whether they agree. Do not state a breakdown of the 50 meta-features; that has to be reconstructed from the code. Mention the known XGBoost weighting inconsistency as an audit item with correction pending.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Review 1 listed these dashboard modules as developed, but the status labels are what was reported, not what has been re-verified today. Run the dashboard live, tick the checklist only for what works, and paste a real screenshot in the placeholder. The CDC surveillance module must not show outputs unless real, usable data are confirmed.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honestly: SGD Modified Huber has the highest accuracy, Soft Voting the highest Macro-F1 and MCC, Standard Stacking the highest balanced accuracy. The hybrid sits in the middle on every metric. The right way to judge it is its minority-class behaviour and what the failure analysis teaches us, not an assumption of superiority. These are the current reported values; they may change after the corrected out-of-fold experiment.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Prediabetes is the central scientific challenge. The hybrid finds about 30 percent of Prediabetes cases, but precision is only about 0.03, so F1 stays at 0.056. The false-flag figure is derived from the reported precision and recall. Soft voting looks better on accuracy and MCC but finds only about 4 percent of Prediabetes cases. Next steps must use training or validation data only, never the locked test 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SHAP beeswarm for the diabetes class of XGBoost shows engineered interaction features such as GenHlth_BMI and BMI_Age_Interaction at the top. Middle: the prediabetes reliability curves sit far below the diagonal, so those probabilities are not literal risks. Right: diabetes recall changes a lot by age, income and education; this is a descriptive observation and not proof of fairness or unfairness. Figures come from the project artifacts; the SHAP waterfall and LIME figures were left out for space.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planned structure, not a finished repository. Fill in the real URL and last commit only after checking GitHub. Do not claim a clean-environment run until it has actually been done. Library versions and the Python version must be recorded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a draft in progress, not a finished submission. Use this slide to show you know what is still open. The two most important fixes are the exact meta-feature reconstruction and the corrected out-of-fold predictions.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strict with the first column: an item belongs there only if you can show the file, output or screenshot. Everything that depends on the corrected out-of-fold run, the exact feature list, the duplicate analysis or a clean-environment run is in the second column.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we built the workflow, compared models fairly, and learned that complexity does not guarantee better results. The main open problem is Prediabetes. End with the closing message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Have the results table, the prediabetes slide and the audit items ready for follow-up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logo.jpg"/>
          <p:cNvPicPr>
            <a:picLocks noChangeAspect="1"/>
          </p:cNvPicPr>
          <p:nvPr/>
        </p:nvPicPr>
        <p:blipFill>
          <a:blip r:embed="rId2"/>
          <a:stretch>
            <a:fillRect/>
          </a:stretch>
        </p:blipFill>
        <p:spPr>
          <a:xfrm>
            <a:off x="365760" y="256032"/>
            <a:ext cx="1371600" cy="704088"/>
          </a:xfrm>
          <a:prstGeom prst="rect">
            <a:avLst/>
          </a:prstGeom>
        </p:spPr>
      </p:pic>
      <p:sp>
        <p:nvSpPr>
          <p:cNvPr id="3" name="Shape 0"/>
          <p:cNvSpPr/>
          <p:nvPr/>
        </p:nvSpPr>
        <p:spPr>
          <a:xfrm>
            <a:off x="2011680" y="347472"/>
            <a:ext cx="9829800" cy="658368"/>
          </a:xfrm>
          <a:prstGeom prst="rect">
            <a:avLst/>
          </a:prstGeom>
          <a:solidFill>
            <a:schemeClr val="accent1"/>
          </a:solidFill>
          <a:ln/>
        </p:spPr>
      </p:sp>
      <p:sp>
        <p:nvSpPr>
          <p:cNvPr id="4" name="Text 1"/>
          <p:cNvSpPr>
            <a:spLocks noGrp="1"/>
          </p:cNvSpPr>
          <p:nvPr>
            <p:ph type="title" idx="102" hasCustomPrompt="1"/>
          </p:nvPr>
        </p:nvSpPr>
        <p:spPr>
          <a:xfrm>
            <a:off x="2148840" y="347472"/>
            <a:ext cx="9601200" cy="658368"/>
          </a:xfrm>
          <a:prstGeom prst="rect">
            <a:avLst/>
          </a:prstGeom>
          <a:noFill/>
          <a:ln/>
        </p:spPr>
        <p:txBody>
          <a:bodyPr wrap="square" rtlCol="0"/>
          <a:lstStyle>
            <a:lvl1pPr marL="0" indent="0" algn="ctr">
              <a:buNone/>
              <a:defRPr lang="en-US" sz="2400" b="1" dirty="0">
                <a:solidFill>
                  <a:schemeClr val="bg1"/>
                </a:solidFill>
                <a:latin typeface="Cambria" pitchFamily="34" charset="0"/>
                <a:ea typeface="Cambria" pitchFamily="34" charset="-122"/>
                <a:cs typeface="Cambria" pitchFamily="34" charset="-120"/>
              </a:defRPr>
            </a:lvl1pPr>
          </a:lstStyle>
          <a:p>
            <a:pPr marL="0" indent="0" algn="ctr">
              <a:buNone/>
            </a:pPr>
            <a:endParaRPr lang="en-US" sz="2400" dirty="0"/>
          </a:p>
        </p:txBody>
      </p:sp>
      <p:sp>
        <p:nvSpPr>
          <p:cNvPr id="5" name="Text 1"/>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Team 11  |  Project Review-3  |  07-10-2026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457200" y="411480"/>
            <a:ext cx="1920240" cy="1005840"/>
          </a:xfrm>
          <a:prstGeom prst="rect">
            <a:avLst/>
          </a:prstGeom>
          <a:solidFill>
            <a:schemeClr val="bg1"/>
          </a:solidFill>
          <a:ln/>
        </p:spPr>
      </p:sp>
      <p:pic>
        <p:nvPicPr>
          <p:cNvPr id="3" name="Image 0" descr="/home/claude/deck/assets/logo.jpg"/>
          <p:cNvPicPr>
            <a:picLocks noChangeAspect="1"/>
          </p:cNvPicPr>
          <p:nvPr/>
        </p:nvPicPr>
        <p:blipFill>
          <a:blip r:embed="rId2"/>
          <a:stretch>
            <a:fillRect/>
          </a:stretch>
        </p:blipFill>
        <p:spPr>
          <a:xfrm>
            <a:off x="548640" y="475488"/>
            <a:ext cx="1737360" cy="886968"/>
          </a:xfrm>
          <a:prstGeom prst="rect">
            <a:avLst/>
          </a:prstGeom>
        </p:spPr>
      </p:pic>
      <p:sp>
        <p:nvSpPr>
          <p:cNvPr id="4" name="Text 1"/>
          <p:cNvSpPr>
            <a:spLocks noGrp="1"/>
          </p:cNvSpPr>
          <p:nvPr>
            <p:ph type="title" idx="102" hasCustomPrompt="1"/>
          </p:nvPr>
        </p:nvSpPr>
        <p:spPr>
          <a:xfrm>
            <a:off x="822960" y="1828800"/>
            <a:ext cx="10515600" cy="155448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822960" y="1828800"/>
            <a:ext cx="10515600" cy="1554480"/>
          </a:xfrm>
          <a:prstGeom prst="rect">
            <a:avLst/>
          </a:prstGeom>
          <a:noFill/>
          <a:ln/>
        </p:spPr>
        <p:txBody>
          <a:bodyPr wrap="square" lIns="0" tIns="0" rIns="0" bIns="0" rtlCol="0" anchor="ctr"/>
          <a:lstStyle/>
          <a:p>
            <a:r>
              <a:rPr lang="en-IN" dirty="0">
                <a:latin typeface="+mj-lt"/>
                <a:cs typeface="Arial" panose="020B0604020202020204" pitchFamily="34" charset="0"/>
              </a:rPr>
              <a:t>Three-Class Diabetes Status Prediction with Failure-Aware Ensemble Learning and Explainable AI</a:t>
            </a:r>
            <a:br>
              <a:rPr lang="en-US" dirty="0">
                <a:solidFill>
                  <a:srgbClr val="C00000"/>
                </a:solidFill>
                <a:latin typeface="Arial" panose="020B0604020202020204" pitchFamily="34" charset="0"/>
                <a:cs typeface="Arial" panose="020B0604020202020204" pitchFamily="34" charset="0"/>
              </a:rPr>
            </a:br>
            <a:endParaRPr lang="en-US" sz="4000" dirty="0"/>
          </a:p>
        </p:txBody>
      </p:sp>
      <p:sp>
        <p:nvSpPr>
          <p:cNvPr id="3" name="Text 1"/>
          <p:cNvSpPr txBox="1"/>
          <p:nvPr/>
        </p:nvSpPr>
        <p:spPr>
          <a:xfrm>
            <a:off x="822960" y="3429000"/>
            <a:ext cx="7315200" cy="457200"/>
          </a:xfrm>
          <a:prstGeom prst="rect">
            <a:avLst/>
          </a:prstGeom>
          <a:noFill/>
          <a:ln/>
        </p:spPr>
        <p:txBody>
          <a:bodyPr wrap="square" lIns="0" tIns="0" rIns="0" bIns="0" rtlCol="0" anchor="ctr"/>
          <a:lstStyle/>
          <a:p>
            <a:pPr marL="0" indent="0">
              <a:buNone/>
            </a:pPr>
            <a:r>
              <a:rPr lang="en-US" sz="2600" dirty="0">
                <a:solidFill>
                  <a:schemeClr val="accent4"/>
                </a:solidFill>
                <a:latin typeface="Cambria" pitchFamily="34" charset="0"/>
                <a:ea typeface="Cambria" pitchFamily="34" charset="-122"/>
                <a:cs typeface="Cambria" pitchFamily="34" charset="-120"/>
              </a:rPr>
              <a:t>Project Review-3</a:t>
            </a:r>
            <a:endParaRPr lang="en-US" sz="2600" dirty="0"/>
          </a:p>
        </p:txBody>
      </p:sp>
      <p:sp>
        <p:nvSpPr>
          <p:cNvPr id="4" name="Text 2"/>
          <p:cNvSpPr txBox="1"/>
          <p:nvPr/>
        </p:nvSpPr>
        <p:spPr>
          <a:xfrm>
            <a:off x="822960" y="3977640"/>
            <a:ext cx="6583680" cy="173736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bg1"/>
                </a:solidFill>
              </a:rPr>
              <a:t>Validating methodology and code implementation</a:t>
            </a:r>
            <a:endParaRPr lang="en-US" sz="1500" dirty="0"/>
          </a:p>
          <a:p>
            <a:pPr marL="342900" indent="-342900">
              <a:spcAft>
                <a:spcPts val="300"/>
              </a:spcAft>
              <a:buSzPct val="100000"/>
              <a:buChar char="•"/>
            </a:pPr>
            <a:r>
              <a:rPr lang="en-US" sz="1500" dirty="0">
                <a:solidFill>
                  <a:schemeClr val="bg1"/>
                </a:solidFill>
              </a:rPr>
              <a:t>Dashboard execution and evaluation</a:t>
            </a:r>
            <a:endParaRPr lang="en-US" sz="1500" dirty="0"/>
          </a:p>
          <a:p>
            <a:pPr marL="342900" indent="-342900">
              <a:spcAft>
                <a:spcPts val="300"/>
              </a:spcAft>
              <a:buSzPct val="100000"/>
              <a:buChar char="•"/>
            </a:pPr>
            <a:r>
              <a:rPr lang="en-US" sz="1500" dirty="0">
                <a:solidFill>
                  <a:schemeClr val="bg1"/>
                </a:solidFill>
              </a:rPr>
              <a:t>Comparison of baseline, literature-inspired and proposed hybrid models</a:t>
            </a:r>
            <a:endParaRPr lang="en-US" sz="1500" dirty="0"/>
          </a:p>
          <a:p>
            <a:pPr marL="342900" indent="-342900">
              <a:spcAft>
                <a:spcPts val="300"/>
              </a:spcAft>
              <a:buSzPct val="100000"/>
              <a:buChar char="•"/>
            </a:pPr>
            <a:r>
              <a:rPr lang="en-US" sz="1500" dirty="0">
                <a:solidFill>
                  <a:schemeClr val="bg1"/>
                </a:solidFill>
              </a:rPr>
              <a:t>GitHub repository update</a:t>
            </a:r>
            <a:endParaRPr lang="en-US" sz="1500" dirty="0"/>
          </a:p>
          <a:p>
            <a:pPr marL="342900" indent="-342900">
              <a:spcAft>
                <a:spcPts val="300"/>
              </a:spcAft>
              <a:buSzPct val="100000"/>
              <a:buChar char="•"/>
            </a:pPr>
            <a:r>
              <a:rPr lang="en-US" sz="1500" dirty="0">
                <a:solidFill>
                  <a:schemeClr val="bg1"/>
                </a:solidFill>
              </a:rPr>
              <a:t>Research paper draft completion</a:t>
            </a:r>
            <a:endParaRPr lang="en-US" sz="1500" dirty="0"/>
          </a:p>
        </p:txBody>
      </p:sp>
      <p:sp>
        <p:nvSpPr>
          <p:cNvPr id="5" name="Shape 3"/>
          <p:cNvSpPr/>
          <p:nvPr/>
        </p:nvSpPr>
        <p:spPr>
          <a:xfrm>
            <a:off x="7955280" y="3977640"/>
            <a:ext cx="3749040" cy="1920240"/>
          </a:xfrm>
          <a:prstGeom prst="rect">
            <a:avLst/>
          </a:prstGeom>
          <a:solidFill>
            <a:schemeClr val="accent2"/>
          </a:solidFill>
          <a:ln w="9525">
            <a:solidFill>
              <a:schemeClr val="accent4"/>
            </a:solidFill>
            <a:prstDash val="solid"/>
          </a:ln>
        </p:spPr>
      </p:sp>
      <p:sp>
        <p:nvSpPr>
          <p:cNvPr id="6" name="Text 4"/>
          <p:cNvSpPr txBox="1"/>
          <p:nvPr/>
        </p:nvSpPr>
        <p:spPr>
          <a:xfrm>
            <a:off x="8138160" y="4069080"/>
            <a:ext cx="3383280" cy="1737360"/>
          </a:xfrm>
          <a:prstGeom prst="rect">
            <a:avLst/>
          </a:prstGeom>
          <a:noFill/>
          <a:ln/>
        </p:spPr>
        <p:txBody>
          <a:bodyPr wrap="square" lIns="0" tIns="0" rIns="0" bIns="0" rtlCol="0" anchor="ctr"/>
          <a:lstStyle/>
          <a:p>
            <a:pPr marL="0" indent="0">
              <a:spcAft>
                <a:spcPts val="400"/>
              </a:spcAft>
              <a:buNone/>
            </a:pPr>
            <a:r>
              <a:rPr lang="en-US" sz="1400" dirty="0">
                <a:solidFill>
                  <a:schemeClr val="bg1"/>
                </a:solidFill>
              </a:rPr>
              <a:t>[Student name and roll number]</a:t>
            </a:r>
            <a:endParaRPr lang="en-US" sz="1400" dirty="0"/>
          </a:p>
          <a:p>
            <a:pPr marL="0" indent="0">
              <a:spcAft>
                <a:spcPts val="400"/>
              </a:spcAft>
              <a:buNone/>
            </a:pPr>
            <a:r>
              <a:rPr lang="en-US" sz="1400" dirty="0">
                <a:solidFill>
                  <a:schemeClr val="bg1"/>
                </a:solidFill>
              </a:rPr>
              <a:t>[Department and University]</a:t>
            </a:r>
            <a:endParaRPr lang="en-US" sz="1400" dirty="0"/>
          </a:p>
          <a:p>
            <a:pPr marL="0" indent="0">
              <a:spcAft>
                <a:spcPts val="400"/>
              </a:spcAft>
              <a:buNone/>
            </a:pPr>
            <a:r>
              <a:rPr lang="en-US" sz="1400" dirty="0">
                <a:solidFill>
                  <a:schemeClr val="bg1"/>
                </a:solidFill>
              </a:rPr>
              <a:t>[Project guide name]</a:t>
            </a:r>
            <a:endParaRPr lang="en-US" sz="1400" dirty="0"/>
          </a:p>
          <a:p>
            <a:pPr marL="0" indent="0">
              <a:spcAft>
                <a:spcPts val="400"/>
              </a:spcAft>
              <a:buNone/>
            </a:pPr>
            <a:r>
              <a:rPr lang="en-US" sz="1400" dirty="0">
                <a:solidFill>
                  <a:schemeClr val="bg1"/>
                </a:solidFill>
              </a:rPr>
              <a:t>[Academic year]</a:t>
            </a:r>
            <a:endParaRPr lang="en-US" sz="1400" dirty="0"/>
          </a:p>
          <a:p>
            <a:pPr marL="0" indent="0">
              <a:spcAft>
                <a:spcPts val="400"/>
              </a:spcAft>
              <a:buNone/>
            </a:pPr>
            <a:r>
              <a:rPr lang="en-US" sz="1400" b="1" dirty="0">
                <a:solidFill>
                  <a:schemeClr val="bg1"/>
                </a:solidFill>
              </a:rPr>
              <a:t>Review date: 07 October 2026</a:t>
            </a:r>
            <a:endParaRPr lang="en-US" sz="1400" dirty="0"/>
          </a:p>
        </p:txBody>
      </p:sp>
      <p:sp>
        <p:nvSpPr>
          <p:cNvPr id="7" name="Shape 5"/>
          <p:cNvSpPr/>
          <p:nvPr/>
        </p:nvSpPr>
        <p:spPr>
          <a:xfrm>
            <a:off x="4572000" y="685800"/>
            <a:ext cx="1188720" cy="548640"/>
          </a:xfrm>
          <a:prstGeom prst="roundRect">
            <a:avLst>
              <a:gd name="adj" fmla="val 13333"/>
            </a:avLst>
          </a:prstGeom>
          <a:solidFill>
            <a:schemeClr val="accent2"/>
          </a:solidFill>
          <a:ln w="9525">
            <a:solidFill>
              <a:schemeClr val="accent4"/>
            </a:solidFill>
            <a:prstDash val="solid"/>
          </a:ln>
        </p:spPr>
      </p:sp>
      <p:sp>
        <p:nvSpPr>
          <p:cNvPr id="8" name="Text 6"/>
          <p:cNvSpPr txBox="1"/>
          <p:nvPr/>
        </p:nvSpPr>
        <p:spPr>
          <a:xfrm>
            <a:off x="4572000" y="68580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Health data</a:t>
            </a:r>
            <a:endParaRPr lang="en-US" sz="1200" dirty="0"/>
          </a:p>
        </p:txBody>
      </p:sp>
      <p:sp>
        <p:nvSpPr>
          <p:cNvPr id="9" name="Shape 7"/>
          <p:cNvSpPr/>
          <p:nvPr/>
        </p:nvSpPr>
        <p:spPr>
          <a:xfrm>
            <a:off x="5943600" y="685800"/>
            <a:ext cx="1188720" cy="548640"/>
          </a:xfrm>
          <a:prstGeom prst="roundRect">
            <a:avLst>
              <a:gd name="adj" fmla="val 13333"/>
            </a:avLst>
          </a:prstGeom>
          <a:solidFill>
            <a:schemeClr val="accent2"/>
          </a:solidFill>
          <a:ln w="9525">
            <a:solidFill>
              <a:schemeClr val="accent4"/>
            </a:solidFill>
            <a:prstDash val="solid"/>
          </a:ln>
        </p:spPr>
      </p:sp>
      <p:sp>
        <p:nvSpPr>
          <p:cNvPr id="10" name="Text 8"/>
          <p:cNvSpPr txBox="1"/>
          <p:nvPr/>
        </p:nvSpPr>
        <p:spPr>
          <a:xfrm>
            <a:off x="5943600" y="68580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ML models</a:t>
            </a:r>
            <a:endParaRPr lang="en-US" sz="1200" dirty="0"/>
          </a:p>
        </p:txBody>
      </p:sp>
      <p:sp>
        <p:nvSpPr>
          <p:cNvPr id="11" name="Shape 9"/>
          <p:cNvSpPr/>
          <p:nvPr/>
        </p:nvSpPr>
        <p:spPr>
          <a:xfrm>
            <a:off x="7315200" y="685800"/>
            <a:ext cx="1188720" cy="548640"/>
          </a:xfrm>
          <a:prstGeom prst="roundRect">
            <a:avLst>
              <a:gd name="adj" fmla="val 13333"/>
            </a:avLst>
          </a:prstGeom>
          <a:solidFill>
            <a:schemeClr val="accent2"/>
          </a:solidFill>
          <a:ln w="9525">
            <a:solidFill>
              <a:schemeClr val="accent4"/>
            </a:solidFill>
            <a:prstDash val="solid"/>
          </a:ln>
        </p:spPr>
      </p:sp>
      <p:sp>
        <p:nvSpPr>
          <p:cNvPr id="12" name="Text 10"/>
          <p:cNvSpPr txBox="1"/>
          <p:nvPr/>
        </p:nvSpPr>
        <p:spPr>
          <a:xfrm>
            <a:off x="7315200" y="68580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Hybrid</a:t>
            </a:r>
            <a:endParaRPr lang="en-US" sz="1200" dirty="0"/>
          </a:p>
        </p:txBody>
      </p:sp>
      <p:sp>
        <p:nvSpPr>
          <p:cNvPr id="13" name="Shape 11"/>
          <p:cNvSpPr/>
          <p:nvPr/>
        </p:nvSpPr>
        <p:spPr>
          <a:xfrm>
            <a:off x="8686800" y="685800"/>
            <a:ext cx="1188720" cy="548640"/>
          </a:xfrm>
          <a:prstGeom prst="roundRect">
            <a:avLst>
              <a:gd name="adj" fmla="val 13333"/>
            </a:avLst>
          </a:prstGeom>
          <a:solidFill>
            <a:schemeClr val="accent2"/>
          </a:solidFill>
          <a:ln w="9525">
            <a:solidFill>
              <a:schemeClr val="accent4"/>
            </a:solidFill>
            <a:prstDash val="solid"/>
          </a:ln>
        </p:spPr>
      </p:sp>
      <p:sp>
        <p:nvSpPr>
          <p:cNvPr id="14" name="Text 12"/>
          <p:cNvSpPr txBox="1"/>
          <p:nvPr/>
        </p:nvSpPr>
        <p:spPr>
          <a:xfrm>
            <a:off x="8686800" y="68580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XAI</a:t>
            </a:r>
            <a:endParaRPr lang="en-US" sz="1200" dirty="0"/>
          </a:p>
        </p:txBody>
      </p:sp>
      <p:sp>
        <p:nvSpPr>
          <p:cNvPr id="15" name="Shape 13"/>
          <p:cNvSpPr/>
          <p:nvPr/>
        </p:nvSpPr>
        <p:spPr>
          <a:xfrm>
            <a:off x="10058400" y="685800"/>
            <a:ext cx="1188720" cy="548640"/>
          </a:xfrm>
          <a:prstGeom prst="roundRect">
            <a:avLst>
              <a:gd name="adj" fmla="val 13333"/>
            </a:avLst>
          </a:prstGeom>
          <a:solidFill>
            <a:schemeClr val="accent2"/>
          </a:solidFill>
          <a:ln w="9525">
            <a:solidFill>
              <a:schemeClr val="accent4"/>
            </a:solidFill>
            <a:prstDash val="solid"/>
          </a:ln>
        </p:spPr>
      </p:sp>
      <p:sp>
        <p:nvSpPr>
          <p:cNvPr id="16" name="Text 14"/>
          <p:cNvSpPr txBox="1"/>
          <p:nvPr/>
        </p:nvSpPr>
        <p:spPr>
          <a:xfrm>
            <a:off x="10058400" y="68580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Dashboard</a:t>
            </a:r>
            <a:endParaRPr lang="en-US" sz="1200" dirty="0"/>
          </a:p>
        </p:txBody>
      </p:sp>
      <p:pic>
        <p:nvPicPr>
          <p:cNvPr id="17" name="Image 0" descr="preencoded.png"/>
          <p:cNvPicPr>
            <a:picLocks noChangeAspect="1"/>
          </p:cNvPicPr>
          <p:nvPr/>
        </p:nvPicPr>
        <p:blipFill>
          <a:blip r:embed="rId3"/>
          <a:stretch>
            <a:fillRect/>
          </a:stretch>
        </p:blipFill>
        <p:spPr>
          <a:xfrm>
            <a:off x="10972800" y="210312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PROJECT OVERVIEW AND MOTIVATION</a:t>
            </a:r>
            <a:endParaRPr lang="en-US" sz="2400" dirty="0"/>
          </a:p>
        </p:txBody>
      </p:sp>
      <p:sp>
        <p:nvSpPr>
          <p:cNvPr id="3" name="Text 1"/>
          <p:cNvSpPr txBox="1"/>
          <p:nvPr/>
        </p:nvSpPr>
        <p:spPr>
          <a:xfrm>
            <a:off x="457200" y="1280160"/>
            <a:ext cx="6309360" cy="35661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tx1"/>
                </a:solidFill>
              </a:rPr>
              <a:t>Diabetes is a public-health concern shaped by demographic, lifestyle and health factors.</a:t>
            </a:r>
            <a:endParaRPr lang="en-US" sz="1600" dirty="0"/>
          </a:p>
          <a:p>
            <a:pPr marL="342900" indent="-342900">
              <a:spcAft>
                <a:spcPts val="700"/>
              </a:spcAft>
              <a:buSzPct val="100000"/>
              <a:buChar char="•"/>
            </a:pPr>
            <a:r>
              <a:rPr lang="en-US" sz="1600" dirty="0">
                <a:solidFill>
                  <a:schemeClr val="tx1"/>
                </a:solidFill>
              </a:rPr>
              <a:t>Early identification of risk patterns supports population-level health analysis.</a:t>
            </a:r>
            <a:endParaRPr lang="en-US" sz="1600" dirty="0"/>
          </a:p>
          <a:p>
            <a:pPr marL="342900" indent="-342900">
              <a:spcAft>
                <a:spcPts val="700"/>
              </a:spcAft>
              <a:buSzPct val="100000"/>
              <a:buChar char="•"/>
            </a:pPr>
            <a:r>
              <a:rPr lang="en-US" sz="1600" dirty="0">
                <a:solidFill>
                  <a:schemeClr val="tx1"/>
                </a:solidFill>
              </a:rPr>
              <a:t>Machine learning can find patterns in health-indicator data.</a:t>
            </a:r>
            <a:endParaRPr lang="en-US" sz="1600" dirty="0"/>
          </a:p>
          <a:p>
            <a:pPr marL="342900" indent="-342900">
              <a:spcAft>
                <a:spcPts val="700"/>
              </a:spcAft>
              <a:buSzPct val="100000"/>
              <a:buChar char="•"/>
            </a:pPr>
            <a:r>
              <a:rPr lang="en-US" sz="1600" dirty="0">
                <a:solidFill>
                  <a:schemeClr val="tx1"/>
                </a:solidFill>
              </a:rPr>
              <a:t>Three classes are harder than two: Prediabetes is only 1.83% of records.</a:t>
            </a:r>
            <a:endParaRPr lang="en-US" sz="1600" dirty="0"/>
          </a:p>
          <a:p>
            <a:pPr marL="342900" indent="-342900">
              <a:spcAft>
                <a:spcPts val="700"/>
              </a:spcAft>
              <a:buSzPct val="100000"/>
              <a:buChar char="•"/>
            </a:pPr>
            <a:r>
              <a:rPr lang="en-US" sz="1600" dirty="0">
                <a:solidFill>
                  <a:schemeClr val="tx1"/>
                </a:solidFill>
              </a:rPr>
              <a:t>High accuracy alone can hide poor minority-class recognition.</a:t>
            </a:r>
            <a:endParaRPr lang="en-US" sz="1600" dirty="0"/>
          </a:p>
          <a:p>
            <a:pPr marL="342900" indent="-342900">
              <a:spcAft>
                <a:spcPts val="700"/>
              </a:spcAft>
              <a:buSzPct val="100000"/>
              <a:buChar char="•"/>
            </a:pPr>
            <a:r>
              <a:rPr lang="en-US" sz="1600" dirty="0">
                <a:solidFill>
                  <a:schemeClr val="tx1"/>
                </a:solidFill>
              </a:rPr>
              <a:t>We study prediction, model-failure analysis, explainability and public-health analytics.</a:t>
            </a:r>
            <a:endParaRPr lang="en-US" sz="1600" dirty="0"/>
          </a:p>
        </p:txBody>
      </p:sp>
      <p:sp>
        <p:nvSpPr>
          <p:cNvPr id="4" name="Shape 2"/>
          <p:cNvSpPr/>
          <p:nvPr/>
        </p:nvSpPr>
        <p:spPr>
          <a:xfrm>
            <a:off x="7132320" y="1280160"/>
            <a:ext cx="4617720" cy="3566160"/>
          </a:xfrm>
          <a:prstGeom prst="rect">
            <a:avLst/>
          </a:prstGeom>
          <a:solidFill>
            <a:schemeClr val="tx2"/>
          </a:solidFill>
          <a:ln/>
          <a:effectLst>
            <a:outerShdw blurRad="76200" dist="25400" dir="5400000" algn="bl" rotWithShape="0">
              <a:srgbClr val="000000">
                <a:alpha val="12000"/>
              </a:srgbClr>
            </a:outerShdw>
          </a:effectLst>
        </p:spPr>
      </p:sp>
      <p:sp>
        <p:nvSpPr>
          <p:cNvPr id="5" name="Text 3"/>
          <p:cNvSpPr txBox="1"/>
          <p:nvPr/>
        </p:nvSpPr>
        <p:spPr>
          <a:xfrm>
            <a:off x="7360920" y="1417320"/>
            <a:ext cx="4206240" cy="365760"/>
          </a:xfrm>
          <a:prstGeom prst="rect">
            <a:avLst/>
          </a:prstGeom>
          <a:noFill/>
          <a:ln/>
        </p:spPr>
        <p:txBody>
          <a:bodyPr wrap="square" lIns="0" tIns="0" rIns="0" bIns="0" rtlCol="0" anchor="ctr"/>
          <a:lstStyle/>
          <a:p>
            <a:pPr marL="0" indent="0">
              <a:buNone/>
            </a:pPr>
            <a:r>
              <a:rPr lang="en-US" sz="1400" b="1" dirty="0">
                <a:solidFill>
                  <a:schemeClr val="accent4"/>
                </a:solidFill>
              </a:rPr>
              <a:t>RESEARCH QUESTION</a:t>
            </a:r>
            <a:endParaRPr lang="en-US" sz="1400" dirty="0"/>
          </a:p>
        </p:txBody>
      </p:sp>
      <p:sp>
        <p:nvSpPr>
          <p:cNvPr id="6" name="Text 4"/>
          <p:cNvSpPr txBox="1"/>
          <p:nvPr/>
        </p:nvSpPr>
        <p:spPr>
          <a:xfrm>
            <a:off x="7360920" y="1874520"/>
            <a:ext cx="4206240" cy="2743200"/>
          </a:xfrm>
          <a:prstGeom prst="rect">
            <a:avLst/>
          </a:prstGeom>
          <a:noFill/>
          <a:ln/>
        </p:spPr>
        <p:txBody>
          <a:bodyPr wrap="square" lIns="0" tIns="0" rIns="0" bIns="0" rtlCol="0" anchor="t"/>
          <a:lstStyle/>
          <a:p>
            <a:pPr marL="0" indent="0">
              <a:buNone/>
            </a:pPr>
            <a:r>
              <a:rPr lang="en-US" sz="2000" i="1" dirty="0">
                <a:solidFill>
                  <a:schemeClr val="bg1"/>
                </a:solidFill>
                <a:latin typeface="Cambria" pitchFamily="34" charset="0"/>
                <a:ea typeface="Cambria" pitchFamily="34" charset="-122"/>
                <a:cs typeface="Cambria" pitchFamily="34" charset="-120"/>
              </a:rPr>
              <a:t>Can model confidence, prediction disagreement and failure-pattern information improve three-class diabetes classification under severe class imbalance?</a:t>
            </a:r>
            <a:endParaRPr lang="en-US" sz="2000" dirty="0"/>
          </a:p>
        </p:txBody>
      </p:sp>
      <p:sp>
        <p:nvSpPr>
          <p:cNvPr id="7" name="Shape 5"/>
          <p:cNvSpPr/>
          <p:nvPr/>
        </p:nvSpPr>
        <p:spPr>
          <a:xfrm>
            <a:off x="457200" y="5257800"/>
            <a:ext cx="2011680" cy="777240"/>
          </a:xfrm>
          <a:prstGeom prst="roundRect">
            <a:avLst>
              <a:gd name="adj" fmla="val 9412"/>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8" name="Text 6"/>
          <p:cNvSpPr txBox="1"/>
          <p:nvPr/>
        </p:nvSpPr>
        <p:spPr>
          <a:xfrm>
            <a:off x="457200" y="5257800"/>
            <a:ext cx="2011680" cy="777240"/>
          </a:xfrm>
          <a:prstGeom prst="rect">
            <a:avLst/>
          </a:prstGeom>
          <a:noFill/>
          <a:ln/>
        </p:spPr>
        <p:txBody>
          <a:bodyPr wrap="square" lIns="0" tIns="0" rIns="0" bIns="0" rtlCol="0" anchor="ctr"/>
          <a:lstStyle/>
          <a:p>
            <a:pPr marL="0" indent="0" algn="ctr">
              <a:buNone/>
            </a:pPr>
            <a:r>
              <a:rPr lang="en-US" sz="1400" b="1" dirty="0">
                <a:solidFill>
                  <a:schemeClr val="tx2"/>
                </a:solidFill>
              </a:rPr>
              <a:t>Healthcare data</a:t>
            </a:r>
            <a:endParaRPr lang="en-US" sz="1400" dirty="0"/>
          </a:p>
        </p:txBody>
      </p:sp>
      <p:sp>
        <p:nvSpPr>
          <p:cNvPr id="9" name="Shape 7"/>
          <p:cNvSpPr/>
          <p:nvPr/>
        </p:nvSpPr>
        <p:spPr>
          <a:xfrm>
            <a:off x="2468880" y="5646420"/>
            <a:ext cx="274320" cy="0"/>
          </a:xfrm>
          <a:prstGeom prst="line">
            <a:avLst/>
          </a:prstGeom>
          <a:noFill/>
          <a:ln w="19050">
            <a:solidFill>
              <a:srgbClr val="7A1F2B"/>
            </a:solidFill>
            <a:prstDash val="solid"/>
            <a:tailEnd type="triangle"/>
          </a:ln>
        </p:spPr>
      </p:sp>
      <p:sp>
        <p:nvSpPr>
          <p:cNvPr id="10" name="Shape 8"/>
          <p:cNvSpPr/>
          <p:nvPr/>
        </p:nvSpPr>
        <p:spPr>
          <a:xfrm>
            <a:off x="2743200" y="5257800"/>
            <a:ext cx="2011680" cy="777240"/>
          </a:xfrm>
          <a:prstGeom prst="roundRect">
            <a:avLst>
              <a:gd name="adj" fmla="val 9412"/>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1" name="Text 9"/>
          <p:cNvSpPr txBox="1"/>
          <p:nvPr/>
        </p:nvSpPr>
        <p:spPr>
          <a:xfrm>
            <a:off x="2743200" y="5257800"/>
            <a:ext cx="2011680" cy="777240"/>
          </a:xfrm>
          <a:prstGeom prst="rect">
            <a:avLst/>
          </a:prstGeom>
          <a:noFill/>
          <a:ln/>
        </p:spPr>
        <p:txBody>
          <a:bodyPr wrap="square" lIns="0" tIns="0" rIns="0" bIns="0" rtlCol="0" anchor="ctr"/>
          <a:lstStyle/>
          <a:p>
            <a:pPr marL="0" indent="0" algn="ctr">
              <a:buNone/>
            </a:pPr>
            <a:r>
              <a:rPr lang="en-US" sz="1400" b="1" dirty="0">
                <a:solidFill>
                  <a:schemeClr val="tx2"/>
                </a:solidFill>
              </a:rPr>
              <a:t>Machine learning</a:t>
            </a:r>
            <a:endParaRPr lang="en-US" sz="1400" dirty="0"/>
          </a:p>
        </p:txBody>
      </p:sp>
      <p:sp>
        <p:nvSpPr>
          <p:cNvPr id="12" name="Shape 10"/>
          <p:cNvSpPr/>
          <p:nvPr/>
        </p:nvSpPr>
        <p:spPr>
          <a:xfrm>
            <a:off x="4754880" y="5646420"/>
            <a:ext cx="274320" cy="0"/>
          </a:xfrm>
          <a:prstGeom prst="line">
            <a:avLst/>
          </a:prstGeom>
          <a:noFill/>
          <a:ln w="19050">
            <a:solidFill>
              <a:srgbClr val="7A1F2B"/>
            </a:solidFill>
            <a:prstDash val="solid"/>
            <a:tailEnd type="triangle"/>
          </a:ln>
        </p:spPr>
      </p:sp>
      <p:sp>
        <p:nvSpPr>
          <p:cNvPr id="13" name="Shape 11"/>
          <p:cNvSpPr/>
          <p:nvPr/>
        </p:nvSpPr>
        <p:spPr>
          <a:xfrm>
            <a:off x="5029200" y="5257800"/>
            <a:ext cx="2011680" cy="777240"/>
          </a:xfrm>
          <a:prstGeom prst="roundRect">
            <a:avLst>
              <a:gd name="adj" fmla="val 9412"/>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4" name="Text 12"/>
          <p:cNvSpPr txBox="1"/>
          <p:nvPr/>
        </p:nvSpPr>
        <p:spPr>
          <a:xfrm>
            <a:off x="5029200" y="5257800"/>
            <a:ext cx="2011680" cy="777240"/>
          </a:xfrm>
          <a:prstGeom prst="rect">
            <a:avLst/>
          </a:prstGeom>
          <a:noFill/>
          <a:ln/>
        </p:spPr>
        <p:txBody>
          <a:bodyPr wrap="square" lIns="0" tIns="0" rIns="0" bIns="0" rtlCol="0" anchor="ctr"/>
          <a:lstStyle/>
          <a:p>
            <a:pPr marL="0" indent="0" algn="ctr">
              <a:buNone/>
            </a:pPr>
            <a:r>
              <a:rPr lang="en-US" sz="1400" b="1" dirty="0">
                <a:solidFill>
                  <a:schemeClr val="tx2"/>
                </a:solidFill>
              </a:rPr>
              <a:t>Risk classification</a:t>
            </a:r>
            <a:endParaRPr lang="en-US" sz="1400" dirty="0"/>
          </a:p>
        </p:txBody>
      </p:sp>
      <p:sp>
        <p:nvSpPr>
          <p:cNvPr id="15" name="Shape 13"/>
          <p:cNvSpPr/>
          <p:nvPr/>
        </p:nvSpPr>
        <p:spPr>
          <a:xfrm>
            <a:off x="7040880" y="5646420"/>
            <a:ext cx="274320" cy="0"/>
          </a:xfrm>
          <a:prstGeom prst="line">
            <a:avLst/>
          </a:prstGeom>
          <a:noFill/>
          <a:ln w="19050">
            <a:solidFill>
              <a:srgbClr val="7A1F2B"/>
            </a:solidFill>
            <a:prstDash val="solid"/>
            <a:tailEnd type="triangle"/>
          </a:ln>
        </p:spPr>
      </p:sp>
      <p:sp>
        <p:nvSpPr>
          <p:cNvPr id="16" name="Shape 14"/>
          <p:cNvSpPr/>
          <p:nvPr/>
        </p:nvSpPr>
        <p:spPr>
          <a:xfrm>
            <a:off x="7315200" y="5257800"/>
            <a:ext cx="2011680" cy="777240"/>
          </a:xfrm>
          <a:prstGeom prst="roundRect">
            <a:avLst>
              <a:gd name="adj" fmla="val 9412"/>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7" name="Text 15"/>
          <p:cNvSpPr txBox="1"/>
          <p:nvPr/>
        </p:nvSpPr>
        <p:spPr>
          <a:xfrm>
            <a:off x="7315200" y="5257800"/>
            <a:ext cx="2011680" cy="777240"/>
          </a:xfrm>
          <a:prstGeom prst="rect">
            <a:avLst/>
          </a:prstGeom>
          <a:noFill/>
          <a:ln/>
        </p:spPr>
        <p:txBody>
          <a:bodyPr wrap="square" lIns="0" tIns="0" rIns="0" bIns="0" rtlCol="0" anchor="ctr"/>
          <a:lstStyle/>
          <a:p>
            <a:pPr marL="0" indent="0" algn="ctr">
              <a:buNone/>
            </a:pPr>
            <a:r>
              <a:rPr lang="en-US" sz="1400" b="1" dirty="0">
                <a:solidFill>
                  <a:schemeClr val="tx2"/>
                </a:solidFill>
              </a:rPr>
              <a:t>Explainability</a:t>
            </a:r>
            <a:endParaRPr lang="en-US" sz="1400" dirty="0"/>
          </a:p>
        </p:txBody>
      </p:sp>
      <p:sp>
        <p:nvSpPr>
          <p:cNvPr id="18" name="Shape 16"/>
          <p:cNvSpPr/>
          <p:nvPr/>
        </p:nvSpPr>
        <p:spPr>
          <a:xfrm>
            <a:off x="9326880" y="5646420"/>
            <a:ext cx="274320" cy="0"/>
          </a:xfrm>
          <a:prstGeom prst="line">
            <a:avLst/>
          </a:prstGeom>
          <a:noFill/>
          <a:ln w="19050">
            <a:solidFill>
              <a:srgbClr val="7A1F2B"/>
            </a:solidFill>
            <a:prstDash val="solid"/>
            <a:tailEnd type="triangle"/>
          </a:ln>
        </p:spPr>
      </p:sp>
      <p:sp>
        <p:nvSpPr>
          <p:cNvPr id="19" name="Shape 17"/>
          <p:cNvSpPr/>
          <p:nvPr/>
        </p:nvSpPr>
        <p:spPr>
          <a:xfrm>
            <a:off x="9601200" y="5257800"/>
            <a:ext cx="2011680" cy="777240"/>
          </a:xfrm>
          <a:prstGeom prst="roundRect">
            <a:avLst>
              <a:gd name="adj" fmla="val 9412"/>
            </a:avLst>
          </a:prstGeom>
          <a:solidFill>
            <a:schemeClr val="accent1"/>
          </a:solidFill>
          <a:ln w="9525">
            <a:solidFill>
              <a:schemeClr val="accent4"/>
            </a:solidFill>
            <a:prstDash val="solid"/>
          </a:ln>
          <a:effectLst>
            <a:outerShdw blurRad="76200" dist="25400" dir="5400000" algn="bl" rotWithShape="0">
              <a:srgbClr val="000000">
                <a:alpha val="12000"/>
              </a:srgbClr>
            </a:outerShdw>
          </a:effectLst>
        </p:spPr>
      </p:sp>
      <p:sp>
        <p:nvSpPr>
          <p:cNvPr id="20" name="Text 18"/>
          <p:cNvSpPr txBox="1"/>
          <p:nvPr/>
        </p:nvSpPr>
        <p:spPr>
          <a:xfrm>
            <a:off x="9601200" y="5257800"/>
            <a:ext cx="2011680" cy="777240"/>
          </a:xfrm>
          <a:prstGeom prst="rect">
            <a:avLst/>
          </a:prstGeom>
          <a:noFill/>
          <a:ln/>
        </p:spPr>
        <p:txBody>
          <a:bodyPr wrap="square" lIns="0" tIns="0" rIns="0" bIns="0" rtlCol="0" anchor="ctr"/>
          <a:lstStyle/>
          <a:p>
            <a:pPr marL="0" indent="0" algn="ctr">
              <a:buNone/>
            </a:pPr>
            <a:r>
              <a:rPr lang="en-US" sz="1400" b="1" dirty="0">
                <a:solidFill>
                  <a:schemeClr val="bg1"/>
                </a:solidFill>
              </a:rPr>
              <a:t>Public-health insights</a:t>
            </a:r>
            <a:endParaRPr lang="en-US" sz="14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PROJECT OBJECTIVES</a:t>
            </a:r>
            <a:endParaRPr lang="en-US" sz="2400" dirty="0"/>
          </a:p>
        </p:txBody>
      </p:sp>
      <p:sp>
        <p:nvSpPr>
          <p:cNvPr id="3" name="Shape 1"/>
          <p:cNvSpPr/>
          <p:nvPr/>
        </p:nvSpPr>
        <p:spPr>
          <a:xfrm>
            <a:off x="457200" y="128016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Shape 2"/>
          <p:cNvSpPr/>
          <p:nvPr/>
        </p:nvSpPr>
        <p:spPr>
          <a:xfrm>
            <a:off x="594360" y="1463040"/>
            <a:ext cx="594360" cy="594360"/>
          </a:xfrm>
          <a:prstGeom prst="ellipse">
            <a:avLst/>
          </a:prstGeom>
          <a:solidFill>
            <a:schemeClr val="accent1"/>
          </a:solidFill>
          <a:ln/>
        </p:spPr>
      </p:sp>
      <p:sp>
        <p:nvSpPr>
          <p:cNvPr id="5" name="Text 3"/>
          <p:cNvSpPr txBox="1"/>
          <p:nvPr/>
        </p:nvSpPr>
        <p:spPr>
          <a:xfrm>
            <a:off x="594360" y="146304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25880" y="1325880"/>
            <a:ext cx="4572000" cy="868680"/>
          </a:xfrm>
          <a:prstGeom prst="rect">
            <a:avLst/>
          </a:prstGeom>
          <a:noFill/>
          <a:ln/>
        </p:spPr>
        <p:txBody>
          <a:bodyPr wrap="square" lIns="0" tIns="0" rIns="0" bIns="0" rtlCol="0" anchor="ctr"/>
          <a:lstStyle/>
          <a:p>
            <a:pPr marL="0" indent="0">
              <a:buNone/>
            </a:pPr>
            <a:r>
              <a:rPr lang="en-US" sz="1400" dirty="0">
                <a:solidFill>
                  <a:schemeClr val="tx1"/>
                </a:solidFill>
              </a:rPr>
              <a:t>Preprocessing, EDA and feature engineering on the BRFSS diabetes health-indicator data</a:t>
            </a:r>
            <a:endParaRPr lang="en-US" sz="1400" dirty="0"/>
          </a:p>
        </p:txBody>
      </p:sp>
      <p:sp>
        <p:nvSpPr>
          <p:cNvPr id="7" name="Shape 5"/>
          <p:cNvSpPr/>
          <p:nvPr/>
        </p:nvSpPr>
        <p:spPr>
          <a:xfrm>
            <a:off x="6172200" y="128016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8" name="Shape 6"/>
          <p:cNvSpPr/>
          <p:nvPr/>
        </p:nvSpPr>
        <p:spPr>
          <a:xfrm>
            <a:off x="6309360" y="1463040"/>
            <a:ext cx="594360" cy="594360"/>
          </a:xfrm>
          <a:prstGeom prst="ellipse">
            <a:avLst/>
          </a:prstGeom>
          <a:solidFill>
            <a:schemeClr val="accent1"/>
          </a:solidFill>
          <a:ln/>
        </p:spPr>
      </p:sp>
      <p:sp>
        <p:nvSpPr>
          <p:cNvPr id="9" name="Text 7"/>
          <p:cNvSpPr txBox="1"/>
          <p:nvPr/>
        </p:nvSpPr>
        <p:spPr>
          <a:xfrm>
            <a:off x="6309360" y="146304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7040880" y="1325880"/>
            <a:ext cx="4572000" cy="868680"/>
          </a:xfrm>
          <a:prstGeom prst="rect">
            <a:avLst/>
          </a:prstGeom>
          <a:noFill/>
          <a:ln/>
        </p:spPr>
        <p:txBody>
          <a:bodyPr wrap="square" lIns="0" tIns="0" rIns="0" bIns="0" rtlCol="0" anchor="ctr"/>
          <a:lstStyle/>
          <a:p>
            <a:pPr marL="0" indent="0">
              <a:buNone/>
            </a:pPr>
            <a:r>
              <a:rPr lang="en-US" sz="1400" dirty="0">
                <a:solidFill>
                  <a:schemeClr val="tx1"/>
                </a:solidFill>
              </a:rPr>
              <a:t>Train and compare baseline models for three-class classification</a:t>
            </a:r>
            <a:endParaRPr lang="en-US" sz="1400" dirty="0"/>
          </a:p>
        </p:txBody>
      </p:sp>
      <p:sp>
        <p:nvSpPr>
          <p:cNvPr id="11" name="Shape 9"/>
          <p:cNvSpPr/>
          <p:nvPr/>
        </p:nvSpPr>
        <p:spPr>
          <a:xfrm>
            <a:off x="457200" y="237744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2" name="Shape 10"/>
          <p:cNvSpPr/>
          <p:nvPr/>
        </p:nvSpPr>
        <p:spPr>
          <a:xfrm>
            <a:off x="594360" y="2560320"/>
            <a:ext cx="594360" cy="594360"/>
          </a:xfrm>
          <a:prstGeom prst="ellipse">
            <a:avLst/>
          </a:prstGeom>
          <a:solidFill>
            <a:schemeClr val="accent1"/>
          </a:solidFill>
          <a:ln/>
        </p:spPr>
      </p:sp>
      <p:sp>
        <p:nvSpPr>
          <p:cNvPr id="13" name="Text 11"/>
          <p:cNvSpPr txBox="1"/>
          <p:nvPr/>
        </p:nvSpPr>
        <p:spPr>
          <a:xfrm>
            <a:off x="594360" y="256032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325880" y="2423160"/>
            <a:ext cx="4572000" cy="868680"/>
          </a:xfrm>
          <a:prstGeom prst="rect">
            <a:avLst/>
          </a:prstGeom>
          <a:noFill/>
          <a:ln/>
        </p:spPr>
        <p:txBody>
          <a:bodyPr wrap="square" lIns="0" tIns="0" rIns="0" bIns="0" rtlCol="0" anchor="ctr"/>
          <a:lstStyle/>
          <a:p>
            <a:pPr marL="0" indent="0">
              <a:buNone/>
            </a:pPr>
            <a:r>
              <a:rPr lang="en-US" sz="1400" dirty="0">
                <a:solidFill>
                  <a:schemeClr val="tx1"/>
                </a:solidFill>
              </a:rPr>
              <a:t>Evaluate with Accuracy, Macro-F1, Balanced Accuracy, MCC and class-wise P/R/F1</a:t>
            </a:r>
            <a:endParaRPr lang="en-US" sz="1400" dirty="0"/>
          </a:p>
        </p:txBody>
      </p:sp>
      <p:sp>
        <p:nvSpPr>
          <p:cNvPr id="15" name="Shape 13"/>
          <p:cNvSpPr/>
          <p:nvPr/>
        </p:nvSpPr>
        <p:spPr>
          <a:xfrm>
            <a:off x="6172200" y="237744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6" name="Shape 14"/>
          <p:cNvSpPr/>
          <p:nvPr/>
        </p:nvSpPr>
        <p:spPr>
          <a:xfrm>
            <a:off x="6309360" y="2560320"/>
            <a:ext cx="594360" cy="594360"/>
          </a:xfrm>
          <a:prstGeom prst="ellipse">
            <a:avLst/>
          </a:prstGeom>
          <a:solidFill>
            <a:schemeClr val="accent1"/>
          </a:solidFill>
          <a:ln/>
        </p:spPr>
      </p:sp>
      <p:sp>
        <p:nvSpPr>
          <p:cNvPr id="17" name="Text 15"/>
          <p:cNvSpPr txBox="1"/>
          <p:nvPr/>
        </p:nvSpPr>
        <p:spPr>
          <a:xfrm>
            <a:off x="6309360" y="256032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7040880" y="2423160"/>
            <a:ext cx="4572000" cy="868680"/>
          </a:xfrm>
          <a:prstGeom prst="rect">
            <a:avLst/>
          </a:prstGeom>
          <a:noFill/>
          <a:ln/>
        </p:spPr>
        <p:txBody>
          <a:bodyPr wrap="square" lIns="0" tIns="0" rIns="0" bIns="0" rtlCol="0" anchor="ctr"/>
          <a:lstStyle/>
          <a:p>
            <a:pPr marL="0" indent="0">
              <a:buNone/>
            </a:pPr>
            <a:r>
              <a:rPr lang="en-US" sz="1400" dirty="0">
                <a:solidFill>
                  <a:schemeClr val="tx1"/>
                </a:solidFill>
              </a:rPr>
              <a:t>Analyse confidence, disagreement, error overlap and complementary behaviour</a:t>
            </a:r>
            <a:endParaRPr lang="en-US" sz="1400" dirty="0"/>
          </a:p>
        </p:txBody>
      </p:sp>
      <p:sp>
        <p:nvSpPr>
          <p:cNvPr id="19" name="Shape 17"/>
          <p:cNvSpPr/>
          <p:nvPr/>
        </p:nvSpPr>
        <p:spPr>
          <a:xfrm>
            <a:off x="457200" y="347472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0" name="Shape 18"/>
          <p:cNvSpPr/>
          <p:nvPr/>
        </p:nvSpPr>
        <p:spPr>
          <a:xfrm>
            <a:off x="594360" y="3657600"/>
            <a:ext cx="594360" cy="594360"/>
          </a:xfrm>
          <a:prstGeom prst="ellipse">
            <a:avLst/>
          </a:prstGeom>
          <a:solidFill>
            <a:schemeClr val="accent1"/>
          </a:solidFill>
          <a:ln/>
        </p:spPr>
      </p:sp>
      <p:sp>
        <p:nvSpPr>
          <p:cNvPr id="21" name="Text 19"/>
          <p:cNvSpPr txBox="1"/>
          <p:nvPr/>
        </p:nvSpPr>
        <p:spPr>
          <a:xfrm>
            <a:off x="594360" y="365760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1325880" y="3520440"/>
            <a:ext cx="4572000" cy="868680"/>
          </a:xfrm>
          <a:prstGeom prst="rect">
            <a:avLst/>
          </a:prstGeom>
          <a:noFill/>
          <a:ln/>
        </p:spPr>
        <p:txBody>
          <a:bodyPr wrap="square" lIns="0" tIns="0" rIns="0" bIns="0" rtlCol="0" anchor="ctr"/>
          <a:lstStyle/>
          <a:p>
            <a:pPr marL="0" indent="0">
              <a:buNone/>
            </a:pPr>
            <a:r>
              <a:rPr lang="en-US" sz="1400" dirty="0">
                <a:solidFill>
                  <a:schemeClr val="tx1"/>
                </a:solidFill>
              </a:rPr>
              <a:t>Build and evaluate a Failure-Aware Hybrid using behaviour-based meta-features</a:t>
            </a:r>
            <a:endParaRPr lang="en-US" sz="1400" dirty="0"/>
          </a:p>
        </p:txBody>
      </p:sp>
      <p:sp>
        <p:nvSpPr>
          <p:cNvPr id="23" name="Shape 21"/>
          <p:cNvSpPr/>
          <p:nvPr/>
        </p:nvSpPr>
        <p:spPr>
          <a:xfrm>
            <a:off x="6172200" y="347472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4" name="Shape 22"/>
          <p:cNvSpPr/>
          <p:nvPr/>
        </p:nvSpPr>
        <p:spPr>
          <a:xfrm>
            <a:off x="6309360" y="3657600"/>
            <a:ext cx="594360" cy="594360"/>
          </a:xfrm>
          <a:prstGeom prst="ellipse">
            <a:avLst/>
          </a:prstGeom>
          <a:solidFill>
            <a:schemeClr val="accent1"/>
          </a:solidFill>
          <a:ln/>
        </p:spPr>
      </p:sp>
      <p:sp>
        <p:nvSpPr>
          <p:cNvPr id="25" name="Text 23"/>
          <p:cNvSpPr txBox="1"/>
          <p:nvPr/>
        </p:nvSpPr>
        <p:spPr>
          <a:xfrm>
            <a:off x="6309360" y="365760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6</a:t>
            </a:r>
            <a:endParaRPr lang="en-US" sz="2000" dirty="0"/>
          </a:p>
        </p:txBody>
      </p:sp>
      <p:sp>
        <p:nvSpPr>
          <p:cNvPr id="26" name="Text 24"/>
          <p:cNvSpPr txBox="1"/>
          <p:nvPr/>
        </p:nvSpPr>
        <p:spPr>
          <a:xfrm>
            <a:off x="7040880" y="3520440"/>
            <a:ext cx="4572000" cy="868680"/>
          </a:xfrm>
          <a:prstGeom prst="rect">
            <a:avLst/>
          </a:prstGeom>
          <a:noFill/>
          <a:ln/>
        </p:spPr>
        <p:txBody>
          <a:bodyPr wrap="square" lIns="0" tIns="0" rIns="0" bIns="0" rtlCol="0" anchor="ctr"/>
          <a:lstStyle/>
          <a:p>
            <a:pPr marL="0" indent="0">
              <a:buNone/>
            </a:pPr>
            <a:r>
              <a:rPr lang="en-US" sz="1400" dirty="0">
                <a:solidFill>
                  <a:schemeClr val="tx1"/>
                </a:solidFill>
              </a:rPr>
              <a:t>Add SHAP and LIME; study calibration and subgroup performance</a:t>
            </a:r>
            <a:endParaRPr lang="en-US" sz="1400" dirty="0"/>
          </a:p>
        </p:txBody>
      </p:sp>
      <p:sp>
        <p:nvSpPr>
          <p:cNvPr id="27" name="Shape 25"/>
          <p:cNvSpPr/>
          <p:nvPr/>
        </p:nvSpPr>
        <p:spPr>
          <a:xfrm>
            <a:off x="457200" y="457200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8" name="Shape 26"/>
          <p:cNvSpPr/>
          <p:nvPr/>
        </p:nvSpPr>
        <p:spPr>
          <a:xfrm>
            <a:off x="594360" y="4754880"/>
            <a:ext cx="594360" cy="594360"/>
          </a:xfrm>
          <a:prstGeom prst="ellipse">
            <a:avLst/>
          </a:prstGeom>
          <a:solidFill>
            <a:schemeClr val="accent1"/>
          </a:solidFill>
          <a:ln/>
        </p:spPr>
      </p:sp>
      <p:sp>
        <p:nvSpPr>
          <p:cNvPr id="29" name="Text 27"/>
          <p:cNvSpPr txBox="1"/>
          <p:nvPr/>
        </p:nvSpPr>
        <p:spPr>
          <a:xfrm>
            <a:off x="594360" y="47548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7</a:t>
            </a:r>
            <a:endParaRPr lang="en-US" sz="2000" dirty="0"/>
          </a:p>
        </p:txBody>
      </p:sp>
      <p:sp>
        <p:nvSpPr>
          <p:cNvPr id="30" name="Text 28"/>
          <p:cNvSpPr txBox="1"/>
          <p:nvPr/>
        </p:nvSpPr>
        <p:spPr>
          <a:xfrm>
            <a:off x="1325880" y="4617720"/>
            <a:ext cx="4572000" cy="868680"/>
          </a:xfrm>
          <a:prstGeom prst="rect">
            <a:avLst/>
          </a:prstGeom>
          <a:noFill/>
          <a:ln/>
        </p:spPr>
        <p:txBody>
          <a:bodyPr wrap="square" lIns="0" tIns="0" rIns="0" bIns="0" rtlCol="0" anchor="ctr"/>
          <a:lstStyle/>
          <a:p>
            <a:pPr marL="0" indent="0">
              <a:buNone/>
            </a:pPr>
            <a:r>
              <a:rPr lang="en-US" sz="1400" dirty="0">
                <a:solidFill>
                  <a:schemeClr val="tx1"/>
                </a:solidFill>
              </a:rPr>
              <a:t>Validate code, dashboard, reproducibility and GitHub organisation</a:t>
            </a:r>
            <a:endParaRPr lang="en-US" sz="1400" dirty="0"/>
          </a:p>
        </p:txBody>
      </p:sp>
      <p:sp>
        <p:nvSpPr>
          <p:cNvPr id="31" name="Shape 29"/>
          <p:cNvSpPr/>
          <p:nvPr/>
        </p:nvSpPr>
        <p:spPr>
          <a:xfrm>
            <a:off x="6172200" y="4572000"/>
            <a:ext cx="5532120" cy="9601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32" name="Shape 30"/>
          <p:cNvSpPr/>
          <p:nvPr/>
        </p:nvSpPr>
        <p:spPr>
          <a:xfrm>
            <a:off x="6309360" y="4754880"/>
            <a:ext cx="594360" cy="594360"/>
          </a:xfrm>
          <a:prstGeom prst="ellipse">
            <a:avLst/>
          </a:prstGeom>
          <a:solidFill>
            <a:schemeClr val="accent1"/>
          </a:solidFill>
          <a:ln/>
        </p:spPr>
      </p:sp>
      <p:sp>
        <p:nvSpPr>
          <p:cNvPr id="33" name="Text 31"/>
          <p:cNvSpPr txBox="1"/>
          <p:nvPr/>
        </p:nvSpPr>
        <p:spPr>
          <a:xfrm>
            <a:off x="6309360" y="47548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8</a:t>
            </a:r>
            <a:endParaRPr lang="en-US" sz="2000" dirty="0"/>
          </a:p>
        </p:txBody>
      </p:sp>
      <p:sp>
        <p:nvSpPr>
          <p:cNvPr id="34" name="Text 32"/>
          <p:cNvSpPr txBox="1"/>
          <p:nvPr/>
        </p:nvSpPr>
        <p:spPr>
          <a:xfrm>
            <a:off x="7040880" y="4617720"/>
            <a:ext cx="4572000" cy="868680"/>
          </a:xfrm>
          <a:prstGeom prst="rect">
            <a:avLst/>
          </a:prstGeom>
          <a:noFill/>
          <a:ln/>
        </p:spPr>
        <p:txBody>
          <a:bodyPr wrap="square" lIns="0" tIns="0" rIns="0" bIns="0" rtlCol="0" anchor="ctr"/>
          <a:lstStyle/>
          <a:p>
            <a:pPr marL="0" indent="0">
              <a:buNone/>
            </a:pPr>
            <a:r>
              <a:rPr lang="en-US" sz="1400" dirty="0">
                <a:solidFill>
                  <a:schemeClr val="tx1"/>
                </a:solidFill>
              </a:rPr>
              <a:t>Prepare the research paper draft from verified results</a:t>
            </a:r>
            <a:endParaRPr lang="en-US" sz="1400" dirty="0"/>
          </a:p>
        </p:txBody>
      </p:sp>
      <p:sp>
        <p:nvSpPr>
          <p:cNvPr id="35" name="Shape 33"/>
          <p:cNvSpPr/>
          <p:nvPr/>
        </p:nvSpPr>
        <p:spPr>
          <a:xfrm>
            <a:off x="457200" y="5760720"/>
            <a:ext cx="11292840" cy="502920"/>
          </a:xfrm>
          <a:prstGeom prst="rect">
            <a:avLst/>
          </a:prstGeom>
          <a:solidFill>
            <a:schemeClr val="accent4"/>
          </a:solidFill>
          <a:ln w="6350">
            <a:solidFill>
              <a:schemeClr val="accent4"/>
            </a:solidFill>
            <a:prstDash val="solid"/>
          </a:ln>
        </p:spPr>
      </p:sp>
      <p:sp>
        <p:nvSpPr>
          <p:cNvPr id="36" name="Text 34"/>
          <p:cNvSpPr txBox="1"/>
          <p:nvPr/>
        </p:nvSpPr>
        <p:spPr>
          <a:xfrm>
            <a:off x="640080" y="5760720"/>
            <a:ext cx="10927080" cy="502920"/>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The CDC secondary surveillance analysis counts as completed only if usable data and verified results exist (status on Slide 16).</a:t>
            </a:r>
            <a:endParaRPr lang="en-US" sz="1300" dirty="0"/>
          </a:p>
        </p:txBody>
      </p:sp>
      <p:sp>
        <p:nvSpPr>
          <p:cNvPr id="37"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LITERATURE REVIEW: EXISTING APPROACHES</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92840" cy="4297680"/>
        </p:xfrm>
        <a:graphic>
          <a:graphicData uri="http://schemas.openxmlformats.org/drawingml/2006/table">
            <a:tbl>
              <a:tblPr/>
              <a:tblGrid>
                <a:gridCol w="3200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320040">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Theme / paper (team library)</a:t>
                      </a:r>
                      <a:endParaRPr lang="en-US" sz="1200" dirty="0">
                        <a:latin typeface="Calibri" charset="0"/>
                        <a:ea typeface="Calibri" charset="0"/>
                        <a:cs typeface="Calibri" charset="0"/>
                      </a:endParaRPr>
                    </a:p>
                  </a:txBody>
                  <a:tcP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Methodology</a:t>
                      </a:r>
                      <a:endParaRPr lang="en-US" sz="1200" dirty="0">
                        <a:latin typeface="Calibri" charset="0"/>
                        <a:ea typeface="Calibri" charset="0"/>
                        <a:cs typeface="Calibri" charset="0"/>
                      </a:endParaRPr>
                    </a:p>
                  </a:txBody>
                  <a:tcP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Main contribution</a:t>
                      </a:r>
                      <a:endParaRPr lang="en-US" sz="1200" dirty="0">
                        <a:latin typeface="Calibri" charset="0"/>
                        <a:ea typeface="Calibri" charset="0"/>
                        <a:cs typeface="Calibri" charset="0"/>
                      </a:endParaRPr>
                    </a:p>
                  </a:txBody>
                  <a:tcP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Relevance to our project</a:t>
                      </a:r>
                      <a:endParaRPr lang="en-US" sz="1200" dirty="0">
                        <a:latin typeface="Calibri" charset="0"/>
                        <a:ea typeface="Calibri" charset="0"/>
                        <a:cs typeface="Calibri" charset="0"/>
                      </a:endParaRPr>
                    </a:p>
                  </a:txBody>
                  <a:tcP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777240">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1. Traditional ML: assessment of ML models for early diabetes prediction using health indicators (Healthcare Analytics, 2022)</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Compares conventional ML models on BRFSS indicators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Benchmark for health-indicator prediction</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Conventional comparison; no failure-aware ensemble or XAI</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Justifies LR, DT and RF baselines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2. Ensembles: diabetes prediction with an ensemble of multi-classifier models (BMC Bioinformatics, 2023)</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Ensemble for diabetic, non-diabetic and prediabetic classes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Three-class ensemble framework</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No systematic disagreement or complementarity analysis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Closest task formulation to ours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3. Stacking and boosting: GA-XGBoost with a stacking ensemble (PLOS ONE, 2024)</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BRFSS, imbalance handling, optimised XGBoost, stacking, SHAP</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Optimised boosting plus stacking</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Limited confidence or disagreement-driven failure analysis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Comparator for standard stacking</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4. Imbalance: robust diabetic prediction using ensembles with SMOTE (Scientific Reports, 2024)</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Preprocessing, feature selection, SMOTE, ensembles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Resampling-based ensemble pipeline</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Focus on resampling and performance, not failure complementarity</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Motivates imbalance-aware next steps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buNone/>
                      </a:pPr>
                      <a:r>
                        <a:rPr lang="en-US" sz="1100" b="1" dirty="0">
                          <a:solidFill>
                            <a:schemeClr val="tx2"/>
                          </a:solidFill>
                          <a:latin typeface="Calibri" pitchFamily="34" charset="0"/>
                          <a:ea typeface="Calibri" pitchFamily="34" charset="-122"/>
                          <a:cs typeface="Calibri" pitchFamily="34" charset="-120"/>
                        </a:rPr>
                        <a:t>5. XAI: SHAP, partial dependence and LIME studies (Healthcare Analytics 2025; Engineering Reports 2025; Springer LNNS 2025)</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Tuned ML models with SHAP, PDP or LIME</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Global and local interpretability</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Explanations not linked to ensemble failure analysis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Basis for SHAP and LIME on XGBoost; a 2026 Scientific Reports paper covers calibration and subgroups</a:t>
                      </a:r>
                      <a:endParaRPr lang="en-US" sz="1100" dirty="0">
                        <a:latin typeface="Calibri" charset="0"/>
                        <a:ea typeface="Calibri" charset="0"/>
                        <a:cs typeface="Calibri" charset="0"/>
                      </a:endParaRPr>
                    </a:p>
                  </a:txBody>
                  <a:tcPr anchor="ctr">
                    <a:lnL w="6350" cap="flat" cmpd="sng" algn="ctr">
                      <a:solidFill>
                        <a:srgbClr val="D9C3C5"/>
                      </a:solidFill>
                      <a:prstDash val="solid"/>
                      <a:round/>
                      <a:headEnd type="none" w="med" len="med"/>
                      <a:tailEnd type="none" w="med" len="med"/>
                    </a:lnL>
                    <a:lnR w="6350" cap="flat" cmpd="sng" algn="ctr">
                      <a:solidFill>
                        <a:srgbClr val="D9C3C5"/>
                      </a:solidFill>
                      <a:prstDash val="solid"/>
                      <a:round/>
                      <a:headEnd type="none" w="med" len="med"/>
                      <a:tailEnd type="none" w="med" len="med"/>
                    </a:lnR>
                    <a:lnT w="6350" cap="flat" cmpd="sng" algn="ctr">
                      <a:solidFill>
                        <a:srgbClr val="D9C3C5"/>
                      </a:solidFill>
                      <a:prstDash val="solid"/>
                      <a:round/>
                      <a:headEnd type="none" w="med" len="med"/>
                      <a:tailEnd type="none" w="med" len="med"/>
                    </a:lnT>
                    <a:lnB w="6350" cap="flat" cmpd="sng" algn="ctr">
                      <a:solidFill>
                        <a:srgbClr val="D9C3C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457200" y="5715000"/>
            <a:ext cx="11292840" cy="640080"/>
          </a:xfrm>
          <a:prstGeom prst="rect">
            <a:avLst/>
          </a:prstGeom>
          <a:solidFill>
            <a:schemeClr val="accent4"/>
          </a:solidFill>
          <a:ln w="6350">
            <a:solidFill>
              <a:schemeClr val="accent4"/>
            </a:solidFill>
            <a:prstDash val="solid"/>
          </a:ln>
        </p:spPr>
      </p:sp>
      <p:sp>
        <p:nvSpPr>
          <p:cNvPr id="3" name="Text 2"/>
          <p:cNvSpPr txBox="1"/>
          <p:nvPr/>
        </p:nvSpPr>
        <p:spPr>
          <a:xfrm>
            <a:off x="640080" y="5715000"/>
            <a:ext cx="10927080" cy="640080"/>
          </a:xfrm>
          <a:prstGeom prst="rect">
            <a:avLst/>
          </a:prstGeom>
          <a:noFill/>
          <a:ln/>
        </p:spPr>
        <p:txBody>
          <a:bodyPr wrap="square" lIns="0" tIns="0" rIns="0" bIns="0" rtlCol="0" anchor="ctr"/>
          <a:lstStyle/>
          <a:p>
            <a:pPr marL="0" indent="0">
              <a:buNone/>
            </a:pPr>
            <a:r>
              <a:rPr lang="en-US" sz="1200" dirty="0">
                <a:solidFill>
                  <a:schemeClr val="tx2"/>
                </a:solidFill>
                <a:latin typeface="Calibri" pitchFamily="34" charset="0"/>
                <a:ea typeface="Calibri" pitchFamily="34" charset="-122"/>
                <a:cs typeface="Calibri" pitchFamily="34" charset="-120"/>
              </a:rPr>
              <a:t>Baselines are essential; ensembles combine patterns; weights and resampling address imbalance; SHAP and LIME aid interpretation. Few works relate confidence, disagreement and model failures. Authors, DOIs: [Verified reference to be inserted].</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LITERATURE REVIEW: RESEARCH GAP</a:t>
            </a:r>
            <a:endParaRPr lang="en-US" sz="2400" dirty="0"/>
          </a:p>
        </p:txBody>
      </p:sp>
      <p:sp>
        <p:nvSpPr>
          <p:cNvPr id="3" name="Card Gap 1: Severe class imbalance"/>
          <p:cNvSpPr/>
          <p:nvPr/>
        </p:nvSpPr>
        <p:spPr>
          <a:xfrm>
            <a:off x="457200" y="1280160"/>
            <a:ext cx="5532120" cy="173736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Text 2"/>
          <p:cNvSpPr txBox="1"/>
          <p:nvPr/>
        </p:nvSpPr>
        <p:spPr>
          <a:xfrm>
            <a:off x="594360" y="135331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Gap 1: Severe class imbalance</a:t>
            </a:r>
            <a:endParaRPr lang="en-US" sz="1500" dirty="0"/>
          </a:p>
        </p:txBody>
      </p:sp>
      <p:sp>
        <p:nvSpPr>
          <p:cNvPr id="5" name="Text 3"/>
          <p:cNvSpPr txBox="1"/>
          <p:nvPr/>
        </p:nvSpPr>
        <p:spPr>
          <a:xfrm>
            <a:off x="594360" y="1755648"/>
            <a:ext cx="5257800" cy="11887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Prediabetes is far smaller than No Diabetes.</a:t>
            </a:r>
            <a:endParaRPr lang="en-US" sz="1600" dirty="0"/>
          </a:p>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Overall accuracy may not reflect balanced performance.</a:t>
            </a:r>
            <a:endParaRPr lang="en-US" sz="1600" dirty="0"/>
          </a:p>
        </p:txBody>
      </p:sp>
      <p:sp>
        <p:nvSpPr>
          <p:cNvPr id="6" name="Card Gap 2: Limited failure analysis"/>
          <p:cNvSpPr/>
          <p:nvPr/>
        </p:nvSpPr>
        <p:spPr>
          <a:xfrm>
            <a:off x="6172200" y="1280160"/>
            <a:ext cx="5532120" cy="173736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7" name="Text 5"/>
          <p:cNvSpPr txBox="1"/>
          <p:nvPr/>
        </p:nvSpPr>
        <p:spPr>
          <a:xfrm>
            <a:off x="6309360" y="135331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Gap 2: Limited failure analysis</a:t>
            </a:r>
            <a:endParaRPr lang="en-US" sz="1500" dirty="0"/>
          </a:p>
        </p:txBody>
      </p:sp>
      <p:sp>
        <p:nvSpPr>
          <p:cNvPr id="8" name="Text 6"/>
          <p:cNvSpPr txBox="1"/>
          <p:nvPr/>
        </p:nvSpPr>
        <p:spPr>
          <a:xfrm>
            <a:off x="6309360" y="1755648"/>
            <a:ext cx="5257800" cy="11887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Comparisons rarely show which models make the same errors.</a:t>
            </a:r>
            <a:endParaRPr lang="en-US" sz="1600" dirty="0"/>
          </a:p>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Error overlap and complementarity need study.</a:t>
            </a:r>
            <a:endParaRPr lang="en-US" sz="1600" dirty="0"/>
          </a:p>
        </p:txBody>
      </p:sp>
      <p:sp>
        <p:nvSpPr>
          <p:cNvPr id="9" name="Card Gap 3: Behaviour-based meta-features"/>
          <p:cNvSpPr/>
          <p:nvPr/>
        </p:nvSpPr>
        <p:spPr>
          <a:xfrm>
            <a:off x="457200" y="3200400"/>
            <a:ext cx="5532120" cy="173736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0" name="Text 8"/>
          <p:cNvSpPr txBox="1"/>
          <p:nvPr/>
        </p:nvSpPr>
        <p:spPr>
          <a:xfrm>
            <a:off x="594360" y="327355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Gap 3: Behaviour-based meta-features</a:t>
            </a:r>
            <a:endParaRPr lang="en-US" sz="1500" dirty="0"/>
          </a:p>
        </p:txBody>
      </p:sp>
      <p:sp>
        <p:nvSpPr>
          <p:cNvPr id="11" name="Text 9"/>
          <p:cNvSpPr txBox="1"/>
          <p:nvPr/>
        </p:nvSpPr>
        <p:spPr>
          <a:xfrm>
            <a:off x="594360" y="3675888"/>
            <a:ext cx="5257800" cy="11887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Probabilities alone may miss confidence, uncertainty and disagreement.</a:t>
            </a:r>
            <a:endParaRPr lang="en-US" sz="1600" dirty="0"/>
          </a:p>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We test whether such information helps meta-learning.</a:t>
            </a:r>
            <a:endParaRPr lang="en-US" sz="1600" dirty="0"/>
          </a:p>
        </p:txBody>
      </p:sp>
      <p:sp>
        <p:nvSpPr>
          <p:cNvPr id="12" name="Card Gap 4: Incomplete evaluation"/>
          <p:cNvSpPr/>
          <p:nvPr/>
        </p:nvSpPr>
        <p:spPr>
          <a:xfrm>
            <a:off x="6172200" y="3200400"/>
            <a:ext cx="5532120" cy="173736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3" name="Text 11"/>
          <p:cNvSpPr txBox="1"/>
          <p:nvPr/>
        </p:nvSpPr>
        <p:spPr>
          <a:xfrm>
            <a:off x="6309360" y="327355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Gap 4: Incomplete evaluation</a:t>
            </a:r>
            <a:endParaRPr lang="en-US" sz="1500" dirty="0"/>
          </a:p>
        </p:txBody>
      </p:sp>
      <p:sp>
        <p:nvSpPr>
          <p:cNvPr id="14" name="Text 12"/>
          <p:cNvSpPr txBox="1"/>
          <p:nvPr/>
        </p:nvSpPr>
        <p:spPr>
          <a:xfrm>
            <a:off x="6309360" y="3675888"/>
            <a:ext cx="5257800" cy="11887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Accuracy-only reporting is not enough.</a:t>
            </a:r>
            <a:endParaRPr lang="en-US" sz="1600" dirty="0"/>
          </a:p>
          <a:p>
            <a:pPr marL="342900" indent="-342900">
              <a:spcAft>
                <a:spcPts val="500"/>
              </a:spcAft>
              <a:buSzPct val="100000"/>
              <a:buChar char="•"/>
            </a:pPr>
            <a:r>
              <a:rPr lang="en-US" sz="1600" dirty="0">
                <a:solidFill>
                  <a:schemeClr val="tx1"/>
                </a:solidFill>
                <a:latin typeface="Calibri" pitchFamily="34" charset="0"/>
                <a:ea typeface="Calibri" pitchFamily="34" charset="-122"/>
                <a:cs typeface="Calibri" pitchFamily="34" charset="-120"/>
              </a:rPr>
              <a:t>Add class-wise metrics, calibration, explainability and subgroups.</a:t>
            </a:r>
            <a:endParaRPr lang="en-US" sz="1600" dirty="0"/>
          </a:p>
        </p:txBody>
      </p:sp>
      <p:sp>
        <p:nvSpPr>
          <p:cNvPr id="15" name="Shape 13"/>
          <p:cNvSpPr/>
          <p:nvPr/>
        </p:nvSpPr>
        <p:spPr>
          <a:xfrm>
            <a:off x="457200" y="5166360"/>
            <a:ext cx="11292840" cy="731520"/>
          </a:xfrm>
          <a:prstGeom prst="rect">
            <a:avLst/>
          </a:prstGeom>
          <a:solidFill>
            <a:schemeClr val="tx2"/>
          </a:solidFill>
          <a:ln/>
        </p:spPr>
      </p:sp>
      <p:sp>
        <p:nvSpPr>
          <p:cNvPr id="16" name="Text 14"/>
          <p:cNvSpPr txBox="1"/>
          <p:nvPr/>
        </p:nvSpPr>
        <p:spPr>
          <a:xfrm>
            <a:off x="640080" y="5166360"/>
            <a:ext cx="10927080" cy="731520"/>
          </a:xfrm>
          <a:prstGeom prst="rect">
            <a:avLst/>
          </a:prstGeom>
          <a:noFill/>
          <a:ln/>
        </p:spPr>
        <p:txBody>
          <a:bodyPr wrap="square" lIns="0" tIns="0" rIns="0" bIns="0" rtlCol="0" anchor="ctr"/>
          <a:lstStyle/>
          <a:p>
            <a:pPr marL="0" indent="0">
              <a:buNone/>
            </a:pPr>
            <a:r>
              <a:rPr lang="en-US" sz="1400" b="1" dirty="0">
                <a:solidFill>
                  <a:schemeClr val="accent4"/>
                </a:solidFill>
              </a:rPr>
              <a:t>Proposed direction: </a:t>
            </a:r>
            <a:r>
              <a:rPr lang="en-US" sz="1400" dirty="0">
                <a:solidFill>
                  <a:schemeClr val="bg1"/>
                </a:solidFill>
              </a:rPr>
              <a:t>evaluate whether confidence- and disagreement-aware stacking offers a useful trade-off against baselines, soft voting and standard stacking.</a:t>
            </a:r>
            <a:endParaRPr lang="en-US" sz="1400" dirty="0"/>
          </a:p>
        </p:txBody>
      </p:sp>
      <p:sp>
        <p:nvSpPr>
          <p:cNvPr id="17" name="Text 15"/>
          <p:cNvSpPr txBox="1"/>
          <p:nvPr/>
        </p:nvSpPr>
        <p:spPr>
          <a:xfrm>
            <a:off x="457200" y="5989320"/>
            <a:ext cx="11292840" cy="320040"/>
          </a:xfrm>
          <a:prstGeom prst="rect">
            <a:avLst/>
          </a:prstGeom>
          <a:noFill/>
          <a:ln/>
        </p:spPr>
        <p:txBody>
          <a:bodyPr wrap="square" lIns="0" tIns="0" rIns="0" bIns="0" rtlCol="0" anchor="ctr"/>
          <a:lstStyle/>
          <a:p>
            <a:pPr marL="0" indent="0">
              <a:buNone/>
            </a:pPr>
            <a:r>
              <a:rPr lang="en-US" sz="1200" i="1" dirty="0">
                <a:solidFill>
                  <a:schemeClr val="accent3"/>
                </a:solidFill>
              </a:rPr>
              <a:t>We do not claim to be the first, or universally superior.</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DATASET DESCRIPTION AND PREPROCESSING</a:t>
            </a:r>
            <a:endParaRPr lang="en-US" sz="2400" dirty="0"/>
          </a:p>
        </p:txBody>
      </p:sp>
      <p:sp>
        <p:nvSpPr>
          <p:cNvPr id="3" name="Shape 1"/>
          <p:cNvSpPr/>
          <p:nvPr/>
        </p:nvSpPr>
        <p:spPr>
          <a:xfrm>
            <a:off x="457200" y="1280160"/>
            <a:ext cx="1828800" cy="1097280"/>
          </a:xfrm>
          <a:prstGeom prst="rect">
            <a:avLst/>
          </a:prstGeom>
          <a:solidFill>
            <a:schemeClr val="bg2"/>
          </a:solidFill>
          <a:ln w="9525">
            <a:solidFill>
              <a:schemeClr val="accent4"/>
            </a:solidFill>
            <a:prstDash val="solid"/>
          </a:ln>
        </p:spPr>
      </p:sp>
      <p:sp>
        <p:nvSpPr>
          <p:cNvPr id="4" name="Text 2"/>
          <p:cNvSpPr txBox="1"/>
          <p:nvPr/>
        </p:nvSpPr>
        <p:spPr>
          <a:xfrm>
            <a:off x="457200" y="1325880"/>
            <a:ext cx="1828800" cy="54864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253,680</a:t>
            </a:r>
            <a:endParaRPr lang="en-US" sz="2200" dirty="0"/>
          </a:p>
        </p:txBody>
      </p:sp>
      <p:sp>
        <p:nvSpPr>
          <p:cNvPr id="5" name="Text 3"/>
          <p:cNvSpPr txBox="1"/>
          <p:nvPr/>
        </p:nvSpPr>
        <p:spPr>
          <a:xfrm>
            <a:off x="548640" y="1874520"/>
            <a:ext cx="1645920" cy="457200"/>
          </a:xfrm>
          <a:prstGeom prst="rect">
            <a:avLst/>
          </a:prstGeom>
          <a:noFill/>
          <a:ln/>
        </p:spPr>
        <p:txBody>
          <a:bodyPr wrap="square" lIns="0" tIns="0" rIns="0" bIns="0" rtlCol="0" anchor="t"/>
          <a:lstStyle/>
          <a:p>
            <a:pPr marL="0" indent="0" algn="ctr">
              <a:buNone/>
            </a:pPr>
            <a:r>
              <a:rPr lang="en-US" sz="1100" dirty="0">
                <a:solidFill>
                  <a:schemeClr val="tx1"/>
                </a:solidFill>
              </a:rPr>
              <a:t>respondents (BRFSS 2015)</a:t>
            </a:r>
            <a:endParaRPr lang="en-US" sz="1100" dirty="0"/>
          </a:p>
        </p:txBody>
      </p:sp>
      <p:sp>
        <p:nvSpPr>
          <p:cNvPr id="6" name="Shape 4"/>
          <p:cNvSpPr/>
          <p:nvPr/>
        </p:nvSpPr>
        <p:spPr>
          <a:xfrm>
            <a:off x="2423160" y="1280160"/>
            <a:ext cx="1828800" cy="1097280"/>
          </a:xfrm>
          <a:prstGeom prst="rect">
            <a:avLst/>
          </a:prstGeom>
          <a:solidFill>
            <a:schemeClr val="bg2"/>
          </a:solidFill>
          <a:ln w="9525">
            <a:solidFill>
              <a:schemeClr val="accent4"/>
            </a:solidFill>
            <a:prstDash val="solid"/>
          </a:ln>
        </p:spPr>
      </p:sp>
      <p:sp>
        <p:nvSpPr>
          <p:cNvPr id="7" name="Text 5"/>
          <p:cNvSpPr txBox="1"/>
          <p:nvPr/>
        </p:nvSpPr>
        <p:spPr>
          <a:xfrm>
            <a:off x="2423160" y="1325880"/>
            <a:ext cx="1828800" cy="54864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21 + 8 = 29</a:t>
            </a:r>
            <a:endParaRPr lang="en-US" sz="2200" dirty="0"/>
          </a:p>
        </p:txBody>
      </p:sp>
      <p:sp>
        <p:nvSpPr>
          <p:cNvPr id="8" name="Text 6"/>
          <p:cNvSpPr txBox="1"/>
          <p:nvPr/>
        </p:nvSpPr>
        <p:spPr>
          <a:xfrm>
            <a:off x="2514600" y="1874520"/>
            <a:ext cx="1645920" cy="457200"/>
          </a:xfrm>
          <a:prstGeom prst="rect">
            <a:avLst/>
          </a:prstGeom>
          <a:noFill/>
          <a:ln/>
        </p:spPr>
        <p:txBody>
          <a:bodyPr wrap="square" lIns="0" tIns="0" rIns="0" bIns="0" rtlCol="0" anchor="t"/>
          <a:lstStyle/>
          <a:p>
            <a:pPr marL="0" indent="0" algn="ctr">
              <a:buNone/>
            </a:pPr>
            <a:r>
              <a:rPr lang="en-US" sz="1100" dirty="0">
                <a:solidFill>
                  <a:schemeClr val="tx1"/>
                </a:solidFill>
              </a:rPr>
              <a:t>original + engineered features</a:t>
            </a:r>
            <a:endParaRPr lang="en-US" sz="1100" dirty="0"/>
          </a:p>
        </p:txBody>
      </p:sp>
      <p:sp>
        <p:nvSpPr>
          <p:cNvPr id="9" name="Shape 7"/>
          <p:cNvSpPr/>
          <p:nvPr/>
        </p:nvSpPr>
        <p:spPr>
          <a:xfrm>
            <a:off x="4389120" y="1280160"/>
            <a:ext cx="1828800" cy="1097280"/>
          </a:xfrm>
          <a:prstGeom prst="rect">
            <a:avLst/>
          </a:prstGeom>
          <a:solidFill>
            <a:schemeClr val="bg2"/>
          </a:solidFill>
          <a:ln w="9525">
            <a:solidFill>
              <a:schemeClr val="accent4"/>
            </a:solidFill>
            <a:prstDash val="solid"/>
          </a:ln>
        </p:spPr>
      </p:sp>
      <p:sp>
        <p:nvSpPr>
          <p:cNvPr id="10" name="Text 8"/>
          <p:cNvSpPr txBox="1"/>
          <p:nvPr/>
        </p:nvSpPr>
        <p:spPr>
          <a:xfrm>
            <a:off x="4389120" y="1325880"/>
            <a:ext cx="1828800" cy="54864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3 classes</a:t>
            </a:r>
            <a:endParaRPr lang="en-US" sz="2200" dirty="0"/>
          </a:p>
        </p:txBody>
      </p:sp>
      <p:sp>
        <p:nvSpPr>
          <p:cNvPr id="11" name="Text 9"/>
          <p:cNvSpPr txBox="1"/>
          <p:nvPr/>
        </p:nvSpPr>
        <p:spPr>
          <a:xfrm>
            <a:off x="4480560" y="1874520"/>
            <a:ext cx="1645920" cy="457200"/>
          </a:xfrm>
          <a:prstGeom prst="rect">
            <a:avLst/>
          </a:prstGeom>
          <a:noFill/>
          <a:ln/>
        </p:spPr>
        <p:txBody>
          <a:bodyPr wrap="square" lIns="0" tIns="0" rIns="0" bIns="0" rtlCol="0" anchor="t"/>
          <a:lstStyle/>
          <a:p>
            <a:pPr marL="0" indent="0" algn="ctr">
              <a:buNone/>
            </a:pPr>
            <a:r>
              <a:rPr lang="en-US" sz="1100" dirty="0">
                <a:solidFill>
                  <a:schemeClr val="tx1"/>
                </a:solidFill>
              </a:rPr>
              <a:t>target: Diabetes_012</a:t>
            </a:r>
            <a:endParaRPr lang="en-US" sz="1100" dirty="0"/>
          </a:p>
        </p:txBody>
      </p:sp>
      <p:graphicFrame>
        <p:nvGraphicFramePr>
          <p:cNvPr id="12" name="Chart 0"/>
          <p:cNvGraphicFramePr/>
          <p:nvPr/>
        </p:nvGraphicFramePr>
        <p:xfrm>
          <a:off x="457200" y="256032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6583680" y="1280160"/>
            <a:ext cx="5166360" cy="41148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4" name="Text 11"/>
          <p:cNvSpPr txBox="1"/>
          <p:nvPr/>
        </p:nvSpPr>
        <p:spPr>
          <a:xfrm>
            <a:off x="6766560" y="1353312"/>
            <a:ext cx="47548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Preprocessing pipeline</a:t>
            </a:r>
            <a:endParaRPr lang="en-US" sz="1500" dirty="0"/>
          </a:p>
        </p:txBody>
      </p:sp>
      <p:sp>
        <p:nvSpPr>
          <p:cNvPr id="15" name="Text 12"/>
          <p:cNvSpPr txBox="1"/>
          <p:nvPr/>
        </p:nvSpPr>
        <p:spPr>
          <a:xfrm>
            <a:off x="6766560" y="1783080"/>
            <a:ext cx="4800600" cy="356616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500" dirty="0">
                <a:solidFill>
                  <a:schemeClr val="tx1"/>
                </a:solidFill>
              </a:rPr>
              <a:t>Load and validate the dataset</a:t>
            </a:r>
            <a:endParaRPr lang="en-US" sz="1500" dirty="0"/>
          </a:p>
          <a:p>
            <a:pPr marL="342900" indent="-342900">
              <a:spcAft>
                <a:spcPts val="600"/>
              </a:spcAft>
              <a:buSzPct val="100000"/>
              <a:buFont typeface="+mj-lt"/>
              <a:buAutoNum type="arabicPeriod"/>
            </a:pPr>
            <a:r>
              <a:rPr lang="en-US" sz="1500" dirty="0">
                <a:solidFill>
                  <a:schemeClr val="tx1"/>
                </a:solidFill>
              </a:rPr>
              <a:t>Inspect missing values, types, class distribution</a:t>
            </a:r>
            <a:endParaRPr lang="en-US" sz="1500" dirty="0"/>
          </a:p>
          <a:p>
            <a:pPr marL="342900" indent="-342900">
              <a:spcAft>
                <a:spcPts val="600"/>
              </a:spcAft>
              <a:buSzPct val="100000"/>
              <a:buFont typeface="+mj-lt"/>
              <a:buAutoNum type="arabicPeriod"/>
            </a:pPr>
            <a:r>
              <a:rPr lang="en-US" sz="1500" dirty="0">
                <a:solidFill>
                  <a:schemeClr val="tx1"/>
                </a:solidFill>
              </a:rPr>
              <a:t>Exploratory data analysis</a:t>
            </a:r>
            <a:endParaRPr lang="en-US" sz="1500" dirty="0"/>
          </a:p>
          <a:p>
            <a:pPr marL="342900" indent="-342900">
              <a:spcAft>
                <a:spcPts val="600"/>
              </a:spcAft>
              <a:buSzPct val="100000"/>
              <a:buFont typeface="+mj-lt"/>
              <a:buAutoNum type="arabicPeriod"/>
            </a:pPr>
            <a:r>
              <a:rPr lang="en-US" sz="1500" dirty="0">
                <a:solidFill>
                  <a:schemeClr val="tx1"/>
                </a:solidFill>
              </a:rPr>
              <a:t>Documented preprocessing steps</a:t>
            </a:r>
            <a:endParaRPr lang="en-US" sz="1500" dirty="0"/>
          </a:p>
          <a:p>
            <a:pPr marL="342900" indent="-342900">
              <a:spcAft>
                <a:spcPts val="600"/>
              </a:spcAft>
              <a:buSzPct val="100000"/>
              <a:buFont typeface="+mj-lt"/>
              <a:buAutoNum type="arabicPeriod"/>
            </a:pPr>
            <a:r>
              <a:rPr lang="en-US" sz="1500" dirty="0">
                <a:solidFill>
                  <a:schemeClr val="tx1"/>
                </a:solidFill>
              </a:rPr>
              <a:t>Engineered features (project implementation)</a:t>
            </a:r>
            <a:endParaRPr lang="en-US" sz="1500" dirty="0"/>
          </a:p>
          <a:p>
            <a:pPr marL="342900" indent="-342900">
              <a:spcAft>
                <a:spcPts val="600"/>
              </a:spcAft>
              <a:buSzPct val="100000"/>
              <a:buFont typeface="+mj-lt"/>
              <a:buAutoNum type="arabicPeriod"/>
            </a:pPr>
            <a:r>
              <a:rPr lang="en-US" sz="1500" dirty="0">
                <a:solidFill>
                  <a:schemeClr val="tx1"/>
                </a:solidFill>
              </a:rPr>
              <a:t>Stratified 80:20 train/test split</a:t>
            </a:r>
            <a:endParaRPr lang="en-US" sz="1500" dirty="0"/>
          </a:p>
          <a:p>
            <a:pPr marL="342900" indent="-342900">
              <a:spcAft>
                <a:spcPts val="600"/>
              </a:spcAft>
              <a:buSzPct val="100000"/>
              <a:buFont typeface="+mj-lt"/>
              <a:buAutoNum type="arabicPeriod"/>
            </a:pPr>
            <a:r>
              <a:rPr lang="en-US" sz="1500" dirty="0">
                <a:solidFill>
                  <a:schemeClr val="tx1"/>
                </a:solidFill>
              </a:rPr>
              <a:t>Training-dependent transforms fitted on training data only</a:t>
            </a:r>
            <a:endParaRPr lang="en-US" sz="1500" dirty="0"/>
          </a:p>
          <a:p>
            <a:pPr marL="342900" indent="-342900">
              <a:spcAft>
                <a:spcPts val="600"/>
              </a:spcAft>
              <a:buSzPct val="100000"/>
              <a:buFont typeface="+mj-lt"/>
              <a:buAutoNum type="arabicPeriod"/>
            </a:pPr>
            <a:r>
              <a:rPr lang="en-US" sz="1500" dirty="0">
                <a:solidFill>
                  <a:schemeClr val="tx1"/>
                </a:solidFill>
              </a:rPr>
              <a:t>Keep the test set locked for final evaluation</a:t>
            </a:r>
            <a:endParaRPr lang="en-US" sz="1500" dirty="0"/>
          </a:p>
        </p:txBody>
      </p:sp>
      <p:sp>
        <p:nvSpPr>
          <p:cNvPr id="16" name="Shape 13"/>
          <p:cNvSpPr/>
          <p:nvPr/>
        </p:nvSpPr>
        <p:spPr>
          <a:xfrm>
            <a:off x="457200" y="5577840"/>
            <a:ext cx="11292840" cy="731520"/>
          </a:xfrm>
          <a:prstGeom prst="rect">
            <a:avLst/>
          </a:prstGeom>
          <a:solidFill>
            <a:srgbClr val="F6E7C8"/>
          </a:solidFill>
          <a:ln w="6350">
            <a:solidFill>
              <a:srgbClr val="F6E7C8"/>
            </a:solidFill>
            <a:prstDash val="solid"/>
          </a:ln>
        </p:spPr>
      </p:sp>
      <p:sp>
        <p:nvSpPr>
          <p:cNvPr id="17" name="Text 14"/>
          <p:cNvSpPr txBox="1"/>
          <p:nvPr/>
        </p:nvSpPr>
        <p:spPr>
          <a:xfrm>
            <a:off x="640080" y="5577840"/>
            <a:ext cx="10927080" cy="731520"/>
          </a:xfrm>
          <a:prstGeom prst="rect">
            <a:avLst/>
          </a:prstGeom>
          <a:noFill/>
          <a:ln/>
        </p:spPr>
        <p:txBody>
          <a:bodyPr wrap="square" lIns="0" tIns="0" rIns="0" bIns="0" rtlCol="0" anchor="ctr"/>
          <a:lstStyle/>
          <a:p>
            <a:pPr marL="0" indent="0">
              <a:buNone/>
            </a:pPr>
            <a:r>
              <a:rPr lang="en-US" sz="1300" dirty="0">
                <a:solidFill>
                  <a:srgbClr val="5A3E0A"/>
                </a:solidFill>
                <a:latin typeface="Calibri" pitchFamily="34" charset="0"/>
                <a:ea typeface="Calibri" pitchFamily="34" charset="-122"/>
                <a:cs typeface="Calibri" pitchFamily="34" charset="-120"/>
              </a:rPr>
              <a:t>23,899 duplicate rows were retained in the production dataset. Possible train/test duplicate overlap [Requires Validation] must be quantified and discussed transparently.</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SYSTEM ARCHITECTURE AND METHODOLOGY</a:t>
            </a:r>
            <a:endParaRPr lang="en-US" sz="2400" dirty="0"/>
          </a:p>
        </p:txBody>
      </p:sp>
      <p:sp>
        <p:nvSpPr>
          <p:cNvPr id="3" name="Shape 1"/>
          <p:cNvSpPr/>
          <p:nvPr/>
        </p:nvSpPr>
        <p:spPr>
          <a:xfrm>
            <a:off x="45720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4" name="Text 2"/>
          <p:cNvSpPr txBox="1"/>
          <p:nvPr/>
        </p:nvSpPr>
        <p:spPr>
          <a:xfrm>
            <a:off x="45720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BRFSS dataset</a:t>
            </a:r>
            <a:endParaRPr lang="en-US" sz="1200" dirty="0"/>
          </a:p>
        </p:txBody>
      </p:sp>
      <p:sp>
        <p:nvSpPr>
          <p:cNvPr id="5" name="Shape 3"/>
          <p:cNvSpPr/>
          <p:nvPr/>
        </p:nvSpPr>
        <p:spPr>
          <a:xfrm>
            <a:off x="1874520" y="1760220"/>
            <a:ext cx="228600" cy="0"/>
          </a:xfrm>
          <a:prstGeom prst="line">
            <a:avLst/>
          </a:prstGeom>
          <a:noFill/>
          <a:ln w="19050">
            <a:solidFill>
              <a:srgbClr val="7A1F2B"/>
            </a:solidFill>
            <a:prstDash val="solid"/>
            <a:tailEnd type="triangle"/>
          </a:ln>
        </p:spPr>
      </p:sp>
      <p:sp>
        <p:nvSpPr>
          <p:cNvPr id="6" name="Shape 4"/>
          <p:cNvSpPr/>
          <p:nvPr/>
        </p:nvSpPr>
        <p:spPr>
          <a:xfrm>
            <a:off x="210312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7" name="Text 5"/>
          <p:cNvSpPr txBox="1"/>
          <p:nvPr/>
        </p:nvSpPr>
        <p:spPr>
          <a:xfrm>
            <a:off x="210312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Validation and preprocessing</a:t>
            </a:r>
            <a:endParaRPr lang="en-US" sz="1200" dirty="0"/>
          </a:p>
        </p:txBody>
      </p:sp>
      <p:sp>
        <p:nvSpPr>
          <p:cNvPr id="8" name="Shape 6"/>
          <p:cNvSpPr/>
          <p:nvPr/>
        </p:nvSpPr>
        <p:spPr>
          <a:xfrm>
            <a:off x="3520440" y="1760220"/>
            <a:ext cx="228600" cy="0"/>
          </a:xfrm>
          <a:prstGeom prst="line">
            <a:avLst/>
          </a:prstGeom>
          <a:noFill/>
          <a:ln w="19050">
            <a:solidFill>
              <a:srgbClr val="7A1F2B"/>
            </a:solidFill>
            <a:prstDash val="solid"/>
            <a:tailEnd type="triangle"/>
          </a:ln>
        </p:spPr>
      </p:sp>
      <p:sp>
        <p:nvSpPr>
          <p:cNvPr id="9" name="Shape 7"/>
          <p:cNvSpPr/>
          <p:nvPr/>
        </p:nvSpPr>
        <p:spPr>
          <a:xfrm>
            <a:off x="374904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10" name="Text 8"/>
          <p:cNvSpPr txBox="1"/>
          <p:nvPr/>
        </p:nvSpPr>
        <p:spPr>
          <a:xfrm>
            <a:off x="374904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Exploratory analysis</a:t>
            </a:r>
            <a:endParaRPr lang="en-US" sz="1200" dirty="0"/>
          </a:p>
        </p:txBody>
      </p:sp>
      <p:sp>
        <p:nvSpPr>
          <p:cNvPr id="11" name="Shape 9"/>
          <p:cNvSpPr/>
          <p:nvPr/>
        </p:nvSpPr>
        <p:spPr>
          <a:xfrm>
            <a:off x="5166360" y="1760220"/>
            <a:ext cx="228600" cy="0"/>
          </a:xfrm>
          <a:prstGeom prst="line">
            <a:avLst/>
          </a:prstGeom>
          <a:noFill/>
          <a:ln w="19050">
            <a:solidFill>
              <a:srgbClr val="7A1F2B"/>
            </a:solidFill>
            <a:prstDash val="solid"/>
            <a:tailEnd type="triangle"/>
          </a:ln>
        </p:spPr>
      </p:sp>
      <p:sp>
        <p:nvSpPr>
          <p:cNvPr id="12" name="Shape 10"/>
          <p:cNvSpPr/>
          <p:nvPr/>
        </p:nvSpPr>
        <p:spPr>
          <a:xfrm>
            <a:off x="539496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13" name="Text 11"/>
          <p:cNvSpPr txBox="1"/>
          <p:nvPr/>
        </p:nvSpPr>
        <p:spPr>
          <a:xfrm>
            <a:off x="539496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Feature engineering</a:t>
            </a:r>
            <a:endParaRPr lang="en-US" sz="1200" dirty="0"/>
          </a:p>
        </p:txBody>
      </p:sp>
      <p:sp>
        <p:nvSpPr>
          <p:cNvPr id="14" name="Shape 12"/>
          <p:cNvSpPr/>
          <p:nvPr/>
        </p:nvSpPr>
        <p:spPr>
          <a:xfrm>
            <a:off x="6812280" y="1760220"/>
            <a:ext cx="228600" cy="0"/>
          </a:xfrm>
          <a:prstGeom prst="line">
            <a:avLst/>
          </a:prstGeom>
          <a:noFill/>
          <a:ln w="19050">
            <a:solidFill>
              <a:srgbClr val="7A1F2B"/>
            </a:solidFill>
            <a:prstDash val="solid"/>
            <a:tailEnd type="triangle"/>
          </a:ln>
        </p:spPr>
      </p:sp>
      <p:sp>
        <p:nvSpPr>
          <p:cNvPr id="15" name="Shape 13"/>
          <p:cNvSpPr/>
          <p:nvPr/>
        </p:nvSpPr>
        <p:spPr>
          <a:xfrm>
            <a:off x="704088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16" name="Text 14"/>
          <p:cNvSpPr txBox="1"/>
          <p:nvPr/>
        </p:nvSpPr>
        <p:spPr>
          <a:xfrm>
            <a:off x="704088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Train/test split</a:t>
            </a:r>
            <a:endParaRPr lang="en-US" sz="1200" dirty="0"/>
          </a:p>
        </p:txBody>
      </p:sp>
      <p:sp>
        <p:nvSpPr>
          <p:cNvPr id="17" name="Shape 15"/>
          <p:cNvSpPr/>
          <p:nvPr/>
        </p:nvSpPr>
        <p:spPr>
          <a:xfrm>
            <a:off x="8458200" y="1760220"/>
            <a:ext cx="228600" cy="0"/>
          </a:xfrm>
          <a:prstGeom prst="line">
            <a:avLst/>
          </a:prstGeom>
          <a:noFill/>
          <a:ln w="19050">
            <a:solidFill>
              <a:srgbClr val="7A1F2B"/>
            </a:solidFill>
            <a:prstDash val="solid"/>
            <a:tailEnd type="triangle"/>
          </a:ln>
        </p:spPr>
      </p:sp>
      <p:sp>
        <p:nvSpPr>
          <p:cNvPr id="18" name="Shape 16"/>
          <p:cNvSpPr/>
          <p:nvPr/>
        </p:nvSpPr>
        <p:spPr>
          <a:xfrm>
            <a:off x="868680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19" name="Text 17"/>
          <p:cNvSpPr txBox="1"/>
          <p:nvPr/>
        </p:nvSpPr>
        <p:spPr>
          <a:xfrm>
            <a:off x="868680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Baseline model training</a:t>
            </a:r>
            <a:endParaRPr lang="en-US" sz="1200" dirty="0"/>
          </a:p>
        </p:txBody>
      </p:sp>
      <p:sp>
        <p:nvSpPr>
          <p:cNvPr id="20" name="Shape 18"/>
          <p:cNvSpPr/>
          <p:nvPr/>
        </p:nvSpPr>
        <p:spPr>
          <a:xfrm>
            <a:off x="10104120" y="1760220"/>
            <a:ext cx="228600" cy="0"/>
          </a:xfrm>
          <a:prstGeom prst="line">
            <a:avLst/>
          </a:prstGeom>
          <a:noFill/>
          <a:ln w="19050">
            <a:solidFill>
              <a:srgbClr val="7A1F2B"/>
            </a:solidFill>
            <a:prstDash val="solid"/>
            <a:tailEnd type="triangle"/>
          </a:ln>
        </p:spPr>
      </p:sp>
      <p:sp>
        <p:nvSpPr>
          <p:cNvPr id="21" name="Shape 19"/>
          <p:cNvSpPr/>
          <p:nvPr/>
        </p:nvSpPr>
        <p:spPr>
          <a:xfrm>
            <a:off x="10332720" y="1325880"/>
            <a:ext cx="14173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22" name="Text 20"/>
          <p:cNvSpPr txBox="1"/>
          <p:nvPr/>
        </p:nvSpPr>
        <p:spPr>
          <a:xfrm>
            <a:off x="10332720" y="1325880"/>
            <a:ext cx="14173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Out-of-fold predictions</a:t>
            </a:r>
            <a:endParaRPr lang="en-US" sz="1200" dirty="0"/>
          </a:p>
        </p:txBody>
      </p:sp>
      <p:sp>
        <p:nvSpPr>
          <p:cNvPr id="23" name="Shape 21"/>
          <p:cNvSpPr/>
          <p:nvPr/>
        </p:nvSpPr>
        <p:spPr>
          <a:xfrm>
            <a:off x="457200" y="2697480"/>
            <a:ext cx="16459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24" name="Text 22"/>
          <p:cNvSpPr txBox="1"/>
          <p:nvPr/>
        </p:nvSpPr>
        <p:spPr>
          <a:xfrm>
            <a:off x="457200"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Failure and disagreement analysis</a:t>
            </a:r>
            <a:endParaRPr lang="en-US" sz="1200" dirty="0"/>
          </a:p>
        </p:txBody>
      </p:sp>
      <p:sp>
        <p:nvSpPr>
          <p:cNvPr id="25" name="Shape 23"/>
          <p:cNvSpPr/>
          <p:nvPr/>
        </p:nvSpPr>
        <p:spPr>
          <a:xfrm>
            <a:off x="2103120" y="3131820"/>
            <a:ext cx="283464" cy="0"/>
          </a:xfrm>
          <a:prstGeom prst="line">
            <a:avLst/>
          </a:prstGeom>
          <a:noFill/>
          <a:ln w="19050">
            <a:solidFill>
              <a:srgbClr val="7A1F2B"/>
            </a:solidFill>
            <a:prstDash val="solid"/>
            <a:tailEnd type="triangle"/>
          </a:ln>
        </p:spPr>
      </p:sp>
      <p:sp>
        <p:nvSpPr>
          <p:cNvPr id="26" name="Shape 24"/>
          <p:cNvSpPr/>
          <p:nvPr/>
        </p:nvSpPr>
        <p:spPr>
          <a:xfrm>
            <a:off x="2386584" y="2697480"/>
            <a:ext cx="16459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27" name="Text 25"/>
          <p:cNvSpPr txBox="1"/>
          <p:nvPr/>
        </p:nvSpPr>
        <p:spPr>
          <a:xfrm>
            <a:off x="2386584"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Meta-feature construction</a:t>
            </a:r>
            <a:endParaRPr lang="en-US" sz="1200" dirty="0"/>
          </a:p>
        </p:txBody>
      </p:sp>
      <p:sp>
        <p:nvSpPr>
          <p:cNvPr id="28" name="Shape 26"/>
          <p:cNvSpPr/>
          <p:nvPr/>
        </p:nvSpPr>
        <p:spPr>
          <a:xfrm>
            <a:off x="4032504" y="3131820"/>
            <a:ext cx="283464" cy="0"/>
          </a:xfrm>
          <a:prstGeom prst="line">
            <a:avLst/>
          </a:prstGeom>
          <a:noFill/>
          <a:ln w="19050">
            <a:solidFill>
              <a:srgbClr val="7A1F2B"/>
            </a:solidFill>
            <a:prstDash val="solid"/>
            <a:tailEnd type="triangle"/>
          </a:ln>
        </p:spPr>
      </p:sp>
      <p:sp>
        <p:nvSpPr>
          <p:cNvPr id="29" name="Shape 27"/>
          <p:cNvSpPr/>
          <p:nvPr/>
        </p:nvSpPr>
        <p:spPr>
          <a:xfrm>
            <a:off x="4315968" y="2697480"/>
            <a:ext cx="1645920" cy="868680"/>
          </a:xfrm>
          <a:prstGeom prst="roundRect">
            <a:avLst>
              <a:gd name="adj" fmla="val 8421"/>
            </a:avLst>
          </a:prstGeom>
          <a:solidFill>
            <a:schemeClr val="accent1"/>
          </a:solidFill>
          <a:ln w="12700">
            <a:solidFill>
              <a:schemeClr val="accent1"/>
            </a:solidFill>
            <a:prstDash val="solid"/>
          </a:ln>
          <a:effectLst>
            <a:outerShdw blurRad="76200" dist="25400" dir="5400000" algn="bl" rotWithShape="0">
              <a:srgbClr val="000000">
                <a:alpha val="12000"/>
              </a:srgbClr>
            </a:outerShdw>
          </a:effectLst>
        </p:spPr>
      </p:sp>
      <p:sp>
        <p:nvSpPr>
          <p:cNvPr id="30" name="Text 28"/>
          <p:cNvSpPr txBox="1"/>
          <p:nvPr/>
        </p:nvSpPr>
        <p:spPr>
          <a:xfrm>
            <a:off x="4315968"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bg1"/>
                </a:solidFill>
              </a:rPr>
              <a:t>Failure-aware hybrid</a:t>
            </a:r>
            <a:endParaRPr lang="en-US" sz="1200" dirty="0"/>
          </a:p>
        </p:txBody>
      </p:sp>
      <p:sp>
        <p:nvSpPr>
          <p:cNvPr id="31" name="Shape 29"/>
          <p:cNvSpPr/>
          <p:nvPr/>
        </p:nvSpPr>
        <p:spPr>
          <a:xfrm>
            <a:off x="5961888" y="3131820"/>
            <a:ext cx="283464" cy="0"/>
          </a:xfrm>
          <a:prstGeom prst="line">
            <a:avLst/>
          </a:prstGeom>
          <a:noFill/>
          <a:ln w="19050">
            <a:solidFill>
              <a:srgbClr val="7A1F2B"/>
            </a:solidFill>
            <a:prstDash val="solid"/>
            <a:tailEnd type="triangle"/>
          </a:ln>
        </p:spPr>
      </p:sp>
      <p:sp>
        <p:nvSpPr>
          <p:cNvPr id="32" name="Shape 30"/>
          <p:cNvSpPr/>
          <p:nvPr/>
        </p:nvSpPr>
        <p:spPr>
          <a:xfrm>
            <a:off x="6245352" y="2697480"/>
            <a:ext cx="16459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33" name="Text 31"/>
          <p:cNvSpPr txBox="1"/>
          <p:nvPr/>
        </p:nvSpPr>
        <p:spPr>
          <a:xfrm>
            <a:off x="6245352"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Locked-test evaluation</a:t>
            </a:r>
            <a:endParaRPr lang="en-US" sz="1200" dirty="0"/>
          </a:p>
        </p:txBody>
      </p:sp>
      <p:sp>
        <p:nvSpPr>
          <p:cNvPr id="34" name="Shape 32"/>
          <p:cNvSpPr/>
          <p:nvPr/>
        </p:nvSpPr>
        <p:spPr>
          <a:xfrm>
            <a:off x="7891272" y="3131820"/>
            <a:ext cx="283464" cy="0"/>
          </a:xfrm>
          <a:prstGeom prst="line">
            <a:avLst/>
          </a:prstGeom>
          <a:noFill/>
          <a:ln w="19050">
            <a:solidFill>
              <a:srgbClr val="7A1F2B"/>
            </a:solidFill>
            <a:prstDash val="solid"/>
            <a:tailEnd type="triangle"/>
          </a:ln>
        </p:spPr>
      </p:sp>
      <p:sp>
        <p:nvSpPr>
          <p:cNvPr id="35" name="Shape 33"/>
          <p:cNvSpPr/>
          <p:nvPr/>
        </p:nvSpPr>
        <p:spPr>
          <a:xfrm>
            <a:off x="8174736" y="2697480"/>
            <a:ext cx="16459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36" name="Text 34"/>
          <p:cNvSpPr txBox="1"/>
          <p:nvPr/>
        </p:nvSpPr>
        <p:spPr>
          <a:xfrm>
            <a:off x="8174736"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SHAP/LIME, calibration, subgroups</a:t>
            </a:r>
            <a:endParaRPr lang="en-US" sz="1200" dirty="0"/>
          </a:p>
        </p:txBody>
      </p:sp>
      <p:sp>
        <p:nvSpPr>
          <p:cNvPr id="37" name="Shape 35"/>
          <p:cNvSpPr/>
          <p:nvPr/>
        </p:nvSpPr>
        <p:spPr>
          <a:xfrm>
            <a:off x="9820656" y="3131820"/>
            <a:ext cx="283464" cy="0"/>
          </a:xfrm>
          <a:prstGeom prst="line">
            <a:avLst/>
          </a:prstGeom>
          <a:noFill/>
          <a:ln w="19050">
            <a:solidFill>
              <a:srgbClr val="7A1F2B"/>
            </a:solidFill>
            <a:prstDash val="solid"/>
            <a:tailEnd type="triangle"/>
          </a:ln>
        </p:spPr>
      </p:sp>
      <p:sp>
        <p:nvSpPr>
          <p:cNvPr id="38" name="Shape 36"/>
          <p:cNvSpPr/>
          <p:nvPr/>
        </p:nvSpPr>
        <p:spPr>
          <a:xfrm>
            <a:off x="10104120" y="2697480"/>
            <a:ext cx="1645920" cy="868680"/>
          </a:xfrm>
          <a:prstGeom prst="roundRect">
            <a:avLst>
              <a:gd name="adj" fmla="val 8421"/>
            </a:avLst>
          </a:prstGeom>
          <a:solidFill>
            <a:schemeClr val="bg2"/>
          </a:solidFill>
          <a:ln w="12700">
            <a:solidFill>
              <a:schemeClr val="accent1"/>
            </a:solidFill>
            <a:prstDash val="solid"/>
          </a:ln>
          <a:effectLst>
            <a:outerShdw blurRad="76200" dist="25400" dir="5400000" algn="bl" rotWithShape="0">
              <a:srgbClr val="000000">
                <a:alpha val="12000"/>
              </a:srgbClr>
            </a:outerShdw>
          </a:effectLst>
        </p:spPr>
      </p:sp>
      <p:sp>
        <p:nvSpPr>
          <p:cNvPr id="39" name="Text 37"/>
          <p:cNvSpPr txBox="1"/>
          <p:nvPr/>
        </p:nvSpPr>
        <p:spPr>
          <a:xfrm>
            <a:off x="10104120" y="2697480"/>
            <a:ext cx="1645920" cy="868680"/>
          </a:xfrm>
          <a:prstGeom prst="rect">
            <a:avLst/>
          </a:prstGeom>
          <a:noFill/>
          <a:ln/>
        </p:spPr>
        <p:txBody>
          <a:bodyPr wrap="square" lIns="50800" tIns="50800" rIns="50800" bIns="50800" rtlCol="0" anchor="ctr"/>
          <a:lstStyle/>
          <a:p>
            <a:pPr marL="0" indent="0" algn="ctr">
              <a:buNone/>
            </a:pPr>
            <a:r>
              <a:rPr lang="en-US" sz="1200" b="1" dirty="0">
                <a:solidFill>
                  <a:schemeClr val="tx2"/>
                </a:solidFill>
              </a:rPr>
              <a:t>Dashboard and reporting</a:t>
            </a:r>
            <a:endParaRPr lang="en-US" sz="1200" dirty="0"/>
          </a:p>
        </p:txBody>
      </p:sp>
      <p:sp>
        <p:nvSpPr>
          <p:cNvPr id="40" name="Shape 38"/>
          <p:cNvSpPr/>
          <p:nvPr/>
        </p:nvSpPr>
        <p:spPr>
          <a:xfrm>
            <a:off x="10698480" y="2194560"/>
            <a:ext cx="0" cy="256032"/>
          </a:xfrm>
          <a:prstGeom prst="line">
            <a:avLst/>
          </a:prstGeom>
          <a:noFill/>
          <a:ln w="19050">
            <a:solidFill>
              <a:srgbClr val="7A1F2B"/>
            </a:solidFill>
            <a:prstDash val="solid"/>
          </a:ln>
        </p:spPr>
      </p:sp>
      <p:sp>
        <p:nvSpPr>
          <p:cNvPr id="41" name="Shape 39"/>
          <p:cNvSpPr/>
          <p:nvPr/>
        </p:nvSpPr>
        <p:spPr>
          <a:xfrm>
            <a:off x="1280160" y="2450592"/>
            <a:ext cx="9418320" cy="0"/>
          </a:xfrm>
          <a:prstGeom prst="line">
            <a:avLst/>
          </a:prstGeom>
          <a:noFill/>
          <a:ln w="19050">
            <a:solidFill>
              <a:srgbClr val="7A1F2B"/>
            </a:solidFill>
            <a:prstDash val="solid"/>
          </a:ln>
        </p:spPr>
      </p:sp>
      <p:sp>
        <p:nvSpPr>
          <p:cNvPr id="42" name="Shape 40"/>
          <p:cNvSpPr/>
          <p:nvPr/>
        </p:nvSpPr>
        <p:spPr>
          <a:xfrm>
            <a:off x="1280160" y="2450592"/>
            <a:ext cx="0" cy="246888"/>
          </a:xfrm>
          <a:prstGeom prst="line">
            <a:avLst/>
          </a:prstGeom>
          <a:noFill/>
          <a:ln w="19050">
            <a:solidFill>
              <a:srgbClr val="7A1F2B"/>
            </a:solidFill>
            <a:prstDash val="solid"/>
            <a:tailEnd type="triangle"/>
          </a:ln>
        </p:spPr>
      </p:sp>
      <p:sp>
        <p:nvSpPr>
          <p:cNvPr id="43" name="Card Out-of-fold predictions"/>
          <p:cNvSpPr/>
          <p:nvPr/>
        </p:nvSpPr>
        <p:spPr>
          <a:xfrm>
            <a:off x="457200" y="3840480"/>
            <a:ext cx="3657600" cy="2286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4" name="Text 42"/>
          <p:cNvSpPr txBox="1"/>
          <p:nvPr/>
        </p:nvSpPr>
        <p:spPr>
          <a:xfrm>
            <a:off x="594360" y="391363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Out-of-fold predictions</a:t>
            </a:r>
            <a:endParaRPr lang="en-US" sz="1500" dirty="0"/>
          </a:p>
        </p:txBody>
      </p:sp>
      <p:sp>
        <p:nvSpPr>
          <p:cNvPr id="45" name="Text 43"/>
          <p:cNvSpPr txBox="1"/>
          <p:nvPr/>
        </p:nvSpPr>
        <p:spPr>
          <a:xfrm>
            <a:off x="594360" y="4315968"/>
            <a:ext cx="3383280" cy="17373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Training meta-features come from folds the base model did not train on.</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Same procedure at train and test time.</a:t>
            </a:r>
            <a:endParaRPr lang="en-US" sz="1500" dirty="0"/>
          </a:p>
        </p:txBody>
      </p:sp>
      <p:sp>
        <p:nvSpPr>
          <p:cNvPr id="46" name="Card Locked test set"/>
          <p:cNvSpPr/>
          <p:nvPr/>
        </p:nvSpPr>
        <p:spPr>
          <a:xfrm>
            <a:off x="4251960" y="3840480"/>
            <a:ext cx="3657600" cy="2286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7" name="Text 45"/>
          <p:cNvSpPr txBox="1"/>
          <p:nvPr/>
        </p:nvSpPr>
        <p:spPr>
          <a:xfrm>
            <a:off x="4389120" y="391363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Locked test set</a:t>
            </a:r>
            <a:endParaRPr lang="en-US" sz="1500" dirty="0"/>
          </a:p>
        </p:txBody>
      </p:sp>
      <p:sp>
        <p:nvSpPr>
          <p:cNvPr id="48" name="Text 46"/>
          <p:cNvSpPr txBox="1"/>
          <p:nvPr/>
        </p:nvSpPr>
        <p:spPr>
          <a:xfrm>
            <a:off x="4389120" y="4315968"/>
            <a:ext cx="3383280" cy="17373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Never used for model selection.</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Never used for threshold tuning.</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Used for final evaluation only.</a:t>
            </a:r>
            <a:endParaRPr lang="en-US" sz="1500" dirty="0"/>
          </a:p>
        </p:txBody>
      </p:sp>
      <p:sp>
        <p:nvSpPr>
          <p:cNvPr id="49" name="Card Fair comparison"/>
          <p:cNvSpPr/>
          <p:nvPr/>
        </p:nvSpPr>
        <p:spPr>
          <a:xfrm>
            <a:off x="8046720" y="3840480"/>
            <a:ext cx="3703320" cy="2286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50" name="Text 48"/>
          <p:cNvSpPr txBox="1"/>
          <p:nvPr/>
        </p:nvSpPr>
        <p:spPr>
          <a:xfrm>
            <a:off x="8183880" y="3913632"/>
            <a:ext cx="34290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Fair comparison</a:t>
            </a:r>
            <a:endParaRPr lang="en-US" sz="1500" dirty="0"/>
          </a:p>
        </p:txBody>
      </p:sp>
      <p:sp>
        <p:nvSpPr>
          <p:cNvPr id="51" name="Text 49"/>
          <p:cNvSpPr txBox="1"/>
          <p:nvPr/>
        </p:nvSpPr>
        <p:spPr>
          <a:xfrm>
            <a:off x="8183880" y="4315968"/>
            <a:ext cx="3429000" cy="17373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Hybrid vs standalone models.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Hybrid vs soft voting.</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Hybrid vs standard stacking.</a:t>
            </a:r>
            <a:endParaRPr lang="en-US" sz="1500" dirty="0"/>
          </a:p>
        </p:txBody>
      </p:sp>
      <p:sp>
        <p:nvSpPr>
          <p:cNvPr id="52"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BASELINE MODELS AND IMPLEMENTATION</a:t>
            </a:r>
            <a:endParaRPr lang="en-US" sz="2400" dirty="0"/>
          </a:p>
        </p:txBody>
      </p:sp>
      <p:sp>
        <p:nvSpPr>
          <p:cNvPr id="3" name="Shape 1"/>
          <p:cNvSpPr/>
          <p:nvPr/>
        </p:nvSpPr>
        <p:spPr>
          <a:xfrm>
            <a:off x="457200" y="1280160"/>
            <a:ext cx="2697480" cy="14173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Text 2"/>
          <p:cNvSpPr txBox="1"/>
          <p:nvPr/>
        </p:nvSpPr>
        <p:spPr>
          <a:xfrm>
            <a:off x="566928" y="13898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Logistic Regression</a:t>
            </a:r>
            <a:endParaRPr lang="en-US" sz="1500" dirty="0"/>
          </a:p>
        </p:txBody>
      </p:sp>
      <p:sp>
        <p:nvSpPr>
          <p:cNvPr id="5" name="Text 3"/>
          <p:cNvSpPr txBox="1"/>
          <p:nvPr/>
        </p:nvSpPr>
        <p:spPr>
          <a:xfrm>
            <a:off x="566928" y="1965960"/>
            <a:ext cx="2468880" cy="365760"/>
          </a:xfrm>
          <a:prstGeom prst="rect">
            <a:avLst/>
          </a:prstGeom>
          <a:noFill/>
          <a:ln/>
        </p:spPr>
        <p:txBody>
          <a:bodyPr wrap="square" lIns="0" tIns="0" rIns="0" bIns="0" rtlCol="0" anchor="t"/>
          <a:lstStyle/>
          <a:p>
            <a:pPr marL="0" indent="0">
              <a:buNone/>
            </a:pPr>
            <a:r>
              <a:rPr lang="en-US" sz="1300" dirty="0">
                <a:solidFill>
                  <a:schemeClr val="tx1"/>
                </a:solidFill>
              </a:rPr>
              <a:t>Linear classification baseline</a:t>
            </a:r>
            <a:endParaRPr lang="en-US" sz="1300" dirty="0"/>
          </a:p>
        </p:txBody>
      </p:sp>
      <p:sp>
        <p:nvSpPr>
          <p:cNvPr id="6" name="Shape 4"/>
          <p:cNvSpPr/>
          <p:nvPr/>
        </p:nvSpPr>
        <p:spPr>
          <a:xfrm>
            <a:off x="566928" y="2377440"/>
            <a:ext cx="1371600" cy="256032"/>
          </a:xfrm>
          <a:prstGeom prst="roundRect">
            <a:avLst>
              <a:gd name="adj" fmla="val 28571"/>
            </a:avLst>
          </a:prstGeom>
          <a:solidFill>
            <a:srgbClr val="8C8C8C"/>
          </a:solidFill>
          <a:ln w="6350">
            <a:solidFill>
              <a:srgbClr val="8C8C8C"/>
            </a:solidFill>
            <a:prstDash val="solid"/>
          </a:ln>
        </p:spPr>
      </p:sp>
      <p:sp>
        <p:nvSpPr>
          <p:cNvPr id="7" name="Text 5"/>
          <p:cNvSpPr txBox="1"/>
          <p:nvPr/>
        </p:nvSpPr>
        <p:spPr>
          <a:xfrm>
            <a:off x="566928" y="2377440"/>
            <a:ext cx="1371600" cy="256032"/>
          </a:xfrm>
          <a:prstGeom prst="rect">
            <a:avLst/>
          </a:prstGeom>
          <a:noFill/>
          <a:ln/>
        </p:spPr>
        <p:txBody>
          <a:bodyPr wrap="square" lIns="0" tIns="0" rIns="0" bIns="0" rtlCol="0" anchor="ctr"/>
          <a:lstStyle/>
          <a:p>
            <a:pPr marL="0" indent="0" algn="ctr">
              <a:buNone/>
            </a:pPr>
            <a:r>
              <a:rPr lang="en-US" sz="1000" b="1" dirty="0">
                <a:solidFill>
                  <a:schemeClr val="bg1"/>
                </a:solidFill>
              </a:rPr>
              <a:t>Standalone baseline</a:t>
            </a:r>
            <a:endParaRPr lang="en-US" sz="1000" dirty="0"/>
          </a:p>
        </p:txBody>
      </p:sp>
      <p:sp>
        <p:nvSpPr>
          <p:cNvPr id="8" name="Shape 6"/>
          <p:cNvSpPr/>
          <p:nvPr/>
        </p:nvSpPr>
        <p:spPr>
          <a:xfrm>
            <a:off x="3310128" y="1280160"/>
            <a:ext cx="2697480" cy="14173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9" name="Text 7"/>
          <p:cNvSpPr txBox="1"/>
          <p:nvPr/>
        </p:nvSpPr>
        <p:spPr>
          <a:xfrm>
            <a:off x="3419856" y="13898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Decision Tree</a:t>
            </a:r>
            <a:endParaRPr lang="en-US" sz="1500" dirty="0"/>
          </a:p>
        </p:txBody>
      </p:sp>
      <p:sp>
        <p:nvSpPr>
          <p:cNvPr id="10" name="Text 8"/>
          <p:cNvSpPr txBox="1"/>
          <p:nvPr/>
        </p:nvSpPr>
        <p:spPr>
          <a:xfrm>
            <a:off x="3419856" y="1965960"/>
            <a:ext cx="2468880" cy="365760"/>
          </a:xfrm>
          <a:prstGeom prst="rect">
            <a:avLst/>
          </a:prstGeom>
          <a:noFill/>
          <a:ln/>
        </p:spPr>
        <p:txBody>
          <a:bodyPr wrap="square" lIns="0" tIns="0" rIns="0" bIns="0" rtlCol="0" anchor="t"/>
          <a:lstStyle/>
          <a:p>
            <a:pPr marL="0" indent="0">
              <a:buNone/>
            </a:pPr>
            <a:r>
              <a:rPr lang="en-US" sz="1300" dirty="0">
                <a:solidFill>
                  <a:schemeClr val="tx1"/>
                </a:solidFill>
              </a:rPr>
              <a:t>Interpretable nonlinear baseline</a:t>
            </a:r>
            <a:endParaRPr lang="en-US" sz="1300" dirty="0"/>
          </a:p>
        </p:txBody>
      </p:sp>
      <p:sp>
        <p:nvSpPr>
          <p:cNvPr id="11" name="Shape 9"/>
          <p:cNvSpPr/>
          <p:nvPr/>
        </p:nvSpPr>
        <p:spPr>
          <a:xfrm>
            <a:off x="3419856" y="2377440"/>
            <a:ext cx="1371600" cy="256032"/>
          </a:xfrm>
          <a:prstGeom prst="roundRect">
            <a:avLst>
              <a:gd name="adj" fmla="val 28571"/>
            </a:avLst>
          </a:prstGeom>
          <a:solidFill>
            <a:srgbClr val="8C8C8C"/>
          </a:solidFill>
          <a:ln w="6350">
            <a:solidFill>
              <a:srgbClr val="8C8C8C"/>
            </a:solidFill>
            <a:prstDash val="solid"/>
          </a:ln>
        </p:spPr>
      </p:sp>
      <p:sp>
        <p:nvSpPr>
          <p:cNvPr id="12" name="Text 10"/>
          <p:cNvSpPr txBox="1"/>
          <p:nvPr/>
        </p:nvSpPr>
        <p:spPr>
          <a:xfrm>
            <a:off x="3419856" y="2377440"/>
            <a:ext cx="1371600" cy="256032"/>
          </a:xfrm>
          <a:prstGeom prst="rect">
            <a:avLst/>
          </a:prstGeom>
          <a:noFill/>
          <a:ln/>
        </p:spPr>
        <p:txBody>
          <a:bodyPr wrap="square" lIns="0" tIns="0" rIns="0" bIns="0" rtlCol="0" anchor="ctr"/>
          <a:lstStyle/>
          <a:p>
            <a:pPr marL="0" indent="0" algn="ctr">
              <a:buNone/>
            </a:pPr>
            <a:r>
              <a:rPr lang="en-US" sz="1000" b="1" dirty="0">
                <a:solidFill>
                  <a:schemeClr val="bg1"/>
                </a:solidFill>
              </a:rPr>
              <a:t>Standalone baseline</a:t>
            </a:r>
            <a:endParaRPr lang="en-US" sz="1000" dirty="0"/>
          </a:p>
        </p:txBody>
      </p:sp>
      <p:sp>
        <p:nvSpPr>
          <p:cNvPr id="13" name="Shape 11"/>
          <p:cNvSpPr/>
          <p:nvPr/>
        </p:nvSpPr>
        <p:spPr>
          <a:xfrm>
            <a:off x="6163056" y="1280160"/>
            <a:ext cx="2697480" cy="1417320"/>
          </a:xfrm>
          <a:prstGeom prst="rect">
            <a:avLst/>
          </a:prstGeom>
          <a:solidFill>
            <a:schemeClr val="accent4"/>
          </a:solidFill>
          <a:ln w="19050">
            <a:solidFill>
              <a:schemeClr val="accent1"/>
            </a:solidFill>
            <a:prstDash val="solid"/>
          </a:ln>
          <a:effectLst>
            <a:outerShdw blurRad="76200" dist="25400" dir="5400000" algn="bl" rotWithShape="0">
              <a:srgbClr val="000000">
                <a:alpha val="12000"/>
              </a:srgbClr>
            </a:outerShdw>
          </a:effectLst>
        </p:spPr>
      </p:sp>
      <p:sp>
        <p:nvSpPr>
          <p:cNvPr id="14" name="Text 12"/>
          <p:cNvSpPr txBox="1"/>
          <p:nvPr/>
        </p:nvSpPr>
        <p:spPr>
          <a:xfrm>
            <a:off x="6272784" y="13898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Random Forest</a:t>
            </a:r>
            <a:endParaRPr lang="en-US" sz="1500" dirty="0"/>
          </a:p>
        </p:txBody>
      </p:sp>
      <p:sp>
        <p:nvSpPr>
          <p:cNvPr id="15" name="Text 13"/>
          <p:cNvSpPr txBox="1"/>
          <p:nvPr/>
        </p:nvSpPr>
        <p:spPr>
          <a:xfrm>
            <a:off x="6272784" y="1965960"/>
            <a:ext cx="2468880" cy="365760"/>
          </a:xfrm>
          <a:prstGeom prst="rect">
            <a:avLst/>
          </a:prstGeom>
          <a:noFill/>
          <a:ln/>
        </p:spPr>
        <p:txBody>
          <a:bodyPr wrap="square" lIns="0" tIns="0" rIns="0" bIns="0" rtlCol="0" anchor="t"/>
          <a:lstStyle/>
          <a:p>
            <a:pPr marL="0" indent="0">
              <a:buNone/>
            </a:pPr>
            <a:r>
              <a:rPr lang="en-US" sz="1300" dirty="0">
                <a:solidFill>
                  <a:schemeClr val="tx1"/>
                </a:solidFill>
              </a:rPr>
              <a:t>Bagged tree ensemble</a:t>
            </a:r>
            <a:endParaRPr lang="en-US" sz="1300" dirty="0"/>
          </a:p>
        </p:txBody>
      </p:sp>
      <p:sp>
        <p:nvSpPr>
          <p:cNvPr id="16" name="Shape 14"/>
          <p:cNvSpPr/>
          <p:nvPr/>
        </p:nvSpPr>
        <p:spPr>
          <a:xfrm>
            <a:off x="6272784" y="2377440"/>
            <a:ext cx="1554480" cy="256032"/>
          </a:xfrm>
          <a:prstGeom prst="roundRect">
            <a:avLst>
              <a:gd name="adj" fmla="val 28571"/>
            </a:avLst>
          </a:prstGeom>
          <a:solidFill>
            <a:srgbClr val="B3262E"/>
          </a:solidFill>
          <a:ln w="6350">
            <a:solidFill>
              <a:srgbClr val="B3262E"/>
            </a:solidFill>
            <a:prstDash val="solid"/>
          </a:ln>
        </p:spPr>
      </p:sp>
      <p:sp>
        <p:nvSpPr>
          <p:cNvPr id="17" name="Text 15"/>
          <p:cNvSpPr txBox="1"/>
          <p:nvPr/>
        </p:nvSpPr>
        <p:spPr>
          <a:xfrm>
            <a:off x="6272784" y="2377440"/>
            <a:ext cx="1554480" cy="256032"/>
          </a:xfrm>
          <a:prstGeom prst="rect">
            <a:avLst/>
          </a:prstGeom>
          <a:noFill/>
          <a:ln/>
        </p:spPr>
        <p:txBody>
          <a:bodyPr wrap="square" lIns="0" tIns="0" rIns="0" bIns="0" rtlCol="0" anchor="ctr"/>
          <a:lstStyle/>
          <a:p>
            <a:pPr marL="0" indent="0" algn="ctr">
              <a:buNone/>
            </a:pPr>
            <a:r>
              <a:rPr lang="en-US" sz="1000" b="1" dirty="0">
                <a:solidFill>
                  <a:schemeClr val="bg1"/>
                </a:solidFill>
              </a:rPr>
              <a:t>Hybrid base model</a:t>
            </a:r>
            <a:endParaRPr lang="en-US" sz="1000" dirty="0"/>
          </a:p>
        </p:txBody>
      </p:sp>
      <p:sp>
        <p:nvSpPr>
          <p:cNvPr id="18" name="Shape 16"/>
          <p:cNvSpPr/>
          <p:nvPr/>
        </p:nvSpPr>
        <p:spPr>
          <a:xfrm>
            <a:off x="9015984" y="1280160"/>
            <a:ext cx="2697480" cy="1417320"/>
          </a:xfrm>
          <a:prstGeom prst="rect">
            <a:avLst/>
          </a:prstGeom>
          <a:solidFill>
            <a:schemeClr val="accent4"/>
          </a:solidFill>
          <a:ln w="19050">
            <a:solidFill>
              <a:schemeClr val="accent1"/>
            </a:solidFill>
            <a:prstDash val="solid"/>
          </a:ln>
          <a:effectLst>
            <a:outerShdw blurRad="76200" dist="25400" dir="5400000" algn="bl" rotWithShape="0">
              <a:srgbClr val="000000">
                <a:alpha val="12000"/>
              </a:srgbClr>
            </a:outerShdw>
          </a:effectLst>
        </p:spPr>
      </p:sp>
      <p:sp>
        <p:nvSpPr>
          <p:cNvPr id="19" name="Text 17"/>
          <p:cNvSpPr txBox="1"/>
          <p:nvPr/>
        </p:nvSpPr>
        <p:spPr>
          <a:xfrm>
            <a:off x="9125712" y="13898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SGDClassifier (Modified Huber)</a:t>
            </a:r>
            <a:endParaRPr lang="en-US" sz="1500" dirty="0"/>
          </a:p>
        </p:txBody>
      </p:sp>
      <p:sp>
        <p:nvSpPr>
          <p:cNvPr id="20" name="Text 18"/>
          <p:cNvSpPr txBox="1"/>
          <p:nvPr/>
        </p:nvSpPr>
        <p:spPr>
          <a:xfrm>
            <a:off x="9125712" y="1965960"/>
            <a:ext cx="2468880" cy="365760"/>
          </a:xfrm>
          <a:prstGeom prst="rect">
            <a:avLst/>
          </a:prstGeom>
          <a:noFill/>
          <a:ln/>
        </p:spPr>
        <p:txBody>
          <a:bodyPr wrap="square" lIns="0" tIns="0" rIns="0" bIns="0" rtlCol="0" anchor="t"/>
          <a:lstStyle/>
          <a:p>
            <a:pPr marL="0" indent="0">
              <a:buNone/>
            </a:pPr>
            <a:r>
              <a:rPr lang="en-US" sz="1300" dirty="0">
                <a:solidFill>
                  <a:schemeClr val="tx1"/>
                </a:solidFill>
              </a:rPr>
              <a:t>Linear model, modified Huber loss</a:t>
            </a:r>
            <a:endParaRPr lang="en-US" sz="1300" dirty="0"/>
          </a:p>
        </p:txBody>
      </p:sp>
      <p:sp>
        <p:nvSpPr>
          <p:cNvPr id="21" name="Shape 19"/>
          <p:cNvSpPr/>
          <p:nvPr/>
        </p:nvSpPr>
        <p:spPr>
          <a:xfrm>
            <a:off x="9125712" y="2377440"/>
            <a:ext cx="1554480" cy="256032"/>
          </a:xfrm>
          <a:prstGeom prst="roundRect">
            <a:avLst>
              <a:gd name="adj" fmla="val 28571"/>
            </a:avLst>
          </a:prstGeom>
          <a:solidFill>
            <a:srgbClr val="B3262E"/>
          </a:solidFill>
          <a:ln w="6350">
            <a:solidFill>
              <a:srgbClr val="B3262E"/>
            </a:solidFill>
            <a:prstDash val="solid"/>
          </a:ln>
        </p:spPr>
      </p:sp>
      <p:sp>
        <p:nvSpPr>
          <p:cNvPr id="22" name="Text 20"/>
          <p:cNvSpPr txBox="1"/>
          <p:nvPr/>
        </p:nvSpPr>
        <p:spPr>
          <a:xfrm>
            <a:off x="9125712" y="2377440"/>
            <a:ext cx="1554480" cy="256032"/>
          </a:xfrm>
          <a:prstGeom prst="rect">
            <a:avLst/>
          </a:prstGeom>
          <a:noFill/>
          <a:ln/>
        </p:spPr>
        <p:txBody>
          <a:bodyPr wrap="square" lIns="0" tIns="0" rIns="0" bIns="0" rtlCol="0" anchor="ctr"/>
          <a:lstStyle/>
          <a:p>
            <a:pPr marL="0" indent="0" algn="ctr">
              <a:buNone/>
            </a:pPr>
            <a:r>
              <a:rPr lang="en-US" sz="1000" b="1" dirty="0">
                <a:solidFill>
                  <a:schemeClr val="bg1"/>
                </a:solidFill>
              </a:rPr>
              <a:t>Hybrid base model</a:t>
            </a:r>
            <a:endParaRPr lang="en-US" sz="1000" dirty="0"/>
          </a:p>
        </p:txBody>
      </p:sp>
      <p:sp>
        <p:nvSpPr>
          <p:cNvPr id="23" name="Shape 21"/>
          <p:cNvSpPr/>
          <p:nvPr/>
        </p:nvSpPr>
        <p:spPr>
          <a:xfrm>
            <a:off x="457200" y="2880360"/>
            <a:ext cx="2697480" cy="1417320"/>
          </a:xfrm>
          <a:prstGeom prst="rect">
            <a:avLst/>
          </a:prstGeom>
          <a:solidFill>
            <a:schemeClr val="accent4"/>
          </a:solidFill>
          <a:ln w="19050">
            <a:solidFill>
              <a:schemeClr val="accent1"/>
            </a:solidFill>
            <a:prstDash val="solid"/>
          </a:ln>
          <a:effectLst>
            <a:outerShdw blurRad="76200" dist="25400" dir="5400000" algn="bl" rotWithShape="0">
              <a:srgbClr val="000000">
                <a:alpha val="12000"/>
              </a:srgbClr>
            </a:outerShdw>
          </a:effectLst>
        </p:spPr>
      </p:sp>
      <p:sp>
        <p:nvSpPr>
          <p:cNvPr id="24" name="Text 22"/>
          <p:cNvSpPr txBox="1"/>
          <p:nvPr/>
        </p:nvSpPr>
        <p:spPr>
          <a:xfrm>
            <a:off x="566928" y="29900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XGBoost</a:t>
            </a:r>
            <a:endParaRPr lang="en-US" sz="1500" dirty="0"/>
          </a:p>
        </p:txBody>
      </p:sp>
      <p:sp>
        <p:nvSpPr>
          <p:cNvPr id="25" name="Text 23"/>
          <p:cNvSpPr txBox="1"/>
          <p:nvPr/>
        </p:nvSpPr>
        <p:spPr>
          <a:xfrm>
            <a:off x="566928" y="3566160"/>
            <a:ext cx="2468880" cy="365760"/>
          </a:xfrm>
          <a:prstGeom prst="rect">
            <a:avLst/>
          </a:prstGeom>
          <a:noFill/>
          <a:ln/>
        </p:spPr>
        <p:txBody>
          <a:bodyPr wrap="square" lIns="0" tIns="0" rIns="0" bIns="0" rtlCol="0" anchor="t"/>
          <a:lstStyle/>
          <a:p>
            <a:pPr marL="0" indent="0">
              <a:buNone/>
            </a:pPr>
            <a:r>
              <a:rPr lang="en-US" sz="1300" dirty="0">
                <a:solidFill>
                  <a:schemeClr val="tx1"/>
                </a:solidFill>
              </a:rPr>
              <a:t>Gradient-boosted trees</a:t>
            </a:r>
            <a:endParaRPr lang="en-US" sz="1300" dirty="0"/>
          </a:p>
        </p:txBody>
      </p:sp>
      <p:sp>
        <p:nvSpPr>
          <p:cNvPr id="26" name="Shape 24"/>
          <p:cNvSpPr/>
          <p:nvPr/>
        </p:nvSpPr>
        <p:spPr>
          <a:xfrm>
            <a:off x="566928" y="3977640"/>
            <a:ext cx="1554480" cy="256032"/>
          </a:xfrm>
          <a:prstGeom prst="roundRect">
            <a:avLst>
              <a:gd name="adj" fmla="val 28571"/>
            </a:avLst>
          </a:prstGeom>
          <a:solidFill>
            <a:srgbClr val="B3262E"/>
          </a:solidFill>
          <a:ln w="6350">
            <a:solidFill>
              <a:srgbClr val="B3262E"/>
            </a:solidFill>
            <a:prstDash val="solid"/>
          </a:ln>
        </p:spPr>
      </p:sp>
      <p:sp>
        <p:nvSpPr>
          <p:cNvPr id="27" name="Text 25"/>
          <p:cNvSpPr txBox="1"/>
          <p:nvPr/>
        </p:nvSpPr>
        <p:spPr>
          <a:xfrm>
            <a:off x="566928" y="3977640"/>
            <a:ext cx="1554480" cy="256032"/>
          </a:xfrm>
          <a:prstGeom prst="rect">
            <a:avLst/>
          </a:prstGeom>
          <a:noFill/>
          <a:ln/>
        </p:spPr>
        <p:txBody>
          <a:bodyPr wrap="square" lIns="0" tIns="0" rIns="0" bIns="0" rtlCol="0" anchor="ctr"/>
          <a:lstStyle/>
          <a:p>
            <a:pPr marL="0" indent="0" algn="ctr">
              <a:buNone/>
            </a:pPr>
            <a:r>
              <a:rPr lang="en-US" sz="1000" b="1" dirty="0">
                <a:solidFill>
                  <a:schemeClr val="bg1"/>
                </a:solidFill>
              </a:rPr>
              <a:t>Hybrid base model</a:t>
            </a:r>
            <a:endParaRPr lang="en-US" sz="1000" dirty="0"/>
          </a:p>
        </p:txBody>
      </p:sp>
      <p:sp>
        <p:nvSpPr>
          <p:cNvPr id="28" name="Shape 26"/>
          <p:cNvSpPr/>
          <p:nvPr/>
        </p:nvSpPr>
        <p:spPr>
          <a:xfrm>
            <a:off x="3310128" y="2880360"/>
            <a:ext cx="2697480" cy="1417320"/>
          </a:xfrm>
          <a:prstGeom prst="rect">
            <a:avLst/>
          </a:prstGeom>
          <a:solidFill>
            <a:schemeClr val="accent4"/>
          </a:solidFill>
          <a:ln w="19050">
            <a:solidFill>
              <a:schemeClr val="accent1"/>
            </a:solidFill>
            <a:prstDash val="solid"/>
          </a:ln>
          <a:effectLst>
            <a:outerShdw blurRad="76200" dist="25400" dir="5400000" algn="bl" rotWithShape="0">
              <a:srgbClr val="000000">
                <a:alpha val="12000"/>
              </a:srgbClr>
            </a:outerShdw>
          </a:effectLst>
        </p:spPr>
      </p:sp>
      <p:sp>
        <p:nvSpPr>
          <p:cNvPr id="29" name="Text 27"/>
          <p:cNvSpPr txBox="1"/>
          <p:nvPr/>
        </p:nvSpPr>
        <p:spPr>
          <a:xfrm>
            <a:off x="3419856" y="29900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LightGBM</a:t>
            </a:r>
            <a:endParaRPr lang="en-US" sz="1500" dirty="0"/>
          </a:p>
        </p:txBody>
      </p:sp>
      <p:sp>
        <p:nvSpPr>
          <p:cNvPr id="30" name="Text 28"/>
          <p:cNvSpPr txBox="1"/>
          <p:nvPr/>
        </p:nvSpPr>
        <p:spPr>
          <a:xfrm>
            <a:off x="3419856" y="3566160"/>
            <a:ext cx="2468880" cy="365760"/>
          </a:xfrm>
          <a:prstGeom prst="rect">
            <a:avLst/>
          </a:prstGeom>
          <a:noFill/>
          <a:ln/>
        </p:spPr>
        <p:txBody>
          <a:bodyPr wrap="square" lIns="0" tIns="0" rIns="0" bIns="0" rtlCol="0" anchor="t"/>
          <a:lstStyle/>
          <a:p>
            <a:pPr marL="0" indent="0">
              <a:buNone/>
            </a:pPr>
            <a:r>
              <a:rPr lang="en-US" sz="1300" dirty="0">
                <a:solidFill>
                  <a:schemeClr val="tx1"/>
                </a:solidFill>
              </a:rPr>
              <a:t>Efficient gradient boosting</a:t>
            </a:r>
            <a:endParaRPr lang="en-US" sz="1300" dirty="0"/>
          </a:p>
        </p:txBody>
      </p:sp>
      <p:sp>
        <p:nvSpPr>
          <p:cNvPr id="31" name="Shape 29"/>
          <p:cNvSpPr/>
          <p:nvPr/>
        </p:nvSpPr>
        <p:spPr>
          <a:xfrm>
            <a:off x="3419856" y="3977640"/>
            <a:ext cx="1554480" cy="256032"/>
          </a:xfrm>
          <a:prstGeom prst="roundRect">
            <a:avLst>
              <a:gd name="adj" fmla="val 28571"/>
            </a:avLst>
          </a:prstGeom>
          <a:solidFill>
            <a:srgbClr val="B3262E"/>
          </a:solidFill>
          <a:ln w="6350">
            <a:solidFill>
              <a:srgbClr val="B3262E"/>
            </a:solidFill>
            <a:prstDash val="solid"/>
          </a:ln>
        </p:spPr>
      </p:sp>
      <p:sp>
        <p:nvSpPr>
          <p:cNvPr id="32" name="Text 30"/>
          <p:cNvSpPr txBox="1"/>
          <p:nvPr/>
        </p:nvSpPr>
        <p:spPr>
          <a:xfrm>
            <a:off x="3419856" y="3977640"/>
            <a:ext cx="1554480" cy="256032"/>
          </a:xfrm>
          <a:prstGeom prst="rect">
            <a:avLst/>
          </a:prstGeom>
          <a:noFill/>
          <a:ln/>
        </p:spPr>
        <p:txBody>
          <a:bodyPr wrap="square" lIns="0" tIns="0" rIns="0" bIns="0" rtlCol="0" anchor="ctr"/>
          <a:lstStyle/>
          <a:p>
            <a:pPr marL="0" indent="0" algn="ctr">
              <a:buNone/>
            </a:pPr>
            <a:r>
              <a:rPr lang="en-US" sz="1000" b="1" dirty="0">
                <a:solidFill>
                  <a:schemeClr val="bg1"/>
                </a:solidFill>
              </a:rPr>
              <a:t>Hybrid base model</a:t>
            </a:r>
            <a:endParaRPr lang="en-US" sz="1000" dirty="0"/>
          </a:p>
        </p:txBody>
      </p:sp>
      <p:sp>
        <p:nvSpPr>
          <p:cNvPr id="33" name="Shape 31"/>
          <p:cNvSpPr/>
          <p:nvPr/>
        </p:nvSpPr>
        <p:spPr>
          <a:xfrm>
            <a:off x="6163056" y="2880360"/>
            <a:ext cx="2697480" cy="1417320"/>
          </a:xfrm>
          <a:prstGeom prst="rect">
            <a:avLst/>
          </a:prstGeom>
          <a:solidFill>
            <a:schemeClr val="accent4"/>
          </a:solidFill>
          <a:ln w="19050">
            <a:solidFill>
              <a:schemeClr val="accent1"/>
            </a:solidFill>
            <a:prstDash val="solid"/>
          </a:ln>
          <a:effectLst>
            <a:outerShdw blurRad="76200" dist="25400" dir="5400000" algn="bl" rotWithShape="0">
              <a:srgbClr val="000000">
                <a:alpha val="12000"/>
              </a:srgbClr>
            </a:outerShdw>
          </a:effectLst>
        </p:spPr>
      </p:sp>
      <p:sp>
        <p:nvSpPr>
          <p:cNvPr id="34" name="Text 32"/>
          <p:cNvSpPr txBox="1"/>
          <p:nvPr/>
        </p:nvSpPr>
        <p:spPr>
          <a:xfrm>
            <a:off x="6272784" y="2990088"/>
            <a:ext cx="2468880" cy="54864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CatBoost</a:t>
            </a:r>
            <a:endParaRPr lang="en-US" sz="1500" dirty="0"/>
          </a:p>
        </p:txBody>
      </p:sp>
      <p:sp>
        <p:nvSpPr>
          <p:cNvPr id="35" name="Text 33"/>
          <p:cNvSpPr txBox="1"/>
          <p:nvPr/>
        </p:nvSpPr>
        <p:spPr>
          <a:xfrm>
            <a:off x="6272784" y="3566160"/>
            <a:ext cx="2468880" cy="365760"/>
          </a:xfrm>
          <a:prstGeom prst="rect">
            <a:avLst/>
          </a:prstGeom>
          <a:noFill/>
          <a:ln/>
        </p:spPr>
        <p:txBody>
          <a:bodyPr wrap="square" lIns="0" tIns="0" rIns="0" bIns="0" rtlCol="0" anchor="t"/>
          <a:lstStyle/>
          <a:p>
            <a:pPr marL="0" indent="0">
              <a:buNone/>
            </a:pPr>
            <a:r>
              <a:rPr lang="en-US" sz="1300" dirty="0">
                <a:solidFill>
                  <a:schemeClr val="tx1"/>
                </a:solidFill>
              </a:rPr>
              <a:t>Ordered-boosting gradient trees</a:t>
            </a:r>
            <a:endParaRPr lang="en-US" sz="1300" dirty="0"/>
          </a:p>
        </p:txBody>
      </p:sp>
      <p:sp>
        <p:nvSpPr>
          <p:cNvPr id="36" name="Shape 34"/>
          <p:cNvSpPr/>
          <p:nvPr/>
        </p:nvSpPr>
        <p:spPr>
          <a:xfrm>
            <a:off x="6272784" y="3977640"/>
            <a:ext cx="1554480" cy="256032"/>
          </a:xfrm>
          <a:prstGeom prst="roundRect">
            <a:avLst>
              <a:gd name="adj" fmla="val 28571"/>
            </a:avLst>
          </a:prstGeom>
          <a:solidFill>
            <a:srgbClr val="B3262E"/>
          </a:solidFill>
          <a:ln w="6350">
            <a:solidFill>
              <a:srgbClr val="B3262E"/>
            </a:solidFill>
            <a:prstDash val="solid"/>
          </a:ln>
        </p:spPr>
      </p:sp>
      <p:sp>
        <p:nvSpPr>
          <p:cNvPr id="37" name="Text 35"/>
          <p:cNvSpPr txBox="1"/>
          <p:nvPr/>
        </p:nvSpPr>
        <p:spPr>
          <a:xfrm>
            <a:off x="6272784" y="3977640"/>
            <a:ext cx="1554480" cy="256032"/>
          </a:xfrm>
          <a:prstGeom prst="rect">
            <a:avLst/>
          </a:prstGeom>
          <a:noFill/>
          <a:ln/>
        </p:spPr>
        <p:txBody>
          <a:bodyPr wrap="square" lIns="0" tIns="0" rIns="0" bIns="0" rtlCol="0" anchor="ctr"/>
          <a:lstStyle/>
          <a:p>
            <a:pPr marL="0" indent="0" algn="ctr">
              <a:buNone/>
            </a:pPr>
            <a:r>
              <a:rPr lang="en-US" sz="1000" b="1" dirty="0">
                <a:solidFill>
                  <a:schemeClr val="bg1"/>
                </a:solidFill>
              </a:rPr>
              <a:t>Hybrid base model</a:t>
            </a:r>
            <a:endParaRPr lang="en-US" sz="1000" dirty="0"/>
          </a:p>
        </p:txBody>
      </p:sp>
      <p:sp>
        <p:nvSpPr>
          <p:cNvPr id="38" name="Shape 36"/>
          <p:cNvSpPr/>
          <p:nvPr/>
        </p:nvSpPr>
        <p:spPr>
          <a:xfrm>
            <a:off x="9034272" y="2880360"/>
            <a:ext cx="2715768" cy="1417320"/>
          </a:xfrm>
          <a:prstGeom prst="rect">
            <a:avLst/>
          </a:prstGeom>
          <a:solidFill>
            <a:schemeClr val="bg2"/>
          </a:solidFill>
          <a:ln w="9525">
            <a:solidFill>
              <a:schemeClr val="accent4"/>
            </a:solidFill>
            <a:prstDash val="solid"/>
          </a:ln>
        </p:spPr>
      </p:sp>
      <p:sp>
        <p:nvSpPr>
          <p:cNvPr id="39" name="Text 37"/>
          <p:cNvSpPr txBox="1"/>
          <p:nvPr/>
        </p:nvSpPr>
        <p:spPr>
          <a:xfrm>
            <a:off x="9125712" y="2880360"/>
            <a:ext cx="2532888" cy="1417320"/>
          </a:xfrm>
          <a:prstGeom prst="rect">
            <a:avLst/>
          </a:prstGeom>
          <a:noFill/>
          <a:ln/>
        </p:spPr>
        <p:txBody>
          <a:bodyPr wrap="square" lIns="0" tIns="0" rIns="0" bIns="0" rtlCol="0" anchor="ctr"/>
          <a:lstStyle/>
          <a:p>
            <a:pPr marL="0" indent="0" algn="ctr">
              <a:buNone/>
            </a:pPr>
            <a:r>
              <a:rPr lang="en-US" sz="1600" b="1" dirty="0">
                <a:solidFill>
                  <a:schemeClr val="accent1"/>
                </a:solidFill>
                <a:latin typeface="Cambria" pitchFamily="34" charset="0"/>
                <a:ea typeface="Cambria" pitchFamily="34" charset="-122"/>
                <a:cs typeface="Cambria" pitchFamily="34" charset="-120"/>
              </a:rPr>
              <a:t>7 models compared;</a:t>
            </a:r>
            <a:endParaRPr lang="en-US" sz="1600" dirty="0"/>
          </a:p>
          <a:p>
            <a:pPr marL="0" indent="0" algn="ctr">
              <a:buNone/>
            </a:pPr>
            <a:r>
              <a:rPr lang="en-US" sz="1600" b="1" dirty="0">
                <a:solidFill>
                  <a:schemeClr val="accent1"/>
                </a:solidFill>
                <a:latin typeface="Cambria" pitchFamily="34" charset="0"/>
                <a:ea typeface="Cambria" pitchFamily="34" charset="-122"/>
                <a:cs typeface="Cambria" pitchFamily="34" charset="-120"/>
              </a:rPr>
              <a:t>5 feed the hybrid</a:t>
            </a:r>
            <a:endParaRPr lang="en-US" sz="1600" dirty="0"/>
          </a:p>
        </p:txBody>
      </p:sp>
      <p:sp>
        <p:nvSpPr>
          <p:cNvPr id="40" name="Shape 38"/>
          <p:cNvSpPr/>
          <p:nvPr/>
        </p:nvSpPr>
        <p:spPr>
          <a:xfrm>
            <a:off x="457200" y="4526280"/>
            <a:ext cx="11292840" cy="548640"/>
          </a:xfrm>
          <a:prstGeom prst="rect">
            <a:avLst/>
          </a:prstGeom>
          <a:solidFill>
            <a:srgbClr val="F6E7C8"/>
          </a:solidFill>
          <a:ln w="6350">
            <a:solidFill>
              <a:srgbClr val="F6E7C8"/>
            </a:solidFill>
            <a:prstDash val="solid"/>
          </a:ln>
        </p:spPr>
      </p:sp>
      <p:sp>
        <p:nvSpPr>
          <p:cNvPr id="41" name="Text 39"/>
          <p:cNvSpPr txBox="1"/>
          <p:nvPr/>
        </p:nvSpPr>
        <p:spPr>
          <a:xfrm>
            <a:off x="2231136" y="3918204"/>
            <a:ext cx="10927080" cy="548640"/>
          </a:xfrm>
          <a:prstGeom prst="rect">
            <a:avLst/>
          </a:prstGeom>
          <a:noFill/>
          <a:ln/>
        </p:spPr>
        <p:txBody>
          <a:bodyPr wrap="square" lIns="0" tIns="0" rIns="0" bIns="0" rtlCol="0" anchor="ctr"/>
          <a:lstStyle/>
          <a:p>
            <a:pPr marL="0" indent="0">
              <a:buNone/>
            </a:pPr>
            <a:r>
              <a:rPr lang="en-US" sz="1400" dirty="0">
                <a:solidFill>
                  <a:srgbClr val="5A3E0A"/>
                </a:solidFill>
                <a:latin typeface="Calibri" pitchFamily="34" charset="0"/>
                <a:ea typeface="Calibri" pitchFamily="34" charset="-122"/>
                <a:cs typeface="Calibri" pitchFamily="34" charset="-120"/>
              </a:rPr>
              <a:t>Implementation note: SGDClassifier(loss='modified_huber'), a linear model. It is not sklearn.svm.SVC.</a:t>
            </a:r>
            <a:endParaRPr lang="en-US" sz="1400" dirty="0"/>
          </a:p>
        </p:txBody>
      </p:sp>
      <p:sp>
        <p:nvSpPr>
          <p:cNvPr id="42" name="Text 40"/>
          <p:cNvSpPr txBox="1"/>
          <p:nvPr/>
        </p:nvSpPr>
        <p:spPr>
          <a:xfrm>
            <a:off x="457200" y="5212080"/>
            <a:ext cx="11292840" cy="114300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1"/>
                </a:solidFill>
              </a:rPr>
              <a:t>Consistent dataset split for every model; multiple metrics for every model.</a:t>
            </a:r>
            <a:endParaRPr lang="en-US" sz="1500" dirty="0"/>
          </a:p>
          <a:p>
            <a:pPr marL="342900" indent="-342900">
              <a:spcAft>
                <a:spcPts val="300"/>
              </a:spcAft>
              <a:buSzPct val="100000"/>
              <a:buChar char="•"/>
            </a:pPr>
            <a:r>
              <a:rPr lang="en-US" sz="1500" dirty="0">
                <a:solidFill>
                  <a:schemeClr val="tx1"/>
                </a:solidFill>
              </a:rPr>
              <a:t>Hyperparameter optimisation is documented for the tuned models.</a:t>
            </a:r>
            <a:endParaRPr lang="en-US" sz="1500" dirty="0"/>
          </a:p>
          <a:p>
            <a:pPr marL="342900" indent="-342900">
              <a:spcAft>
                <a:spcPts val="300"/>
              </a:spcAft>
              <a:buSzPct val="100000"/>
              <a:buChar char="•"/>
            </a:pPr>
            <a:r>
              <a:rPr lang="en-US" sz="1500" dirty="0">
                <a:solidFill>
                  <a:schemeClr val="tx1"/>
                </a:solidFill>
              </a:rPr>
              <a:t>Hybrid components: SGD Modified Huber, Random Forest, XGBoost, LightGBM, CatBoost. [Component list pending code verification]</a:t>
            </a:r>
            <a:endParaRPr lang="en-US" sz="1500" dirty="0"/>
          </a:p>
        </p:txBody>
      </p:sp>
      <p:sp>
        <p:nvSpPr>
          <p:cNvPr id="43"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FAILURE-AWARE HYBRID ARCHITECTURE</a:t>
            </a:r>
            <a:endParaRPr lang="en-US" sz="2400" dirty="0"/>
          </a:p>
        </p:txBody>
      </p:sp>
      <p:sp>
        <p:nvSpPr>
          <p:cNvPr id="3" name="Card 1. Base models"/>
          <p:cNvSpPr/>
          <p:nvPr/>
        </p:nvSpPr>
        <p:spPr>
          <a:xfrm>
            <a:off x="457200" y="128016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Text 2"/>
          <p:cNvSpPr txBox="1"/>
          <p:nvPr/>
        </p:nvSpPr>
        <p:spPr>
          <a:xfrm>
            <a:off x="594360" y="135331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1. Base models</a:t>
            </a:r>
            <a:endParaRPr lang="en-US" sz="1500" dirty="0"/>
          </a:p>
        </p:txBody>
      </p:sp>
      <p:sp>
        <p:nvSpPr>
          <p:cNvPr id="5" name="Text 3"/>
          <p:cNvSpPr txBox="1"/>
          <p:nvPr/>
        </p:nvSpPr>
        <p:spPr>
          <a:xfrm>
            <a:off x="594360" y="1783080"/>
            <a:ext cx="3383280" cy="1005840"/>
          </a:xfrm>
          <a:prstGeom prst="rect">
            <a:avLst/>
          </a:prstGeom>
          <a:noFill/>
          <a:ln/>
        </p:spPr>
        <p:txBody>
          <a:bodyPr wrap="square" lIns="0" tIns="0" rIns="0" bIns="0" rtlCol="0" anchor="t"/>
          <a:lstStyle/>
          <a:p>
            <a:pPr marL="0" indent="0">
              <a:buNone/>
            </a:pPr>
            <a:r>
              <a:rPr lang="en-US" sz="1500" dirty="0">
                <a:solidFill>
                  <a:schemeClr val="tx1"/>
                </a:solidFill>
              </a:rPr>
              <a:t>SGD Modified Huber, Random Forest, XGBoost, LightGBM, CatBoost</a:t>
            </a:r>
            <a:endParaRPr lang="en-US" sz="1500" dirty="0"/>
          </a:p>
        </p:txBody>
      </p:sp>
      <p:sp>
        <p:nvSpPr>
          <p:cNvPr id="6" name="Card 2. Out-of-fold predictions"/>
          <p:cNvSpPr/>
          <p:nvPr/>
        </p:nvSpPr>
        <p:spPr>
          <a:xfrm>
            <a:off x="4251960" y="128016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7" name="Text 5"/>
          <p:cNvSpPr txBox="1"/>
          <p:nvPr/>
        </p:nvSpPr>
        <p:spPr>
          <a:xfrm>
            <a:off x="4389120" y="135331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2. Out-of-fold predictions</a:t>
            </a:r>
            <a:endParaRPr lang="en-US" sz="1500" dirty="0"/>
          </a:p>
        </p:txBody>
      </p:sp>
      <p:sp>
        <p:nvSpPr>
          <p:cNvPr id="8" name="Text 6"/>
          <p:cNvSpPr txBox="1"/>
          <p:nvPr/>
        </p:nvSpPr>
        <p:spPr>
          <a:xfrm>
            <a:off x="4389120" y="1783080"/>
            <a:ext cx="3383280" cy="1005840"/>
          </a:xfrm>
          <a:prstGeom prst="rect">
            <a:avLst/>
          </a:prstGeom>
          <a:noFill/>
          <a:ln/>
        </p:spPr>
        <p:txBody>
          <a:bodyPr wrap="square" lIns="0" tIns="0" rIns="0" bIns="0" rtlCol="0" anchor="t"/>
          <a:lstStyle/>
          <a:p>
            <a:pPr marL="0" indent="0">
              <a:buNone/>
            </a:pPr>
            <a:r>
              <a:rPr lang="en-US" sz="1500" dirty="0">
                <a:solidFill>
                  <a:schemeClr val="tx1"/>
                </a:solidFill>
              </a:rPr>
              <a:t>Cross-validated three-class probabilities; same generation at train and test</a:t>
            </a:r>
            <a:endParaRPr lang="en-US" sz="1500" dirty="0"/>
          </a:p>
        </p:txBody>
      </p:sp>
      <p:sp>
        <p:nvSpPr>
          <p:cNvPr id="9" name="Card 3. Model behaviour"/>
          <p:cNvSpPr/>
          <p:nvPr/>
        </p:nvSpPr>
        <p:spPr>
          <a:xfrm>
            <a:off x="8046720" y="128016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0" name="Text 8"/>
          <p:cNvSpPr txBox="1"/>
          <p:nvPr/>
        </p:nvSpPr>
        <p:spPr>
          <a:xfrm>
            <a:off x="8183880" y="135331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3. Model behaviour</a:t>
            </a:r>
            <a:endParaRPr lang="en-US" sz="1500" dirty="0"/>
          </a:p>
        </p:txBody>
      </p:sp>
      <p:sp>
        <p:nvSpPr>
          <p:cNvPr id="11" name="Text 9"/>
          <p:cNvSpPr txBox="1"/>
          <p:nvPr/>
        </p:nvSpPr>
        <p:spPr>
          <a:xfrm>
            <a:off x="8183880" y="1783080"/>
            <a:ext cx="3383280" cy="1005840"/>
          </a:xfrm>
          <a:prstGeom prst="rect">
            <a:avLst/>
          </a:prstGeom>
          <a:noFill/>
          <a:ln/>
        </p:spPr>
        <p:txBody>
          <a:bodyPr wrap="square" lIns="0" tIns="0" rIns="0" bIns="0" rtlCol="0" anchor="t"/>
          <a:lstStyle/>
          <a:p>
            <a:pPr marL="0" indent="0">
              <a:buNone/>
            </a:pPr>
            <a:r>
              <a:rPr lang="en-US" sz="1500" dirty="0">
                <a:solidFill>
                  <a:schemeClr val="tx1"/>
                </a:solidFill>
              </a:rPr>
              <a:t>Confidence, margins, entropy, agreement and disagreement, error overlap (where validly computed)</a:t>
            </a:r>
            <a:endParaRPr lang="en-US" sz="1500" dirty="0"/>
          </a:p>
        </p:txBody>
      </p:sp>
      <p:sp>
        <p:nvSpPr>
          <p:cNvPr id="12" name="Card 4. Meta-features"/>
          <p:cNvSpPr/>
          <p:nvPr/>
        </p:nvSpPr>
        <p:spPr>
          <a:xfrm>
            <a:off x="457200" y="297180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3" name="Text 11"/>
          <p:cNvSpPr txBox="1"/>
          <p:nvPr/>
        </p:nvSpPr>
        <p:spPr>
          <a:xfrm>
            <a:off x="594360" y="304495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4. Meta-features</a:t>
            </a:r>
            <a:endParaRPr lang="en-US" sz="1500" dirty="0"/>
          </a:p>
        </p:txBody>
      </p:sp>
      <p:sp>
        <p:nvSpPr>
          <p:cNvPr id="14" name="Text 12"/>
          <p:cNvSpPr txBox="1"/>
          <p:nvPr/>
        </p:nvSpPr>
        <p:spPr>
          <a:xfrm>
            <a:off x="594360" y="3474720"/>
            <a:ext cx="3383280" cy="1005840"/>
          </a:xfrm>
          <a:prstGeom prst="rect">
            <a:avLst/>
          </a:prstGeom>
          <a:noFill/>
          <a:ln/>
        </p:spPr>
        <p:txBody>
          <a:bodyPr wrap="square" lIns="0" tIns="0" rIns="0" bIns="0" rtlCol="0" anchor="t"/>
          <a:lstStyle/>
          <a:p>
            <a:pPr marL="0" indent="0">
              <a:buNone/>
            </a:pPr>
            <a:r>
              <a:rPr lang="en-US" sz="1500" dirty="0">
                <a:solidFill>
                  <a:schemeClr val="tx1"/>
                </a:solidFill>
              </a:rPr>
              <a:t>Production run reports 50 meta-features. Names and decomposition: verify from source code</a:t>
            </a:r>
            <a:endParaRPr lang="en-US" sz="1500" dirty="0"/>
          </a:p>
        </p:txBody>
      </p:sp>
      <p:sp>
        <p:nvSpPr>
          <p:cNvPr id="15" name="Card 5. Meta-learner"/>
          <p:cNvSpPr/>
          <p:nvPr/>
        </p:nvSpPr>
        <p:spPr>
          <a:xfrm>
            <a:off x="4251960" y="297180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6" name="Text 14"/>
          <p:cNvSpPr txBox="1"/>
          <p:nvPr/>
        </p:nvSpPr>
        <p:spPr>
          <a:xfrm>
            <a:off x="4389120" y="304495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5. Meta-learner</a:t>
            </a:r>
            <a:endParaRPr lang="en-US" sz="1500" dirty="0"/>
          </a:p>
        </p:txBody>
      </p:sp>
      <p:sp>
        <p:nvSpPr>
          <p:cNvPr id="17" name="Text 15"/>
          <p:cNvSpPr txBox="1"/>
          <p:nvPr/>
        </p:nvSpPr>
        <p:spPr>
          <a:xfrm>
            <a:off x="4389120" y="3474720"/>
            <a:ext cx="3383280" cy="1005840"/>
          </a:xfrm>
          <a:prstGeom prst="rect">
            <a:avLst/>
          </a:prstGeom>
          <a:noFill/>
          <a:ln/>
        </p:spPr>
        <p:txBody>
          <a:bodyPr wrap="square" lIns="0" tIns="0" rIns="0" bIns="0" rtlCol="0" anchor="t"/>
          <a:lstStyle/>
          <a:p>
            <a:pPr marL="0" indent="0">
              <a:buNone/>
            </a:pPr>
            <a:r>
              <a:rPr lang="en-US" sz="1500" dirty="0">
                <a:solidFill>
                  <a:schemeClr val="tx1"/>
                </a:solidFill>
              </a:rPr>
              <a:t>Balanced Logistic Regression gives the final three-class prediction</a:t>
            </a:r>
            <a:endParaRPr lang="en-US" sz="1500" dirty="0"/>
          </a:p>
        </p:txBody>
      </p:sp>
      <p:sp>
        <p:nvSpPr>
          <p:cNvPr id="18" name="Card 6. Comparison"/>
          <p:cNvSpPr/>
          <p:nvPr/>
        </p:nvSpPr>
        <p:spPr>
          <a:xfrm>
            <a:off x="8046720" y="2971800"/>
            <a:ext cx="365760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9" name="Text 17"/>
          <p:cNvSpPr txBox="1"/>
          <p:nvPr/>
        </p:nvSpPr>
        <p:spPr>
          <a:xfrm>
            <a:off x="8183880" y="3044952"/>
            <a:ext cx="338328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6. Comparison</a:t>
            </a:r>
            <a:endParaRPr lang="en-US" sz="1500" dirty="0"/>
          </a:p>
        </p:txBody>
      </p:sp>
      <p:sp>
        <p:nvSpPr>
          <p:cNvPr id="20" name="Text 18"/>
          <p:cNvSpPr txBox="1"/>
          <p:nvPr/>
        </p:nvSpPr>
        <p:spPr>
          <a:xfrm>
            <a:off x="8183880" y="3474720"/>
            <a:ext cx="3383280" cy="1005840"/>
          </a:xfrm>
          <a:prstGeom prst="rect">
            <a:avLst/>
          </a:prstGeom>
          <a:noFill/>
          <a:ln/>
        </p:spPr>
        <p:txBody>
          <a:bodyPr wrap="square" lIns="0" tIns="0" rIns="0" bIns="0" rtlCol="0" anchor="t"/>
          <a:lstStyle/>
          <a:p>
            <a:pPr marL="0" indent="0">
              <a:buNone/>
            </a:pPr>
            <a:r>
              <a:rPr lang="en-US" sz="1500" dirty="0">
                <a:solidFill>
                  <a:schemeClr val="tx1"/>
                </a:solidFill>
              </a:rPr>
              <a:t>Individual models, soft voting and standard stacking</a:t>
            </a:r>
            <a:endParaRPr lang="en-US" sz="1500" dirty="0"/>
          </a:p>
        </p:txBody>
      </p:sp>
      <p:sp>
        <p:nvSpPr>
          <p:cNvPr id="21" name="Shape 19"/>
          <p:cNvSpPr/>
          <p:nvPr/>
        </p:nvSpPr>
        <p:spPr>
          <a:xfrm>
            <a:off x="457200" y="4754880"/>
            <a:ext cx="2011680" cy="685800"/>
          </a:xfrm>
          <a:prstGeom prst="roundRect">
            <a:avLst>
              <a:gd name="adj" fmla="val 10667"/>
            </a:avLst>
          </a:prstGeom>
          <a:solidFill>
            <a:schemeClr val="tx2"/>
          </a:solidFill>
          <a:ln/>
        </p:spPr>
      </p:sp>
      <p:sp>
        <p:nvSpPr>
          <p:cNvPr id="22" name="Text 20"/>
          <p:cNvSpPr txBox="1"/>
          <p:nvPr/>
        </p:nvSpPr>
        <p:spPr>
          <a:xfrm>
            <a:off x="457200" y="4754880"/>
            <a:ext cx="2011680" cy="685800"/>
          </a:xfrm>
          <a:prstGeom prst="rect">
            <a:avLst/>
          </a:prstGeom>
          <a:noFill/>
          <a:ln/>
        </p:spPr>
        <p:txBody>
          <a:bodyPr wrap="square" lIns="38100" tIns="38100" rIns="38100" bIns="38100" rtlCol="0" anchor="ctr"/>
          <a:lstStyle/>
          <a:p>
            <a:pPr marL="0" indent="0" algn="ctr">
              <a:buNone/>
            </a:pPr>
            <a:r>
              <a:rPr lang="en-US" sz="1250" b="1" dirty="0">
                <a:solidFill>
                  <a:schemeClr val="bg1"/>
                </a:solidFill>
              </a:rPr>
              <a:t>Five base models</a:t>
            </a:r>
            <a:endParaRPr lang="en-US" sz="1250" dirty="0"/>
          </a:p>
        </p:txBody>
      </p:sp>
      <p:sp>
        <p:nvSpPr>
          <p:cNvPr id="23" name="Shape 21"/>
          <p:cNvSpPr/>
          <p:nvPr/>
        </p:nvSpPr>
        <p:spPr>
          <a:xfrm>
            <a:off x="2468880" y="5097780"/>
            <a:ext cx="274320" cy="0"/>
          </a:xfrm>
          <a:prstGeom prst="line">
            <a:avLst/>
          </a:prstGeom>
          <a:noFill/>
          <a:ln w="19050">
            <a:solidFill>
              <a:srgbClr val="7A1F2B"/>
            </a:solidFill>
            <a:prstDash val="solid"/>
            <a:tailEnd type="triangle"/>
          </a:ln>
        </p:spPr>
      </p:sp>
      <p:sp>
        <p:nvSpPr>
          <p:cNvPr id="24" name="Shape 22"/>
          <p:cNvSpPr/>
          <p:nvPr/>
        </p:nvSpPr>
        <p:spPr>
          <a:xfrm>
            <a:off x="2743200" y="4754880"/>
            <a:ext cx="2011680" cy="685800"/>
          </a:xfrm>
          <a:prstGeom prst="roundRect">
            <a:avLst>
              <a:gd name="adj" fmla="val 10667"/>
            </a:avLst>
          </a:prstGeom>
          <a:solidFill>
            <a:schemeClr val="tx2"/>
          </a:solidFill>
          <a:ln/>
        </p:spPr>
      </p:sp>
      <p:sp>
        <p:nvSpPr>
          <p:cNvPr id="25" name="Text 23"/>
          <p:cNvSpPr txBox="1"/>
          <p:nvPr/>
        </p:nvSpPr>
        <p:spPr>
          <a:xfrm>
            <a:off x="2743200" y="4754880"/>
            <a:ext cx="2011680" cy="685800"/>
          </a:xfrm>
          <a:prstGeom prst="rect">
            <a:avLst/>
          </a:prstGeom>
          <a:noFill/>
          <a:ln/>
        </p:spPr>
        <p:txBody>
          <a:bodyPr wrap="square" lIns="38100" tIns="38100" rIns="38100" bIns="38100" rtlCol="0" anchor="ctr"/>
          <a:lstStyle/>
          <a:p>
            <a:pPr marL="0" indent="0" algn="ctr">
              <a:buNone/>
            </a:pPr>
            <a:r>
              <a:rPr lang="en-US" sz="1250" b="1" dirty="0">
                <a:solidFill>
                  <a:schemeClr val="bg1"/>
                </a:solidFill>
              </a:rPr>
              <a:t>OOF predictions</a:t>
            </a:r>
            <a:endParaRPr lang="en-US" sz="1250" dirty="0"/>
          </a:p>
        </p:txBody>
      </p:sp>
      <p:sp>
        <p:nvSpPr>
          <p:cNvPr id="26" name="Shape 24"/>
          <p:cNvSpPr/>
          <p:nvPr/>
        </p:nvSpPr>
        <p:spPr>
          <a:xfrm>
            <a:off x="4754880" y="5097780"/>
            <a:ext cx="274320" cy="0"/>
          </a:xfrm>
          <a:prstGeom prst="line">
            <a:avLst/>
          </a:prstGeom>
          <a:noFill/>
          <a:ln w="19050">
            <a:solidFill>
              <a:srgbClr val="7A1F2B"/>
            </a:solidFill>
            <a:prstDash val="solid"/>
            <a:tailEnd type="triangle"/>
          </a:ln>
        </p:spPr>
      </p:sp>
      <p:sp>
        <p:nvSpPr>
          <p:cNvPr id="27" name="Shape 25"/>
          <p:cNvSpPr/>
          <p:nvPr/>
        </p:nvSpPr>
        <p:spPr>
          <a:xfrm>
            <a:off x="5029200" y="4754880"/>
            <a:ext cx="2011680" cy="685800"/>
          </a:xfrm>
          <a:prstGeom prst="roundRect">
            <a:avLst>
              <a:gd name="adj" fmla="val 10667"/>
            </a:avLst>
          </a:prstGeom>
          <a:solidFill>
            <a:schemeClr val="tx2"/>
          </a:solidFill>
          <a:ln/>
        </p:spPr>
      </p:sp>
      <p:sp>
        <p:nvSpPr>
          <p:cNvPr id="28" name="Text 26"/>
          <p:cNvSpPr txBox="1"/>
          <p:nvPr/>
        </p:nvSpPr>
        <p:spPr>
          <a:xfrm>
            <a:off x="5029200" y="4754880"/>
            <a:ext cx="2011680" cy="685800"/>
          </a:xfrm>
          <a:prstGeom prst="rect">
            <a:avLst/>
          </a:prstGeom>
          <a:noFill/>
          <a:ln/>
        </p:spPr>
        <p:txBody>
          <a:bodyPr wrap="square" lIns="38100" tIns="38100" rIns="38100" bIns="38100" rtlCol="0" anchor="ctr"/>
          <a:lstStyle/>
          <a:p>
            <a:pPr marL="0" indent="0" algn="ctr">
              <a:buNone/>
            </a:pPr>
            <a:r>
              <a:rPr lang="en-US" sz="1250" b="1" dirty="0">
                <a:solidFill>
                  <a:schemeClr val="bg1"/>
                </a:solidFill>
              </a:rPr>
              <a:t>Verified meta-features</a:t>
            </a:r>
            <a:endParaRPr lang="en-US" sz="1250" dirty="0"/>
          </a:p>
        </p:txBody>
      </p:sp>
      <p:sp>
        <p:nvSpPr>
          <p:cNvPr id="29" name="Shape 27"/>
          <p:cNvSpPr/>
          <p:nvPr/>
        </p:nvSpPr>
        <p:spPr>
          <a:xfrm>
            <a:off x="7040880" y="5097780"/>
            <a:ext cx="274320" cy="0"/>
          </a:xfrm>
          <a:prstGeom prst="line">
            <a:avLst/>
          </a:prstGeom>
          <a:noFill/>
          <a:ln w="19050">
            <a:solidFill>
              <a:srgbClr val="7A1F2B"/>
            </a:solidFill>
            <a:prstDash val="solid"/>
            <a:tailEnd type="triangle"/>
          </a:ln>
        </p:spPr>
      </p:sp>
      <p:sp>
        <p:nvSpPr>
          <p:cNvPr id="30" name="Shape 28"/>
          <p:cNvSpPr/>
          <p:nvPr/>
        </p:nvSpPr>
        <p:spPr>
          <a:xfrm>
            <a:off x="7315200" y="4754880"/>
            <a:ext cx="2011680" cy="685800"/>
          </a:xfrm>
          <a:prstGeom prst="roundRect">
            <a:avLst>
              <a:gd name="adj" fmla="val 10667"/>
            </a:avLst>
          </a:prstGeom>
          <a:solidFill>
            <a:schemeClr val="tx2"/>
          </a:solidFill>
          <a:ln/>
        </p:spPr>
      </p:sp>
      <p:sp>
        <p:nvSpPr>
          <p:cNvPr id="31" name="Text 29"/>
          <p:cNvSpPr txBox="1"/>
          <p:nvPr/>
        </p:nvSpPr>
        <p:spPr>
          <a:xfrm>
            <a:off x="7315200" y="4754880"/>
            <a:ext cx="2011680" cy="685800"/>
          </a:xfrm>
          <a:prstGeom prst="rect">
            <a:avLst/>
          </a:prstGeom>
          <a:noFill/>
          <a:ln/>
        </p:spPr>
        <p:txBody>
          <a:bodyPr wrap="square" lIns="38100" tIns="38100" rIns="38100" bIns="38100" rtlCol="0" anchor="ctr"/>
          <a:lstStyle/>
          <a:p>
            <a:pPr marL="0" indent="0" algn="ctr">
              <a:buNone/>
            </a:pPr>
            <a:r>
              <a:rPr lang="en-US" sz="1250" b="1" dirty="0">
                <a:solidFill>
                  <a:schemeClr val="bg1"/>
                </a:solidFill>
              </a:rPr>
              <a:t>Balanced Logistic Regression</a:t>
            </a:r>
            <a:endParaRPr lang="en-US" sz="1250" dirty="0"/>
          </a:p>
        </p:txBody>
      </p:sp>
      <p:sp>
        <p:nvSpPr>
          <p:cNvPr id="32" name="Shape 30"/>
          <p:cNvSpPr/>
          <p:nvPr/>
        </p:nvSpPr>
        <p:spPr>
          <a:xfrm>
            <a:off x="9326880" y="5097780"/>
            <a:ext cx="274320" cy="0"/>
          </a:xfrm>
          <a:prstGeom prst="line">
            <a:avLst/>
          </a:prstGeom>
          <a:noFill/>
          <a:ln w="19050">
            <a:solidFill>
              <a:srgbClr val="7A1F2B"/>
            </a:solidFill>
            <a:prstDash val="solid"/>
            <a:tailEnd type="triangle"/>
          </a:ln>
        </p:spPr>
      </p:sp>
      <p:sp>
        <p:nvSpPr>
          <p:cNvPr id="33" name="Shape 31"/>
          <p:cNvSpPr/>
          <p:nvPr/>
        </p:nvSpPr>
        <p:spPr>
          <a:xfrm>
            <a:off x="9601200" y="4754880"/>
            <a:ext cx="2011680" cy="685800"/>
          </a:xfrm>
          <a:prstGeom prst="roundRect">
            <a:avLst>
              <a:gd name="adj" fmla="val 10667"/>
            </a:avLst>
          </a:prstGeom>
          <a:solidFill>
            <a:schemeClr val="accent1"/>
          </a:solidFill>
          <a:ln/>
        </p:spPr>
      </p:sp>
      <p:sp>
        <p:nvSpPr>
          <p:cNvPr id="34" name="Text 32"/>
          <p:cNvSpPr txBox="1"/>
          <p:nvPr/>
        </p:nvSpPr>
        <p:spPr>
          <a:xfrm>
            <a:off x="9601200" y="4754880"/>
            <a:ext cx="2011680" cy="685800"/>
          </a:xfrm>
          <a:prstGeom prst="rect">
            <a:avLst/>
          </a:prstGeom>
          <a:noFill/>
          <a:ln/>
        </p:spPr>
        <p:txBody>
          <a:bodyPr wrap="square" lIns="38100" tIns="38100" rIns="38100" bIns="38100" rtlCol="0" anchor="ctr"/>
          <a:lstStyle/>
          <a:p>
            <a:pPr marL="0" indent="0" algn="ctr">
              <a:buNone/>
            </a:pPr>
            <a:r>
              <a:rPr lang="en-US" sz="1250" b="1" dirty="0">
                <a:solidFill>
                  <a:schemeClr val="bg1"/>
                </a:solidFill>
              </a:rPr>
              <a:t>Three-class prediction</a:t>
            </a:r>
            <a:endParaRPr lang="en-US" sz="1250" dirty="0"/>
          </a:p>
        </p:txBody>
      </p:sp>
      <p:sp>
        <p:nvSpPr>
          <p:cNvPr id="35" name="Shape 33"/>
          <p:cNvSpPr/>
          <p:nvPr/>
        </p:nvSpPr>
        <p:spPr>
          <a:xfrm>
            <a:off x="457200" y="5623560"/>
            <a:ext cx="11292840" cy="685800"/>
          </a:xfrm>
          <a:prstGeom prst="rect">
            <a:avLst/>
          </a:prstGeom>
          <a:solidFill>
            <a:srgbClr val="F6E7C8"/>
          </a:solidFill>
          <a:ln w="6350">
            <a:solidFill>
              <a:srgbClr val="F6E7C8"/>
            </a:solidFill>
            <a:prstDash val="solid"/>
          </a:ln>
        </p:spPr>
      </p:sp>
      <p:sp>
        <p:nvSpPr>
          <p:cNvPr id="36" name="Text 34"/>
          <p:cNvSpPr txBox="1"/>
          <p:nvPr/>
        </p:nvSpPr>
        <p:spPr>
          <a:xfrm>
            <a:off x="640080" y="5623560"/>
            <a:ext cx="10927080" cy="685800"/>
          </a:xfrm>
          <a:prstGeom prst="rect">
            <a:avLst/>
          </a:prstGeom>
          <a:noFill/>
          <a:ln/>
        </p:spPr>
        <p:txBody>
          <a:bodyPr wrap="square" lIns="0" tIns="0" rIns="0" bIns="0" rtlCol="0" anchor="ctr"/>
          <a:lstStyle/>
          <a:p>
            <a:pPr marL="0" indent="0">
              <a:buNone/>
            </a:pPr>
            <a:r>
              <a:rPr lang="en-US" sz="1300" dirty="0">
                <a:solidFill>
                  <a:srgbClr val="5A3E0A"/>
                </a:solidFill>
                <a:latin typeface="Calibri" pitchFamily="34" charset="0"/>
                <a:ea typeface="Calibri" pitchFamily="34" charset="-122"/>
                <a:cs typeface="Calibri" pitchFamily="34" charset="-120"/>
              </a:rPr>
              <a:t>Audit item: XGBoost out-of-fold predictions were generated without the sample weights used for the final XGBoost model. The corrected experiment has not yet been verified.</a:t>
            </a:r>
            <a:endParaRPr lang="en-US" sz="1300" dirty="0"/>
          </a:p>
        </p:txBody>
      </p:sp>
      <p:sp>
        <p:nvSpPr>
          <p:cNvPr id="37"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DASHBOARD EXECUTION AND FUNCTIONALITY</a:t>
            </a:r>
            <a:endParaRPr lang="en-US" sz="2400" dirty="0"/>
          </a:p>
        </p:txBody>
      </p:sp>
      <p:sp>
        <p:nvSpPr>
          <p:cNvPr id="3" name="Text 1"/>
          <p:cNvSpPr txBox="1"/>
          <p:nvPr/>
        </p:nvSpPr>
        <p:spPr>
          <a:xfrm>
            <a:off x="457200" y="1280160"/>
            <a:ext cx="3657600" cy="384048"/>
          </a:xfrm>
          <a:prstGeom prst="rect">
            <a:avLst/>
          </a:prstGeom>
          <a:noFill/>
          <a:ln/>
        </p:spPr>
        <p:txBody>
          <a:bodyPr wrap="square" lIns="0" tIns="0" rIns="0" bIns="0" rtlCol="0" anchor="ctr"/>
          <a:lstStyle/>
          <a:p>
            <a:pPr marL="0" indent="0">
              <a:buNone/>
            </a:pPr>
            <a:r>
              <a:rPr lang="en-US" sz="1300" dirty="0">
                <a:solidFill>
                  <a:schemeClr val="tx1"/>
                </a:solidFill>
              </a:rPr>
              <a:t>Dataset overview, class distribution</a:t>
            </a:r>
            <a:endParaRPr lang="en-US" sz="1300" dirty="0"/>
          </a:p>
        </p:txBody>
      </p:sp>
      <p:sp>
        <p:nvSpPr>
          <p:cNvPr id="4" name="Shape 2"/>
          <p:cNvSpPr/>
          <p:nvPr/>
        </p:nvSpPr>
        <p:spPr>
          <a:xfrm>
            <a:off x="4160520" y="1344168"/>
            <a:ext cx="1508760" cy="256032"/>
          </a:xfrm>
          <a:prstGeom prst="roundRect">
            <a:avLst>
              <a:gd name="adj" fmla="val 28571"/>
            </a:avLst>
          </a:prstGeom>
          <a:solidFill>
            <a:srgbClr val="B7791F"/>
          </a:solidFill>
          <a:ln w="6350">
            <a:solidFill>
              <a:srgbClr val="B7791F"/>
            </a:solidFill>
            <a:prstDash val="solid"/>
          </a:ln>
        </p:spPr>
      </p:sp>
      <p:sp>
        <p:nvSpPr>
          <p:cNvPr id="5" name="Text 3"/>
          <p:cNvSpPr txBox="1"/>
          <p:nvPr/>
        </p:nvSpPr>
        <p:spPr>
          <a:xfrm>
            <a:off x="4160520" y="13441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Reported in Review 1</a:t>
            </a:r>
            <a:endParaRPr lang="en-US" sz="1000" dirty="0"/>
          </a:p>
        </p:txBody>
      </p:sp>
      <p:sp>
        <p:nvSpPr>
          <p:cNvPr id="6" name="Text 4"/>
          <p:cNvSpPr txBox="1"/>
          <p:nvPr/>
        </p:nvSpPr>
        <p:spPr>
          <a:xfrm>
            <a:off x="457200" y="1737360"/>
            <a:ext cx="3657600" cy="384048"/>
          </a:xfrm>
          <a:prstGeom prst="rect">
            <a:avLst/>
          </a:prstGeom>
          <a:noFill/>
          <a:ln/>
        </p:spPr>
        <p:txBody>
          <a:bodyPr wrap="square" lIns="0" tIns="0" rIns="0" bIns="0" rtlCol="0" anchor="ctr"/>
          <a:lstStyle/>
          <a:p>
            <a:pPr marL="0" indent="0">
              <a:buNone/>
            </a:pPr>
            <a:r>
              <a:rPr lang="en-US" sz="1300" dirty="0">
                <a:solidFill>
                  <a:schemeClr val="tx1"/>
                </a:solidFill>
              </a:rPr>
              <a:t>Diabetes status prediction</a:t>
            </a:r>
            <a:endParaRPr lang="en-US" sz="1300" dirty="0"/>
          </a:p>
        </p:txBody>
      </p:sp>
      <p:sp>
        <p:nvSpPr>
          <p:cNvPr id="7" name="Shape 5"/>
          <p:cNvSpPr/>
          <p:nvPr/>
        </p:nvSpPr>
        <p:spPr>
          <a:xfrm>
            <a:off x="4160520" y="1801368"/>
            <a:ext cx="1508760" cy="256032"/>
          </a:xfrm>
          <a:prstGeom prst="roundRect">
            <a:avLst>
              <a:gd name="adj" fmla="val 28571"/>
            </a:avLst>
          </a:prstGeom>
          <a:solidFill>
            <a:srgbClr val="B7791F"/>
          </a:solidFill>
          <a:ln w="6350">
            <a:solidFill>
              <a:srgbClr val="B7791F"/>
            </a:solidFill>
            <a:prstDash val="solid"/>
          </a:ln>
        </p:spPr>
      </p:sp>
      <p:sp>
        <p:nvSpPr>
          <p:cNvPr id="8" name="Text 6"/>
          <p:cNvSpPr txBox="1"/>
          <p:nvPr/>
        </p:nvSpPr>
        <p:spPr>
          <a:xfrm>
            <a:off x="4160520" y="18013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Reported in Review 1</a:t>
            </a:r>
            <a:endParaRPr lang="en-US" sz="1000" dirty="0"/>
          </a:p>
        </p:txBody>
      </p:sp>
      <p:sp>
        <p:nvSpPr>
          <p:cNvPr id="9" name="Text 7"/>
          <p:cNvSpPr txBox="1"/>
          <p:nvPr/>
        </p:nvSpPr>
        <p:spPr>
          <a:xfrm>
            <a:off x="457200" y="2194560"/>
            <a:ext cx="3657600" cy="384048"/>
          </a:xfrm>
          <a:prstGeom prst="rect">
            <a:avLst/>
          </a:prstGeom>
          <a:noFill/>
          <a:ln/>
        </p:spPr>
        <p:txBody>
          <a:bodyPr wrap="square" lIns="0" tIns="0" rIns="0" bIns="0" rtlCol="0" anchor="ctr"/>
          <a:lstStyle/>
          <a:p>
            <a:pPr marL="0" indent="0">
              <a:buNone/>
            </a:pPr>
            <a:r>
              <a:rPr lang="en-US" sz="1300" dirty="0">
                <a:solidFill>
                  <a:schemeClr val="tx1"/>
                </a:solidFill>
              </a:rPr>
              <a:t>Model and ensemble comparison</a:t>
            </a:r>
            <a:endParaRPr lang="en-US" sz="1300" dirty="0"/>
          </a:p>
        </p:txBody>
      </p:sp>
      <p:sp>
        <p:nvSpPr>
          <p:cNvPr id="10" name="Shape 8"/>
          <p:cNvSpPr/>
          <p:nvPr/>
        </p:nvSpPr>
        <p:spPr>
          <a:xfrm>
            <a:off x="4160520" y="2258568"/>
            <a:ext cx="1508760" cy="256032"/>
          </a:xfrm>
          <a:prstGeom prst="roundRect">
            <a:avLst>
              <a:gd name="adj" fmla="val 28571"/>
            </a:avLst>
          </a:prstGeom>
          <a:solidFill>
            <a:srgbClr val="B7791F"/>
          </a:solidFill>
          <a:ln w="6350">
            <a:solidFill>
              <a:srgbClr val="B7791F"/>
            </a:solidFill>
            <a:prstDash val="solid"/>
          </a:ln>
        </p:spPr>
      </p:sp>
      <p:sp>
        <p:nvSpPr>
          <p:cNvPr id="11" name="Text 9"/>
          <p:cNvSpPr txBox="1"/>
          <p:nvPr/>
        </p:nvSpPr>
        <p:spPr>
          <a:xfrm>
            <a:off x="4160520" y="22585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Reported in Review 1</a:t>
            </a:r>
            <a:endParaRPr lang="en-US" sz="1000" dirty="0"/>
          </a:p>
        </p:txBody>
      </p:sp>
      <p:sp>
        <p:nvSpPr>
          <p:cNvPr id="12" name="Text 10"/>
          <p:cNvSpPr txBox="1"/>
          <p:nvPr/>
        </p:nvSpPr>
        <p:spPr>
          <a:xfrm>
            <a:off x="457200" y="2651760"/>
            <a:ext cx="3657600" cy="384048"/>
          </a:xfrm>
          <a:prstGeom prst="rect">
            <a:avLst/>
          </a:prstGeom>
          <a:noFill/>
          <a:ln/>
        </p:spPr>
        <p:txBody>
          <a:bodyPr wrap="square" lIns="0" tIns="0" rIns="0" bIns="0" rtlCol="0" anchor="ctr"/>
          <a:lstStyle/>
          <a:p>
            <a:pPr marL="0" indent="0">
              <a:buNone/>
            </a:pPr>
            <a:r>
              <a:rPr lang="en-US" sz="1300" dirty="0">
                <a:solidFill>
                  <a:schemeClr val="tx1"/>
                </a:solidFill>
              </a:rPr>
              <a:t>Confusion matrix, class-wise performance</a:t>
            </a:r>
            <a:endParaRPr lang="en-US" sz="1300" dirty="0"/>
          </a:p>
        </p:txBody>
      </p:sp>
      <p:sp>
        <p:nvSpPr>
          <p:cNvPr id="13" name="Shape 11"/>
          <p:cNvSpPr/>
          <p:nvPr/>
        </p:nvSpPr>
        <p:spPr>
          <a:xfrm>
            <a:off x="4160520" y="2715768"/>
            <a:ext cx="1508760" cy="256032"/>
          </a:xfrm>
          <a:prstGeom prst="roundRect">
            <a:avLst>
              <a:gd name="adj" fmla="val 28571"/>
            </a:avLst>
          </a:prstGeom>
          <a:solidFill>
            <a:srgbClr val="8C8C8C"/>
          </a:solidFill>
          <a:ln w="6350">
            <a:solidFill>
              <a:srgbClr val="8C8C8C"/>
            </a:solidFill>
            <a:prstDash val="solid"/>
          </a:ln>
        </p:spPr>
      </p:sp>
      <p:sp>
        <p:nvSpPr>
          <p:cNvPr id="14" name="Text 12"/>
          <p:cNvSpPr txBox="1"/>
          <p:nvPr/>
        </p:nvSpPr>
        <p:spPr>
          <a:xfrm>
            <a:off x="4160520" y="27157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Confirm status</a:t>
            </a:r>
            <a:endParaRPr lang="en-US" sz="1000" dirty="0"/>
          </a:p>
        </p:txBody>
      </p:sp>
      <p:sp>
        <p:nvSpPr>
          <p:cNvPr id="15" name="Text 13"/>
          <p:cNvSpPr txBox="1"/>
          <p:nvPr/>
        </p:nvSpPr>
        <p:spPr>
          <a:xfrm>
            <a:off x="457200" y="3108960"/>
            <a:ext cx="3657600" cy="384048"/>
          </a:xfrm>
          <a:prstGeom prst="rect">
            <a:avLst/>
          </a:prstGeom>
          <a:noFill/>
          <a:ln/>
        </p:spPr>
        <p:txBody>
          <a:bodyPr wrap="square" lIns="0" tIns="0" rIns="0" bIns="0" rtlCol="0" anchor="ctr"/>
          <a:lstStyle/>
          <a:p>
            <a:pPr marL="0" indent="0">
              <a:buNone/>
            </a:pPr>
            <a:r>
              <a:rPr lang="en-US" sz="1300" dirty="0">
                <a:solidFill>
                  <a:schemeClr val="tx1"/>
                </a:solidFill>
              </a:rPr>
              <a:t>Failure and disagreement analysis</a:t>
            </a:r>
            <a:endParaRPr lang="en-US" sz="1300" dirty="0"/>
          </a:p>
        </p:txBody>
      </p:sp>
      <p:sp>
        <p:nvSpPr>
          <p:cNvPr id="16" name="Shape 14"/>
          <p:cNvSpPr/>
          <p:nvPr/>
        </p:nvSpPr>
        <p:spPr>
          <a:xfrm>
            <a:off x="4160520" y="3172968"/>
            <a:ext cx="1508760" cy="256032"/>
          </a:xfrm>
          <a:prstGeom prst="roundRect">
            <a:avLst>
              <a:gd name="adj" fmla="val 28571"/>
            </a:avLst>
          </a:prstGeom>
          <a:solidFill>
            <a:srgbClr val="B7791F"/>
          </a:solidFill>
          <a:ln w="6350">
            <a:solidFill>
              <a:srgbClr val="B7791F"/>
            </a:solidFill>
            <a:prstDash val="solid"/>
          </a:ln>
        </p:spPr>
      </p:sp>
      <p:sp>
        <p:nvSpPr>
          <p:cNvPr id="17" name="Text 15"/>
          <p:cNvSpPr txBox="1"/>
          <p:nvPr/>
        </p:nvSpPr>
        <p:spPr>
          <a:xfrm>
            <a:off x="4160520" y="31729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Reported in Review 1</a:t>
            </a:r>
            <a:endParaRPr lang="en-US" sz="1000" dirty="0"/>
          </a:p>
        </p:txBody>
      </p:sp>
      <p:sp>
        <p:nvSpPr>
          <p:cNvPr id="18" name="Text 16"/>
          <p:cNvSpPr txBox="1"/>
          <p:nvPr/>
        </p:nvSpPr>
        <p:spPr>
          <a:xfrm>
            <a:off x="457200" y="3566160"/>
            <a:ext cx="3657600" cy="384048"/>
          </a:xfrm>
          <a:prstGeom prst="rect">
            <a:avLst/>
          </a:prstGeom>
          <a:noFill/>
          <a:ln/>
        </p:spPr>
        <p:txBody>
          <a:bodyPr wrap="square" lIns="0" tIns="0" rIns="0" bIns="0" rtlCol="0" anchor="ctr"/>
          <a:lstStyle/>
          <a:p>
            <a:pPr marL="0" indent="0">
              <a:buNone/>
            </a:pPr>
            <a:r>
              <a:rPr lang="en-US" sz="1300" dirty="0">
                <a:solidFill>
                  <a:schemeClr val="tx1"/>
                </a:solidFill>
              </a:rPr>
              <a:t>SHAP global and local; LIME local</a:t>
            </a:r>
            <a:endParaRPr lang="en-US" sz="1300" dirty="0"/>
          </a:p>
        </p:txBody>
      </p:sp>
      <p:sp>
        <p:nvSpPr>
          <p:cNvPr id="19" name="Shape 17"/>
          <p:cNvSpPr/>
          <p:nvPr/>
        </p:nvSpPr>
        <p:spPr>
          <a:xfrm>
            <a:off x="4160520" y="3630168"/>
            <a:ext cx="1508760" cy="256032"/>
          </a:xfrm>
          <a:prstGeom prst="roundRect">
            <a:avLst>
              <a:gd name="adj" fmla="val 28571"/>
            </a:avLst>
          </a:prstGeom>
          <a:solidFill>
            <a:srgbClr val="B7791F"/>
          </a:solidFill>
          <a:ln w="6350">
            <a:solidFill>
              <a:srgbClr val="B7791F"/>
            </a:solidFill>
            <a:prstDash val="solid"/>
          </a:ln>
        </p:spPr>
      </p:sp>
      <p:sp>
        <p:nvSpPr>
          <p:cNvPr id="20" name="Text 18"/>
          <p:cNvSpPr txBox="1"/>
          <p:nvPr/>
        </p:nvSpPr>
        <p:spPr>
          <a:xfrm>
            <a:off x="4160520" y="36301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Reported in Review 1</a:t>
            </a:r>
            <a:endParaRPr lang="en-US" sz="1000" dirty="0"/>
          </a:p>
        </p:txBody>
      </p:sp>
      <p:sp>
        <p:nvSpPr>
          <p:cNvPr id="21" name="Text 19"/>
          <p:cNvSpPr txBox="1"/>
          <p:nvPr/>
        </p:nvSpPr>
        <p:spPr>
          <a:xfrm>
            <a:off x="457200" y="4023360"/>
            <a:ext cx="3657600" cy="384048"/>
          </a:xfrm>
          <a:prstGeom prst="rect">
            <a:avLst/>
          </a:prstGeom>
          <a:noFill/>
          <a:ln/>
        </p:spPr>
        <p:txBody>
          <a:bodyPr wrap="square" lIns="0" tIns="0" rIns="0" bIns="0" rtlCol="0" anchor="ctr"/>
          <a:lstStyle/>
          <a:p>
            <a:pPr marL="0" indent="0">
              <a:buNone/>
            </a:pPr>
            <a:r>
              <a:rPr lang="en-US" sz="1300" dirty="0">
                <a:solidFill>
                  <a:schemeClr val="tx1"/>
                </a:solidFill>
              </a:rPr>
              <a:t>Calibration visualisation</a:t>
            </a:r>
            <a:endParaRPr lang="en-US" sz="1300" dirty="0"/>
          </a:p>
        </p:txBody>
      </p:sp>
      <p:sp>
        <p:nvSpPr>
          <p:cNvPr id="22" name="Shape 20"/>
          <p:cNvSpPr/>
          <p:nvPr/>
        </p:nvSpPr>
        <p:spPr>
          <a:xfrm>
            <a:off x="4160520" y="4087368"/>
            <a:ext cx="1508760" cy="256032"/>
          </a:xfrm>
          <a:prstGeom prst="roundRect">
            <a:avLst>
              <a:gd name="adj" fmla="val 28571"/>
            </a:avLst>
          </a:prstGeom>
          <a:solidFill>
            <a:srgbClr val="8C8C8C"/>
          </a:solidFill>
          <a:ln w="6350">
            <a:solidFill>
              <a:srgbClr val="8C8C8C"/>
            </a:solidFill>
            <a:prstDash val="solid"/>
          </a:ln>
        </p:spPr>
      </p:sp>
      <p:sp>
        <p:nvSpPr>
          <p:cNvPr id="23" name="Text 21"/>
          <p:cNvSpPr txBox="1"/>
          <p:nvPr/>
        </p:nvSpPr>
        <p:spPr>
          <a:xfrm>
            <a:off x="4160520" y="40873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Confirm status</a:t>
            </a:r>
            <a:endParaRPr lang="en-US" sz="1000" dirty="0"/>
          </a:p>
        </p:txBody>
      </p:sp>
      <p:sp>
        <p:nvSpPr>
          <p:cNvPr id="24" name="Text 22"/>
          <p:cNvSpPr txBox="1"/>
          <p:nvPr/>
        </p:nvSpPr>
        <p:spPr>
          <a:xfrm>
            <a:off x="457200" y="4480560"/>
            <a:ext cx="3657600" cy="384048"/>
          </a:xfrm>
          <a:prstGeom prst="rect">
            <a:avLst/>
          </a:prstGeom>
          <a:noFill/>
          <a:ln/>
        </p:spPr>
        <p:txBody>
          <a:bodyPr wrap="square" lIns="0" tIns="0" rIns="0" bIns="0" rtlCol="0" anchor="ctr"/>
          <a:lstStyle/>
          <a:p>
            <a:pPr marL="0" indent="0">
              <a:buNone/>
            </a:pPr>
            <a:r>
              <a:rPr lang="en-US" sz="1300" dirty="0">
                <a:solidFill>
                  <a:schemeClr val="tx1"/>
                </a:solidFill>
              </a:rPr>
              <a:t>Subgroup performance</a:t>
            </a:r>
            <a:endParaRPr lang="en-US" sz="1300" dirty="0"/>
          </a:p>
        </p:txBody>
      </p:sp>
      <p:sp>
        <p:nvSpPr>
          <p:cNvPr id="25" name="Shape 23"/>
          <p:cNvSpPr/>
          <p:nvPr/>
        </p:nvSpPr>
        <p:spPr>
          <a:xfrm>
            <a:off x="4160520" y="4544568"/>
            <a:ext cx="1508760" cy="256032"/>
          </a:xfrm>
          <a:prstGeom prst="roundRect">
            <a:avLst>
              <a:gd name="adj" fmla="val 28571"/>
            </a:avLst>
          </a:prstGeom>
          <a:solidFill>
            <a:srgbClr val="8C8C8C"/>
          </a:solidFill>
          <a:ln w="6350">
            <a:solidFill>
              <a:srgbClr val="8C8C8C"/>
            </a:solidFill>
            <a:prstDash val="solid"/>
          </a:ln>
        </p:spPr>
      </p:sp>
      <p:sp>
        <p:nvSpPr>
          <p:cNvPr id="26" name="Text 24"/>
          <p:cNvSpPr txBox="1"/>
          <p:nvPr/>
        </p:nvSpPr>
        <p:spPr>
          <a:xfrm>
            <a:off x="4160520" y="45445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Confirm status</a:t>
            </a:r>
            <a:endParaRPr lang="en-US" sz="1000" dirty="0"/>
          </a:p>
        </p:txBody>
      </p:sp>
      <p:sp>
        <p:nvSpPr>
          <p:cNvPr id="27" name="Text 25"/>
          <p:cNvSpPr txBox="1"/>
          <p:nvPr/>
        </p:nvSpPr>
        <p:spPr>
          <a:xfrm>
            <a:off x="457200" y="4937760"/>
            <a:ext cx="3657600" cy="384048"/>
          </a:xfrm>
          <a:prstGeom prst="rect">
            <a:avLst/>
          </a:prstGeom>
          <a:noFill/>
          <a:ln/>
        </p:spPr>
        <p:txBody>
          <a:bodyPr wrap="square" lIns="0" tIns="0" rIns="0" bIns="0" rtlCol="0" anchor="ctr"/>
          <a:lstStyle/>
          <a:p>
            <a:pPr marL="0" indent="0">
              <a:buNone/>
            </a:pPr>
            <a:r>
              <a:rPr lang="en-US" sz="1300" dirty="0">
                <a:solidFill>
                  <a:schemeClr val="tx1"/>
                </a:solidFill>
              </a:rPr>
              <a:t>CDC surveillance outputs</a:t>
            </a:r>
            <a:endParaRPr lang="en-US" sz="1300" dirty="0"/>
          </a:p>
        </p:txBody>
      </p:sp>
      <p:sp>
        <p:nvSpPr>
          <p:cNvPr id="28" name="Shape 26"/>
          <p:cNvSpPr/>
          <p:nvPr/>
        </p:nvSpPr>
        <p:spPr>
          <a:xfrm>
            <a:off x="4160520" y="5001768"/>
            <a:ext cx="1508760" cy="256032"/>
          </a:xfrm>
          <a:prstGeom prst="roundRect">
            <a:avLst>
              <a:gd name="adj" fmla="val 28571"/>
            </a:avLst>
          </a:prstGeom>
          <a:solidFill>
            <a:srgbClr val="B3262E"/>
          </a:solidFill>
          <a:ln w="6350">
            <a:solidFill>
              <a:srgbClr val="B3262E"/>
            </a:solidFill>
            <a:prstDash val="solid"/>
          </a:ln>
        </p:spPr>
      </p:sp>
      <p:sp>
        <p:nvSpPr>
          <p:cNvPr id="29" name="Text 27"/>
          <p:cNvSpPr txBox="1"/>
          <p:nvPr/>
        </p:nvSpPr>
        <p:spPr>
          <a:xfrm>
            <a:off x="4160520" y="5001768"/>
            <a:ext cx="1508760" cy="256032"/>
          </a:xfrm>
          <a:prstGeom prst="rect">
            <a:avLst/>
          </a:prstGeom>
          <a:noFill/>
          <a:ln/>
        </p:spPr>
        <p:txBody>
          <a:bodyPr wrap="square" lIns="0" tIns="0" rIns="0" bIns="0" rtlCol="0" anchor="ctr"/>
          <a:lstStyle/>
          <a:p>
            <a:pPr marL="0" indent="0" algn="ctr">
              <a:buNone/>
            </a:pPr>
            <a:r>
              <a:rPr lang="en-US" sz="1000" b="1" dirty="0">
                <a:solidFill>
                  <a:schemeClr val="bg1"/>
                </a:solidFill>
              </a:rPr>
              <a:t>Not supported by data</a:t>
            </a:r>
            <a:endParaRPr lang="en-US" sz="1000" dirty="0"/>
          </a:p>
        </p:txBody>
      </p:sp>
      <p:sp>
        <p:nvSpPr>
          <p:cNvPr id="30" name="Shape 28"/>
          <p:cNvSpPr/>
          <p:nvPr/>
        </p:nvSpPr>
        <p:spPr>
          <a:xfrm>
            <a:off x="5943600" y="1280160"/>
            <a:ext cx="5806440" cy="3566160"/>
          </a:xfrm>
          <a:prstGeom prst="rect">
            <a:avLst/>
          </a:prstGeom>
          <a:solidFill>
            <a:schemeClr val="bg2"/>
          </a:solidFill>
          <a:ln w="15875">
            <a:solidFill>
              <a:schemeClr val="accent1"/>
            </a:solidFill>
            <a:prstDash val="dash"/>
          </a:ln>
        </p:spPr>
      </p:sp>
      <p:sp>
        <p:nvSpPr>
          <p:cNvPr id="31" name="Text 29"/>
          <p:cNvSpPr txBox="1"/>
          <p:nvPr/>
        </p:nvSpPr>
        <p:spPr>
          <a:xfrm>
            <a:off x="5943600" y="1280160"/>
            <a:ext cx="5806440" cy="3566160"/>
          </a:xfrm>
          <a:prstGeom prst="rect">
            <a:avLst/>
          </a:prstGeom>
          <a:noFill/>
          <a:ln/>
        </p:spPr>
        <p:txBody>
          <a:bodyPr wrap="square" lIns="0" tIns="0" rIns="0" bIns="0" rtlCol="0" anchor="ctr"/>
          <a:lstStyle/>
          <a:p>
            <a:pPr marL="0" indent="0" algn="ctr">
              <a:buNone/>
            </a:pPr>
            <a:r>
              <a:rPr lang="en-US" sz="1800" i="1" dirty="0">
                <a:solidFill>
                  <a:schemeClr val="accent3"/>
                </a:solidFill>
                <a:latin typeface="Cambria" pitchFamily="34" charset="0"/>
                <a:ea typeface="Cambria" pitchFamily="34" charset="-122"/>
                <a:cs typeface="Cambria" pitchFamily="34" charset="-120"/>
              </a:rPr>
              <a:t>[Insert actual dashboard screenshot]</a:t>
            </a:r>
            <a:endParaRPr lang="en-US" sz="1800" dirty="0"/>
          </a:p>
        </p:txBody>
      </p:sp>
      <p:sp>
        <p:nvSpPr>
          <p:cNvPr id="32" name="Text 30"/>
          <p:cNvSpPr txBox="1"/>
          <p:nvPr/>
        </p:nvSpPr>
        <p:spPr>
          <a:xfrm>
            <a:off x="457200" y="5394960"/>
            <a:ext cx="5486400" cy="274320"/>
          </a:xfrm>
          <a:prstGeom prst="rect">
            <a:avLst/>
          </a:prstGeom>
          <a:noFill/>
          <a:ln/>
        </p:spPr>
        <p:txBody>
          <a:bodyPr wrap="square" lIns="0" tIns="0" rIns="0" bIns="0" rtlCol="0" anchor="ctr"/>
          <a:lstStyle/>
          <a:p>
            <a:pPr marL="0" indent="0">
              <a:buNone/>
            </a:pPr>
            <a:r>
              <a:rPr lang="en-US" sz="1400" b="1" dirty="0">
                <a:solidFill>
                  <a:schemeClr val="tx2"/>
                </a:solidFill>
                <a:latin typeface="Cambria" pitchFamily="34" charset="0"/>
                <a:ea typeface="Cambria" pitchFamily="34" charset="-122"/>
                <a:cs typeface="Cambria" pitchFamily="34" charset="-120"/>
              </a:rPr>
              <a:t>Validation checklist (tick only after a live run)</a:t>
            </a:r>
            <a:endParaRPr lang="en-US" sz="1400" dirty="0"/>
          </a:p>
        </p:txBody>
      </p:sp>
      <p:sp>
        <p:nvSpPr>
          <p:cNvPr id="33" name="Text 31"/>
          <p:cNvSpPr txBox="1"/>
          <p:nvPr/>
        </p:nvSpPr>
        <p:spPr>
          <a:xfrm>
            <a:off x="457200" y="576072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Starts without errors</a:t>
            </a:r>
            <a:endParaRPr lang="en-US" sz="1150" dirty="0"/>
          </a:p>
        </p:txBody>
      </p:sp>
      <p:sp>
        <p:nvSpPr>
          <p:cNvPr id="34" name="Text 32"/>
          <p:cNvSpPr txBox="1"/>
          <p:nvPr/>
        </p:nvSpPr>
        <p:spPr>
          <a:xfrm>
            <a:off x="3291840" y="576072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Dataset loads correctly</a:t>
            </a:r>
            <a:endParaRPr lang="en-US" sz="1150" dirty="0"/>
          </a:p>
        </p:txBody>
      </p:sp>
      <p:sp>
        <p:nvSpPr>
          <p:cNvPr id="35" name="Text 33"/>
          <p:cNvSpPr txBox="1"/>
          <p:nvPr/>
        </p:nvSpPr>
        <p:spPr>
          <a:xfrm>
            <a:off x="6126480" y="576072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Input validation works</a:t>
            </a:r>
            <a:endParaRPr lang="en-US" sz="1150" dirty="0"/>
          </a:p>
        </p:txBody>
      </p:sp>
      <p:sp>
        <p:nvSpPr>
          <p:cNvPr id="36" name="Text 34"/>
          <p:cNvSpPr txBox="1"/>
          <p:nvPr/>
        </p:nvSpPr>
        <p:spPr>
          <a:xfrm>
            <a:off x="8961120" y="576072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Predictions match the model pipeline</a:t>
            </a:r>
            <a:endParaRPr lang="en-US" sz="1150" dirty="0"/>
          </a:p>
        </p:txBody>
      </p:sp>
      <p:sp>
        <p:nvSpPr>
          <p:cNvPr id="37" name="Text 35"/>
          <p:cNvSpPr txBox="1"/>
          <p:nvPr/>
        </p:nvSpPr>
        <p:spPr>
          <a:xfrm>
            <a:off x="457200" y="603504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Charts render correctly</a:t>
            </a:r>
            <a:endParaRPr lang="en-US" sz="1150" dirty="0"/>
          </a:p>
        </p:txBody>
      </p:sp>
      <p:sp>
        <p:nvSpPr>
          <p:cNvPr id="38" name="Text 36"/>
          <p:cNvSpPr txBox="1"/>
          <p:nvPr/>
        </p:nvSpPr>
        <p:spPr>
          <a:xfrm>
            <a:off x="3291840" y="603504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SHAP/LIME match the intended model</a:t>
            </a:r>
            <a:endParaRPr lang="en-US" sz="1150" dirty="0"/>
          </a:p>
        </p:txBody>
      </p:sp>
      <p:sp>
        <p:nvSpPr>
          <p:cNvPr id="39" name="Text 37"/>
          <p:cNvSpPr txBox="1"/>
          <p:nvPr/>
        </p:nvSpPr>
        <p:spPr>
          <a:xfrm>
            <a:off x="6126480" y="603504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Error handling works</a:t>
            </a:r>
            <a:endParaRPr lang="en-US" sz="1150" dirty="0"/>
          </a:p>
        </p:txBody>
      </p:sp>
      <p:sp>
        <p:nvSpPr>
          <p:cNvPr id="40" name="Text 38"/>
          <p:cNvSpPr txBox="1"/>
          <p:nvPr/>
        </p:nvSpPr>
        <p:spPr>
          <a:xfrm>
            <a:off x="8961120" y="6035040"/>
            <a:ext cx="2788920" cy="274320"/>
          </a:xfrm>
          <a:prstGeom prst="rect">
            <a:avLst/>
          </a:prstGeom>
          <a:noFill/>
          <a:ln/>
        </p:spPr>
        <p:txBody>
          <a:bodyPr wrap="square" lIns="0" tIns="0" rIns="0" bIns="0" rtlCol="0" anchor="ctr"/>
          <a:lstStyle/>
          <a:p>
            <a:pPr marL="0" indent="0">
              <a:buNone/>
            </a:pPr>
            <a:r>
              <a:rPr lang="en-US" sz="1150" dirty="0">
                <a:solidFill>
                  <a:schemeClr val="tx1"/>
                </a:solidFill>
              </a:rPr>
              <a:t>[  ] No unsupported surveillance outputs</a:t>
            </a:r>
            <a:endParaRPr lang="en-US" sz="1150" dirty="0"/>
          </a:p>
        </p:txBody>
      </p:sp>
      <p:sp>
        <p:nvSpPr>
          <p:cNvPr id="41"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10</a:t>
            </a:fld>
            <a:endParaRPr lang="en-US"/>
          </a:p>
        </p:txBody>
      </p:sp>
      <p:pic>
        <p:nvPicPr>
          <p:cNvPr id="43" name="Picture 42">
            <a:extLst>
              <a:ext uri="{FF2B5EF4-FFF2-40B4-BE49-F238E27FC236}">
                <a16:creationId xmlns:a16="http://schemas.microsoft.com/office/drawing/2014/main" id="{23CB12FC-4B7F-F569-7468-0B4D8EABD4FB}"/>
              </a:ext>
            </a:extLst>
          </p:cNvPr>
          <p:cNvPicPr>
            <a:picLocks noChangeAspect="1"/>
          </p:cNvPicPr>
          <p:nvPr/>
        </p:nvPicPr>
        <p:blipFill>
          <a:blip r:embed="rId3"/>
          <a:stretch>
            <a:fillRect/>
          </a:stretch>
        </p:blipFill>
        <p:spPr>
          <a:xfrm>
            <a:off x="5863844" y="1316736"/>
            <a:ext cx="5965951" cy="33558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COMPARATIVE MODEL RESULTS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309360" cy="3621024"/>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marL="0" indent="0" algn="l">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Macro-F1</a:t>
                      </a:r>
                      <a:endParaRPr lang="en-US" sz="1200" dirty="0">
                        <a:latin typeface="Calibri" charset="0"/>
                        <a:ea typeface="Calibri" charset="0"/>
                        <a:cs typeface="Calibri" charset="0"/>
                      </a:endParaRPr>
                    </a:p>
                  </a:txBody>
                  <a:tcP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Bal. Acc.</a:t>
                      </a:r>
                      <a:endParaRPr lang="en-US" sz="1200" dirty="0">
                        <a:latin typeface="Calibri" charset="0"/>
                        <a:ea typeface="Calibri" charset="0"/>
                        <a:cs typeface="Calibri" charset="0"/>
                      </a:endParaRPr>
                    </a:p>
                  </a:txBody>
                  <a:tcP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MCC</a:t>
                      </a:r>
                      <a:endParaRPr lang="en-US" sz="1200" dirty="0">
                        <a:latin typeface="Calibri" charset="0"/>
                        <a:ea typeface="Calibri" charset="0"/>
                        <a:cs typeface="Calibri" charset="0"/>
                      </a:endParaRPr>
                    </a:p>
                  </a:txBody>
                  <a:tcP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0.6414</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0.4257</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0.5189</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0.2920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1"/>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0.5813</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0.3926</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0.4902</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0.2481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0.7004</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0.4301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0.4983</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0.3230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3"/>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SGD Modified Huber</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accent1"/>
                          </a:solidFill>
                          <a:latin typeface="Calibri" pitchFamily="34" charset="0"/>
                          <a:ea typeface="Calibri" pitchFamily="34" charset="-122"/>
                          <a:cs typeface="Calibri" pitchFamily="34" charset="-120"/>
                        </a:rPr>
                        <a:t>0.8014</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0.4472</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0.4711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0.3422</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0.7581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0.4347</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0.4689</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0.3080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5"/>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LightGBM</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0.6430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0.4234</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0.5161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0.2999</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CatBoost</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0.6694</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0.4300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0.5128</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0.3149</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7"/>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Soft Voting</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0.7477</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accent1"/>
                          </a:solidFill>
                          <a:latin typeface="Calibri" pitchFamily="34" charset="0"/>
                          <a:ea typeface="Calibri" pitchFamily="34" charset="-122"/>
                          <a:cs typeface="Calibri" pitchFamily="34" charset="-120"/>
                        </a:rPr>
                        <a:t>0.4476</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0.5028</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accent1"/>
                          </a:solidFill>
                          <a:latin typeface="Calibri" pitchFamily="34" charset="0"/>
                          <a:ea typeface="Calibri" pitchFamily="34" charset="-122"/>
                          <a:cs typeface="Calibri" pitchFamily="34" charset="-120"/>
                        </a:rPr>
                        <a:t>0.3533</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lgn="l">
                        <a:buNone/>
                      </a:pPr>
                      <a:r>
                        <a:rPr lang="en-US" sz="1200" dirty="0">
                          <a:solidFill>
                            <a:schemeClr val="tx1"/>
                          </a:solidFill>
                          <a:latin typeface="Calibri" pitchFamily="34" charset="0"/>
                          <a:ea typeface="Calibri" pitchFamily="34" charset="-122"/>
                          <a:cs typeface="Calibri" pitchFamily="34" charset="-120"/>
                        </a:rPr>
                        <a:t>Standard Stacking</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0.6117</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0.4199</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b="1" dirty="0">
                          <a:solidFill>
                            <a:schemeClr val="accent1"/>
                          </a:solidFill>
                          <a:latin typeface="Calibri" pitchFamily="34" charset="0"/>
                          <a:ea typeface="Calibri" pitchFamily="34" charset="-122"/>
                          <a:cs typeface="Calibri" pitchFamily="34" charset="-120"/>
                        </a:rPr>
                        <a:t>0.5260</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latin typeface="Calibri" pitchFamily="34" charset="0"/>
                          <a:ea typeface="Calibri" pitchFamily="34" charset="-122"/>
                          <a:cs typeface="Calibri" pitchFamily="34" charset="-120"/>
                        </a:rPr>
                        <a:t>0.2946</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9"/>
                  </a:ext>
                </a:extLst>
              </a:tr>
              <a:tr h="329184">
                <a:tc>
                  <a:txBody>
                    <a:bodyPr/>
                    <a:lstStyle/>
                    <a:p>
                      <a:pPr marL="0" indent="0" algn="l">
                        <a:buNone/>
                      </a:pPr>
                      <a:r>
                        <a:rPr lang="en-US" sz="1200" b="1" dirty="0">
                          <a:solidFill>
                            <a:schemeClr val="tx1"/>
                          </a:solidFill>
                          <a:latin typeface="Calibri" pitchFamily="34" charset="0"/>
                          <a:ea typeface="Calibri" pitchFamily="34" charset="-122"/>
                          <a:cs typeface="Calibri" pitchFamily="34" charset="-120"/>
                        </a:rPr>
                        <a:t>Failure-Aware Hybrid</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1DADC"/>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0.6387</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1DADC"/>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0.4241</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1DADC"/>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0.5232</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1DADC"/>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0.2983</a:t>
                      </a:r>
                      <a:endParaRPr lang="en-US" sz="1200" dirty="0">
                        <a:latin typeface="Calibri" charset="0"/>
                        <a:ea typeface="Calibri" charset="0"/>
                        <a:cs typeface="Calibri" charset="0"/>
                      </a:endParaRPr>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1DADC"/>
                    </a:solidFill>
                  </a:tcPr>
                </a:tc>
                <a:extLst>
                  <a:ext uri="{0D108BD9-81ED-4DB2-BD59-A6C34878D82A}">
                    <a16:rowId xmlns:a16="http://schemas.microsoft.com/office/drawing/2014/main" val="10010"/>
                  </a:ext>
                </a:extLst>
              </a:tr>
            </a:tbl>
          </a:graphicData>
        </a:graphic>
      </p:graphicFrame>
      <p:graphicFrame>
        <p:nvGraphicFramePr>
          <p:cNvPr id="4" name="Chart 0"/>
          <p:cNvGraphicFramePr/>
          <p:nvPr/>
        </p:nvGraphicFramePr>
        <p:xfrm>
          <a:off x="6949440" y="1188720"/>
          <a:ext cx="48006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457200" y="5074920"/>
            <a:ext cx="3657600" cy="548640"/>
          </a:xfrm>
          <a:prstGeom prst="rect">
            <a:avLst/>
          </a:prstGeom>
          <a:solidFill>
            <a:schemeClr val="bg2"/>
          </a:solidFill>
          <a:ln w="9525">
            <a:solidFill>
              <a:schemeClr val="accent4"/>
            </a:solidFill>
            <a:prstDash val="solid"/>
          </a:ln>
        </p:spPr>
      </p:sp>
      <p:sp>
        <p:nvSpPr>
          <p:cNvPr id="6" name="Text 2"/>
          <p:cNvSpPr txBox="1"/>
          <p:nvPr/>
        </p:nvSpPr>
        <p:spPr>
          <a:xfrm>
            <a:off x="548640" y="5074920"/>
            <a:ext cx="3474720" cy="548640"/>
          </a:xfrm>
          <a:prstGeom prst="rect">
            <a:avLst/>
          </a:prstGeom>
          <a:noFill/>
          <a:ln/>
        </p:spPr>
        <p:txBody>
          <a:bodyPr wrap="square" lIns="0" tIns="0" rIns="0" bIns="0" rtlCol="0" anchor="ctr"/>
          <a:lstStyle/>
          <a:p>
            <a:pPr marL="0" indent="0">
              <a:buNone/>
            </a:pPr>
            <a:r>
              <a:rPr lang="en-US" sz="1250" b="1" dirty="0">
                <a:solidFill>
                  <a:schemeClr val="tx2"/>
                </a:solidFill>
              </a:rPr>
              <a:t>Highest accuracy: SGD Modified Huber 0.8014</a:t>
            </a:r>
            <a:endParaRPr lang="en-US" sz="1250" dirty="0"/>
          </a:p>
        </p:txBody>
      </p:sp>
      <p:sp>
        <p:nvSpPr>
          <p:cNvPr id="7" name="Shape 3"/>
          <p:cNvSpPr/>
          <p:nvPr/>
        </p:nvSpPr>
        <p:spPr>
          <a:xfrm>
            <a:off x="4251960" y="5074920"/>
            <a:ext cx="3657600" cy="548640"/>
          </a:xfrm>
          <a:prstGeom prst="rect">
            <a:avLst/>
          </a:prstGeom>
          <a:solidFill>
            <a:schemeClr val="bg2"/>
          </a:solidFill>
          <a:ln w="9525">
            <a:solidFill>
              <a:schemeClr val="accent4"/>
            </a:solidFill>
            <a:prstDash val="solid"/>
          </a:ln>
        </p:spPr>
      </p:sp>
      <p:sp>
        <p:nvSpPr>
          <p:cNvPr id="8" name="Text 4"/>
          <p:cNvSpPr txBox="1"/>
          <p:nvPr/>
        </p:nvSpPr>
        <p:spPr>
          <a:xfrm>
            <a:off x="4343400" y="5074920"/>
            <a:ext cx="3474720" cy="548640"/>
          </a:xfrm>
          <a:prstGeom prst="rect">
            <a:avLst/>
          </a:prstGeom>
          <a:noFill/>
          <a:ln/>
        </p:spPr>
        <p:txBody>
          <a:bodyPr wrap="square" lIns="0" tIns="0" rIns="0" bIns="0" rtlCol="0" anchor="ctr"/>
          <a:lstStyle/>
          <a:p>
            <a:pPr marL="0" indent="0">
              <a:buNone/>
            </a:pPr>
            <a:r>
              <a:rPr lang="en-US" sz="1250" b="1" dirty="0">
                <a:solidFill>
                  <a:schemeClr val="tx2"/>
                </a:solidFill>
              </a:rPr>
              <a:t>Highest Macro-F1 and MCC: Soft Voting 0.4476 and 0.3533</a:t>
            </a:r>
            <a:endParaRPr lang="en-US" sz="1250" dirty="0"/>
          </a:p>
        </p:txBody>
      </p:sp>
      <p:sp>
        <p:nvSpPr>
          <p:cNvPr id="9" name="Shape 5"/>
          <p:cNvSpPr/>
          <p:nvPr/>
        </p:nvSpPr>
        <p:spPr>
          <a:xfrm>
            <a:off x="8046720" y="5074920"/>
            <a:ext cx="3657600" cy="548640"/>
          </a:xfrm>
          <a:prstGeom prst="rect">
            <a:avLst/>
          </a:prstGeom>
          <a:solidFill>
            <a:schemeClr val="bg2"/>
          </a:solidFill>
          <a:ln w="9525">
            <a:solidFill>
              <a:schemeClr val="accent4"/>
            </a:solidFill>
            <a:prstDash val="solid"/>
          </a:ln>
        </p:spPr>
      </p:sp>
      <p:sp>
        <p:nvSpPr>
          <p:cNvPr id="10" name="Text 6"/>
          <p:cNvSpPr txBox="1"/>
          <p:nvPr/>
        </p:nvSpPr>
        <p:spPr>
          <a:xfrm>
            <a:off x="8138160" y="5074920"/>
            <a:ext cx="3474720" cy="548640"/>
          </a:xfrm>
          <a:prstGeom prst="rect">
            <a:avLst/>
          </a:prstGeom>
          <a:noFill/>
          <a:ln/>
        </p:spPr>
        <p:txBody>
          <a:bodyPr wrap="square" lIns="0" tIns="0" rIns="0" bIns="0" rtlCol="0" anchor="ctr"/>
          <a:lstStyle/>
          <a:p>
            <a:pPr marL="0" indent="0">
              <a:buNone/>
            </a:pPr>
            <a:r>
              <a:rPr lang="en-US" sz="1250" b="1" dirty="0">
                <a:solidFill>
                  <a:schemeClr val="tx2"/>
                </a:solidFill>
              </a:rPr>
              <a:t>Highest balanced accuracy: Standard Stacking 0.5260</a:t>
            </a:r>
            <a:endParaRPr lang="en-US" sz="1250" dirty="0"/>
          </a:p>
        </p:txBody>
      </p:sp>
      <p:sp>
        <p:nvSpPr>
          <p:cNvPr id="11" name="Shape 7"/>
          <p:cNvSpPr/>
          <p:nvPr/>
        </p:nvSpPr>
        <p:spPr>
          <a:xfrm>
            <a:off x="457200" y="5760720"/>
            <a:ext cx="11292840" cy="594360"/>
          </a:xfrm>
          <a:prstGeom prst="rect">
            <a:avLst/>
          </a:prstGeom>
          <a:solidFill>
            <a:schemeClr val="tx2"/>
          </a:solidFill>
          <a:ln w="6350">
            <a:solidFill>
              <a:schemeClr val="tx2"/>
            </a:solidFill>
            <a:prstDash val="solid"/>
          </a:ln>
        </p:spPr>
      </p:sp>
      <p:sp>
        <p:nvSpPr>
          <p:cNvPr id="3" name="Text 8"/>
          <p:cNvSpPr txBox="1"/>
          <p:nvPr/>
        </p:nvSpPr>
        <p:spPr>
          <a:xfrm>
            <a:off x="640080" y="5760720"/>
            <a:ext cx="10927080" cy="594360"/>
          </a:xfrm>
          <a:prstGeom prst="rect">
            <a:avLst/>
          </a:prstGeom>
          <a:noFill/>
          <a:ln/>
        </p:spPr>
        <p:txBody>
          <a:bodyPr wrap="square" lIns="0" tIns="0" rIns="0" bIns="0" rtlCol="0" anchor="ctr"/>
          <a:lstStyle/>
          <a:p>
            <a:pPr marL="0" indent="0">
              <a:buNone/>
            </a:pPr>
            <a:r>
              <a:rPr lang="en-US" sz="1250" dirty="0">
                <a:solidFill>
                  <a:schemeClr val="bg1"/>
                </a:solidFill>
                <a:latin typeface="Calibri" pitchFamily="34" charset="0"/>
                <a:ea typeface="Calibri" pitchFamily="34" charset="-122"/>
                <a:cs typeface="Calibri" pitchFamily="34" charset="-120"/>
              </a:rPr>
              <a:t>The Failure-Aware Hybrid has not outperformed all baselines. Current reported locked-test results, pending the corrected audit experiment. Bold red = best in column.</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PREDIABETES PERFORMANCE AND FAILURE ANALYSIS</a:t>
            </a:r>
            <a:endParaRPr lang="en-US" sz="2400" dirty="0"/>
          </a:p>
        </p:txBody>
      </p:sp>
      <p:sp>
        <p:nvSpPr>
          <p:cNvPr id="3" name="Shape 1"/>
          <p:cNvSpPr/>
          <p:nvPr/>
        </p:nvSpPr>
        <p:spPr>
          <a:xfrm>
            <a:off x="457200" y="1280160"/>
            <a:ext cx="2103120" cy="960120"/>
          </a:xfrm>
          <a:prstGeom prst="rect">
            <a:avLst/>
          </a:prstGeom>
          <a:solidFill>
            <a:schemeClr val="bg2"/>
          </a:solidFill>
          <a:ln w="9525">
            <a:solidFill>
              <a:schemeClr val="accent4"/>
            </a:solidFill>
            <a:prstDash val="solid"/>
          </a:ln>
        </p:spPr>
      </p:sp>
      <p:sp>
        <p:nvSpPr>
          <p:cNvPr id="4" name="Text 2"/>
          <p:cNvSpPr txBox="1"/>
          <p:nvPr/>
        </p:nvSpPr>
        <p:spPr>
          <a:xfrm>
            <a:off x="457200" y="1307592"/>
            <a:ext cx="2103120" cy="5029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1.83%</a:t>
            </a:r>
            <a:endParaRPr lang="en-US" sz="2400" dirty="0"/>
          </a:p>
        </p:txBody>
      </p:sp>
      <p:sp>
        <p:nvSpPr>
          <p:cNvPr id="5" name="Text 3"/>
          <p:cNvSpPr txBox="1"/>
          <p:nvPr/>
        </p:nvSpPr>
        <p:spPr>
          <a:xfrm>
            <a:off x="502920" y="1801368"/>
            <a:ext cx="2011680" cy="365760"/>
          </a:xfrm>
          <a:prstGeom prst="rect">
            <a:avLst/>
          </a:prstGeom>
          <a:noFill/>
          <a:ln/>
        </p:spPr>
        <p:txBody>
          <a:bodyPr wrap="square" lIns="0" tIns="0" rIns="0" bIns="0" rtlCol="0" anchor="t"/>
          <a:lstStyle/>
          <a:p>
            <a:pPr marL="0" indent="0" algn="ctr">
              <a:buNone/>
            </a:pPr>
            <a:r>
              <a:rPr lang="en-US" sz="1150" dirty="0">
                <a:solidFill>
                  <a:schemeClr val="tx1"/>
                </a:solidFill>
              </a:rPr>
              <a:t>of records are Prediabetes</a:t>
            </a:r>
            <a:endParaRPr lang="en-US" sz="1150" dirty="0"/>
          </a:p>
        </p:txBody>
      </p:sp>
      <p:sp>
        <p:nvSpPr>
          <p:cNvPr id="6" name="Shape 4"/>
          <p:cNvSpPr/>
          <p:nvPr/>
        </p:nvSpPr>
        <p:spPr>
          <a:xfrm>
            <a:off x="2743200" y="1280160"/>
            <a:ext cx="2103120" cy="960120"/>
          </a:xfrm>
          <a:prstGeom prst="rect">
            <a:avLst/>
          </a:prstGeom>
          <a:solidFill>
            <a:schemeClr val="bg2"/>
          </a:solidFill>
          <a:ln w="9525">
            <a:solidFill>
              <a:schemeClr val="accent4"/>
            </a:solidFill>
            <a:prstDash val="solid"/>
          </a:ln>
        </p:spPr>
      </p:sp>
      <p:sp>
        <p:nvSpPr>
          <p:cNvPr id="7" name="Text 5"/>
          <p:cNvSpPr txBox="1"/>
          <p:nvPr/>
        </p:nvSpPr>
        <p:spPr>
          <a:xfrm>
            <a:off x="2743200" y="1307592"/>
            <a:ext cx="2103120" cy="5029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0.2959</a:t>
            </a:r>
            <a:endParaRPr lang="en-US" sz="2400" dirty="0"/>
          </a:p>
        </p:txBody>
      </p:sp>
      <p:sp>
        <p:nvSpPr>
          <p:cNvPr id="8" name="Text 6"/>
          <p:cNvSpPr txBox="1"/>
          <p:nvPr/>
        </p:nvSpPr>
        <p:spPr>
          <a:xfrm>
            <a:off x="2788920" y="1801368"/>
            <a:ext cx="2011680" cy="365760"/>
          </a:xfrm>
          <a:prstGeom prst="rect">
            <a:avLst/>
          </a:prstGeom>
          <a:noFill/>
          <a:ln/>
        </p:spPr>
        <p:txBody>
          <a:bodyPr wrap="square" lIns="0" tIns="0" rIns="0" bIns="0" rtlCol="0" anchor="t"/>
          <a:lstStyle/>
          <a:p>
            <a:pPr marL="0" indent="0" algn="ctr">
              <a:buNone/>
            </a:pPr>
            <a:r>
              <a:rPr lang="en-US" sz="1150" dirty="0">
                <a:solidFill>
                  <a:schemeClr val="tx1"/>
                </a:solidFill>
              </a:rPr>
              <a:t>Hybrid Prediabetes recall</a:t>
            </a:r>
            <a:endParaRPr lang="en-US" sz="1150" dirty="0"/>
          </a:p>
        </p:txBody>
      </p:sp>
      <p:sp>
        <p:nvSpPr>
          <p:cNvPr id="9" name="Shape 7"/>
          <p:cNvSpPr/>
          <p:nvPr/>
        </p:nvSpPr>
        <p:spPr>
          <a:xfrm>
            <a:off x="5029200" y="1280160"/>
            <a:ext cx="2103120" cy="960120"/>
          </a:xfrm>
          <a:prstGeom prst="rect">
            <a:avLst/>
          </a:prstGeom>
          <a:solidFill>
            <a:schemeClr val="bg2"/>
          </a:solidFill>
          <a:ln w="9525">
            <a:solidFill>
              <a:schemeClr val="accent4"/>
            </a:solidFill>
            <a:prstDash val="solid"/>
          </a:ln>
        </p:spPr>
      </p:sp>
      <p:sp>
        <p:nvSpPr>
          <p:cNvPr id="10" name="Text 8"/>
          <p:cNvSpPr txBox="1"/>
          <p:nvPr/>
        </p:nvSpPr>
        <p:spPr>
          <a:xfrm>
            <a:off x="5029200" y="1307592"/>
            <a:ext cx="2103120" cy="5029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0.3402</a:t>
            </a:r>
            <a:endParaRPr lang="en-US" sz="2400" dirty="0"/>
          </a:p>
        </p:txBody>
      </p:sp>
      <p:sp>
        <p:nvSpPr>
          <p:cNvPr id="11" name="Text 9"/>
          <p:cNvSpPr txBox="1"/>
          <p:nvPr/>
        </p:nvSpPr>
        <p:spPr>
          <a:xfrm>
            <a:off x="5074920" y="1801368"/>
            <a:ext cx="2011680" cy="365760"/>
          </a:xfrm>
          <a:prstGeom prst="rect">
            <a:avLst/>
          </a:prstGeom>
          <a:noFill/>
          <a:ln/>
        </p:spPr>
        <p:txBody>
          <a:bodyPr wrap="square" lIns="0" tIns="0" rIns="0" bIns="0" rtlCol="0" anchor="t"/>
          <a:lstStyle/>
          <a:p>
            <a:pPr marL="0" indent="0" algn="ctr">
              <a:buNone/>
            </a:pPr>
            <a:r>
              <a:rPr lang="en-US" sz="1150" dirty="0">
                <a:solidFill>
                  <a:schemeClr val="tx1"/>
                </a:solidFill>
              </a:rPr>
              <a:t>Standard Stacking recall</a:t>
            </a:r>
            <a:endParaRPr lang="en-US" sz="1150" dirty="0"/>
          </a:p>
        </p:txBody>
      </p:sp>
      <p:sp>
        <p:nvSpPr>
          <p:cNvPr id="12" name="Shape 10"/>
          <p:cNvSpPr/>
          <p:nvPr/>
        </p:nvSpPr>
        <p:spPr>
          <a:xfrm>
            <a:off x="7315200" y="1280160"/>
            <a:ext cx="2103120" cy="960120"/>
          </a:xfrm>
          <a:prstGeom prst="rect">
            <a:avLst/>
          </a:prstGeom>
          <a:solidFill>
            <a:schemeClr val="bg2"/>
          </a:solidFill>
          <a:ln w="9525">
            <a:solidFill>
              <a:schemeClr val="accent4"/>
            </a:solidFill>
            <a:prstDash val="solid"/>
          </a:ln>
        </p:spPr>
      </p:sp>
      <p:sp>
        <p:nvSpPr>
          <p:cNvPr id="13" name="Text 11"/>
          <p:cNvSpPr txBox="1"/>
          <p:nvPr/>
        </p:nvSpPr>
        <p:spPr>
          <a:xfrm>
            <a:off x="7315200" y="1307592"/>
            <a:ext cx="2103120" cy="5029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0.0421</a:t>
            </a:r>
            <a:endParaRPr lang="en-US" sz="2400" dirty="0"/>
          </a:p>
        </p:txBody>
      </p:sp>
      <p:sp>
        <p:nvSpPr>
          <p:cNvPr id="14" name="Text 12"/>
          <p:cNvSpPr txBox="1"/>
          <p:nvPr/>
        </p:nvSpPr>
        <p:spPr>
          <a:xfrm>
            <a:off x="7360920" y="1801368"/>
            <a:ext cx="2011680" cy="365760"/>
          </a:xfrm>
          <a:prstGeom prst="rect">
            <a:avLst/>
          </a:prstGeom>
          <a:noFill/>
          <a:ln/>
        </p:spPr>
        <p:txBody>
          <a:bodyPr wrap="square" lIns="0" tIns="0" rIns="0" bIns="0" rtlCol="0" anchor="t"/>
          <a:lstStyle/>
          <a:p>
            <a:pPr marL="0" indent="0" algn="ctr">
              <a:buNone/>
            </a:pPr>
            <a:r>
              <a:rPr lang="en-US" sz="1150" dirty="0">
                <a:solidFill>
                  <a:schemeClr val="tx1"/>
                </a:solidFill>
              </a:rPr>
              <a:t>Soft Voting recall</a:t>
            </a:r>
            <a:endParaRPr lang="en-US" sz="1150" dirty="0"/>
          </a:p>
        </p:txBody>
      </p:sp>
      <p:sp>
        <p:nvSpPr>
          <p:cNvPr id="15" name="Shape 13"/>
          <p:cNvSpPr/>
          <p:nvPr/>
        </p:nvSpPr>
        <p:spPr>
          <a:xfrm>
            <a:off x="9601200" y="1280160"/>
            <a:ext cx="2103120" cy="960120"/>
          </a:xfrm>
          <a:prstGeom prst="rect">
            <a:avLst/>
          </a:prstGeom>
          <a:solidFill>
            <a:schemeClr val="bg2"/>
          </a:solidFill>
          <a:ln w="9525">
            <a:solidFill>
              <a:schemeClr val="accent4"/>
            </a:solidFill>
            <a:prstDash val="solid"/>
          </a:ln>
        </p:spPr>
      </p:sp>
      <p:sp>
        <p:nvSpPr>
          <p:cNvPr id="16" name="Text 14"/>
          <p:cNvSpPr txBox="1"/>
          <p:nvPr/>
        </p:nvSpPr>
        <p:spPr>
          <a:xfrm>
            <a:off x="9601200" y="1307592"/>
            <a:ext cx="2103120" cy="5029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0.0560</a:t>
            </a:r>
            <a:endParaRPr lang="en-US" sz="2400" dirty="0"/>
          </a:p>
        </p:txBody>
      </p:sp>
      <p:sp>
        <p:nvSpPr>
          <p:cNvPr id="17" name="Text 15"/>
          <p:cNvSpPr txBox="1"/>
          <p:nvPr/>
        </p:nvSpPr>
        <p:spPr>
          <a:xfrm>
            <a:off x="9646920" y="1801368"/>
            <a:ext cx="2011680" cy="365760"/>
          </a:xfrm>
          <a:prstGeom prst="rect">
            <a:avLst/>
          </a:prstGeom>
          <a:noFill/>
          <a:ln/>
        </p:spPr>
        <p:txBody>
          <a:bodyPr wrap="square" lIns="0" tIns="0" rIns="0" bIns="0" rtlCol="0" anchor="t"/>
          <a:lstStyle/>
          <a:p>
            <a:pPr marL="0" indent="0" algn="ctr">
              <a:buNone/>
            </a:pPr>
            <a:r>
              <a:rPr lang="en-US" sz="1150" dirty="0">
                <a:solidFill>
                  <a:schemeClr val="tx1"/>
                </a:solidFill>
              </a:rPr>
              <a:t>Hybrid Prediabetes F1</a:t>
            </a:r>
            <a:endParaRPr lang="en-US" sz="1150" dirty="0"/>
          </a:p>
        </p:txBody>
      </p:sp>
      <p:graphicFrame>
        <p:nvGraphicFramePr>
          <p:cNvPr id="18" name="Chart 0"/>
          <p:cNvGraphicFramePr/>
          <p:nvPr/>
        </p:nvGraphicFramePr>
        <p:xfrm>
          <a:off x="457200" y="2377440"/>
          <a:ext cx="57607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9" name="Card Why F1 is low"/>
          <p:cNvSpPr/>
          <p:nvPr/>
        </p:nvSpPr>
        <p:spPr>
          <a:xfrm>
            <a:off x="6446520" y="2377440"/>
            <a:ext cx="5303520" cy="155448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0" name="Text 17"/>
          <p:cNvSpPr txBox="1"/>
          <p:nvPr/>
        </p:nvSpPr>
        <p:spPr>
          <a:xfrm>
            <a:off x="6583680" y="2450592"/>
            <a:ext cx="50292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Why F1 is low</a:t>
            </a:r>
            <a:endParaRPr lang="en-US" sz="1500" dirty="0"/>
          </a:p>
        </p:txBody>
      </p:sp>
      <p:sp>
        <p:nvSpPr>
          <p:cNvPr id="21" name="Text 18"/>
          <p:cNvSpPr txBox="1"/>
          <p:nvPr/>
        </p:nvSpPr>
        <p:spPr>
          <a:xfrm>
            <a:off x="6583680" y="2852928"/>
            <a:ext cx="5029200" cy="10058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Recall rises only by flagging many non-cases: hybrid precision is 0.0309.</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Derived: about 31 false flags per true Prediabetes case.</a:t>
            </a:r>
            <a:endParaRPr lang="en-US" sz="1300" dirty="0"/>
          </a:p>
        </p:txBody>
      </p:sp>
      <p:sp>
        <p:nvSpPr>
          <p:cNvPr id="22" name="Card Failure analysis to deepen"/>
          <p:cNvSpPr/>
          <p:nvPr/>
        </p:nvSpPr>
        <p:spPr>
          <a:xfrm>
            <a:off x="6446520" y="4023360"/>
            <a:ext cx="5303520" cy="146304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3" name="Text 20"/>
          <p:cNvSpPr txBox="1"/>
          <p:nvPr/>
        </p:nvSpPr>
        <p:spPr>
          <a:xfrm>
            <a:off x="6583680" y="4096512"/>
            <a:ext cx="50292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Failure analysis to deepen</a:t>
            </a:r>
            <a:endParaRPr lang="en-US" sz="1500" dirty="0"/>
          </a:p>
        </p:txBody>
      </p:sp>
      <p:sp>
        <p:nvSpPr>
          <p:cNvPr id="24" name="Text 21"/>
          <p:cNvSpPr txBox="1"/>
          <p:nvPr/>
        </p:nvSpPr>
        <p:spPr>
          <a:xfrm>
            <a:off x="6583680" y="4498848"/>
            <a:ext cx="5029200" cy="914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Confusion with neighbouring classes; false-positive burden.</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Confidence, disagreement and error overlap by class.</a:t>
            </a:r>
            <a:endParaRPr lang="en-US" sz="1300" dirty="0"/>
          </a:p>
        </p:txBody>
      </p:sp>
      <p:sp>
        <p:nvSpPr>
          <p:cNvPr id="25" name="Card Next steps"/>
          <p:cNvSpPr/>
          <p:nvPr/>
        </p:nvSpPr>
        <p:spPr>
          <a:xfrm>
            <a:off x="457200" y="5577840"/>
            <a:ext cx="11292840" cy="77724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26" name="Text 23"/>
          <p:cNvSpPr txBox="1"/>
          <p:nvPr/>
        </p:nvSpPr>
        <p:spPr>
          <a:xfrm>
            <a:off x="594360" y="5650992"/>
            <a:ext cx="1101852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Next steps</a:t>
            </a:r>
            <a:endParaRPr lang="en-US" sz="1500" dirty="0"/>
          </a:p>
        </p:txBody>
      </p:sp>
      <p:sp>
        <p:nvSpPr>
          <p:cNvPr id="27" name="Text 24"/>
          <p:cNvSpPr txBox="1"/>
          <p:nvPr/>
        </p:nvSpPr>
        <p:spPr>
          <a:xfrm>
            <a:off x="1737360" y="5623560"/>
            <a:ext cx="9875520" cy="685800"/>
          </a:xfrm>
          <a:prstGeom prst="rect">
            <a:avLst/>
          </a:prstGeom>
          <a:noFill/>
          <a:ln/>
        </p:spPr>
        <p:txBody>
          <a:bodyPr wrap="square" lIns="0" tIns="0" rIns="0" bIns="0" rtlCol="0" anchor="ctr"/>
          <a:lstStyle/>
          <a:p>
            <a:pPr marL="0" indent="0">
              <a:buNone/>
            </a:pPr>
            <a:r>
              <a:rPr lang="en-US" sz="1250" dirty="0">
                <a:solidFill>
                  <a:schemeClr val="tx1"/>
                </a:solidFill>
              </a:rPr>
              <a:t>Cost-sensitive learning and class weights; training-only threshold selection; prediabetes-specialist or hierarchical model; precision-recall trade-offs; paired statistics. No clinical usefulness is claimed without external validation.</a:t>
            </a:r>
            <a:endParaRPr lang="en-US" sz="1250" dirty="0"/>
          </a:p>
        </p:txBody>
      </p:sp>
      <p:sp>
        <p:nvSpPr>
          <p:cNvPr id="28"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EXPLAINABLE AI, CALIBRATION AND SUBGROUP ANALYSIS</a:t>
            </a:r>
            <a:endParaRPr lang="en-US" sz="2400" dirty="0"/>
          </a:p>
        </p:txBody>
      </p:sp>
      <p:sp>
        <p:nvSpPr>
          <p:cNvPr id="3" name="Shape 1"/>
          <p:cNvSpPr/>
          <p:nvPr/>
        </p:nvSpPr>
        <p:spPr>
          <a:xfrm>
            <a:off x="457200" y="1234440"/>
            <a:ext cx="3657600" cy="384048"/>
          </a:xfrm>
          <a:prstGeom prst="rect">
            <a:avLst/>
          </a:prstGeom>
          <a:solidFill>
            <a:schemeClr val="accent2"/>
          </a:solidFill>
          <a:ln/>
        </p:spPr>
      </p:sp>
      <p:sp>
        <p:nvSpPr>
          <p:cNvPr id="4" name="Text 2"/>
          <p:cNvSpPr txBox="1"/>
          <p:nvPr/>
        </p:nvSpPr>
        <p:spPr>
          <a:xfrm>
            <a:off x="457200" y="1234440"/>
            <a:ext cx="3657600" cy="384048"/>
          </a:xfrm>
          <a:prstGeom prst="rect">
            <a:avLst/>
          </a:prstGeom>
          <a:noFill/>
          <a:ln/>
        </p:spPr>
        <p:txBody>
          <a:bodyPr wrap="square" lIns="0" tIns="0" rIns="0" bIns="0" rtlCol="0" anchor="ctr"/>
          <a:lstStyle/>
          <a:p>
            <a:pPr marL="0" indent="0" algn="ctr">
              <a:buNone/>
            </a:pPr>
            <a:r>
              <a:rPr lang="en-US" sz="1400" b="1" dirty="0">
                <a:solidFill>
                  <a:schemeClr val="bg1"/>
                </a:solidFill>
              </a:rPr>
              <a:t>Explainable AI (XGBoost)</a:t>
            </a:r>
            <a:endParaRPr lang="en-US" sz="1400" dirty="0"/>
          </a:p>
        </p:txBody>
      </p:sp>
      <p:sp>
        <p:nvSpPr>
          <p:cNvPr id="5" name="Shape 3"/>
          <p:cNvSpPr/>
          <p:nvPr/>
        </p:nvSpPr>
        <p:spPr>
          <a:xfrm>
            <a:off x="4279392" y="1234440"/>
            <a:ext cx="3657600" cy="384048"/>
          </a:xfrm>
          <a:prstGeom prst="rect">
            <a:avLst/>
          </a:prstGeom>
          <a:solidFill>
            <a:schemeClr val="accent2"/>
          </a:solidFill>
          <a:ln/>
        </p:spPr>
      </p:sp>
      <p:sp>
        <p:nvSpPr>
          <p:cNvPr id="6" name="Text 4"/>
          <p:cNvSpPr txBox="1"/>
          <p:nvPr/>
        </p:nvSpPr>
        <p:spPr>
          <a:xfrm>
            <a:off x="4279392" y="1234440"/>
            <a:ext cx="3657600" cy="384048"/>
          </a:xfrm>
          <a:prstGeom prst="rect">
            <a:avLst/>
          </a:prstGeom>
          <a:noFill/>
          <a:ln/>
        </p:spPr>
        <p:txBody>
          <a:bodyPr wrap="square" lIns="0" tIns="0" rIns="0" bIns="0" rtlCol="0" anchor="ctr"/>
          <a:lstStyle/>
          <a:p>
            <a:pPr marL="0" indent="0" algn="ctr">
              <a:buNone/>
            </a:pPr>
            <a:r>
              <a:rPr lang="en-US" sz="1400" b="1" dirty="0">
                <a:solidFill>
                  <a:schemeClr val="bg1"/>
                </a:solidFill>
              </a:rPr>
              <a:t>Calibration</a:t>
            </a:r>
            <a:endParaRPr lang="en-US" sz="1400" dirty="0"/>
          </a:p>
        </p:txBody>
      </p:sp>
      <p:sp>
        <p:nvSpPr>
          <p:cNvPr id="7" name="Shape 5"/>
          <p:cNvSpPr/>
          <p:nvPr/>
        </p:nvSpPr>
        <p:spPr>
          <a:xfrm>
            <a:off x="8101584" y="1234440"/>
            <a:ext cx="3657600" cy="384048"/>
          </a:xfrm>
          <a:prstGeom prst="rect">
            <a:avLst/>
          </a:prstGeom>
          <a:solidFill>
            <a:schemeClr val="accent2"/>
          </a:solidFill>
          <a:ln/>
        </p:spPr>
      </p:sp>
      <p:sp>
        <p:nvSpPr>
          <p:cNvPr id="8" name="Text 6"/>
          <p:cNvSpPr txBox="1"/>
          <p:nvPr/>
        </p:nvSpPr>
        <p:spPr>
          <a:xfrm>
            <a:off x="8101584" y="1234440"/>
            <a:ext cx="3657600" cy="384048"/>
          </a:xfrm>
          <a:prstGeom prst="rect">
            <a:avLst/>
          </a:prstGeom>
          <a:noFill/>
          <a:ln/>
        </p:spPr>
        <p:txBody>
          <a:bodyPr wrap="square" lIns="0" tIns="0" rIns="0" bIns="0" rtlCol="0" anchor="ctr"/>
          <a:lstStyle/>
          <a:p>
            <a:pPr marL="0" indent="0" algn="ctr">
              <a:buNone/>
            </a:pPr>
            <a:r>
              <a:rPr lang="en-US" sz="1400" b="1" dirty="0">
                <a:solidFill>
                  <a:schemeClr val="bg1"/>
                </a:solidFill>
              </a:rPr>
              <a:t>Subgroups (XGBoost)</a:t>
            </a:r>
            <a:endParaRPr lang="en-US" sz="1400" dirty="0"/>
          </a:p>
        </p:txBody>
      </p:sp>
      <p:pic>
        <p:nvPicPr>
          <p:cNvPr id="9" name="Image 0" descr="/home/claude/deck/assets/shap_top10.png"/>
          <p:cNvPicPr>
            <a:picLocks noChangeAspect="1"/>
          </p:cNvPicPr>
          <p:nvPr/>
        </p:nvPicPr>
        <p:blipFill>
          <a:blip r:embed="rId3"/>
          <a:stretch>
            <a:fillRect/>
          </a:stretch>
        </p:blipFill>
        <p:spPr>
          <a:xfrm>
            <a:off x="457200" y="1691640"/>
            <a:ext cx="3657600" cy="2560320"/>
          </a:xfrm>
          <a:prstGeom prst="rect">
            <a:avLst/>
          </a:prstGeom>
        </p:spPr>
      </p:pic>
      <p:pic>
        <p:nvPicPr>
          <p:cNvPr id="10" name="Image 1" descr="/home/claude/deck/assets/cal_prediabetes.png"/>
          <p:cNvPicPr>
            <a:picLocks noChangeAspect="1"/>
          </p:cNvPicPr>
          <p:nvPr/>
        </p:nvPicPr>
        <p:blipFill>
          <a:blip r:embed="rId4"/>
          <a:stretch>
            <a:fillRect/>
          </a:stretch>
        </p:blipFill>
        <p:spPr>
          <a:xfrm>
            <a:off x="4279392" y="1691640"/>
            <a:ext cx="3401568" cy="256032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01584" y="1737360"/>
          <a:ext cx="3648456" cy="2304288"/>
        </p:xfrm>
        <a:graphic>
          <a:graphicData uri="http://schemas.openxmlformats.org/drawingml/2006/table">
            <a:tbl>
              <a:tblPr/>
              <a:tblGrid>
                <a:gridCol w="2011680">
                  <a:extLst>
                    <a:ext uri="{9D8B030D-6E8A-4147-A177-3AD203B41FA5}">
                      <a16:colId xmlns:a16="http://schemas.microsoft.com/office/drawing/2014/main" val="20000"/>
                    </a:ext>
                  </a:extLst>
                </a:gridCol>
                <a:gridCol w="1636776">
                  <a:extLst>
                    <a:ext uri="{9D8B030D-6E8A-4147-A177-3AD203B41FA5}">
                      <a16:colId xmlns:a16="http://schemas.microsoft.com/office/drawing/2014/main" val="20001"/>
                    </a:ext>
                  </a:extLst>
                </a:gridCol>
              </a:tblGrid>
              <a:tr h="329184">
                <a:tc>
                  <a:txBody>
                    <a:bodyPr/>
                    <a:lstStyle/>
                    <a:p>
                      <a:pPr marL="0" indent="0" algn="l">
                        <a:buNone/>
                      </a:pPr>
                      <a:r>
                        <a:rPr lang="en-US" sz="1200" b="1" dirty="0">
                          <a:solidFill>
                            <a:schemeClr val="bg1"/>
                          </a:solidFill>
                        </a:rPr>
                        <a:t>Group</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tc>
                  <a:txBody>
                    <a:bodyPr/>
                    <a:lstStyle/>
                    <a:p>
                      <a:pPr marL="0" indent="0" algn="ctr">
                        <a:buNone/>
                      </a:pPr>
                      <a:r>
                        <a:rPr lang="en-US" sz="1200" b="1" dirty="0">
                          <a:solidFill>
                            <a:schemeClr val="bg1"/>
                          </a:solidFill>
                        </a:rPr>
                        <a:t>Diab. recall</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chemeClr val="tx1"/>
                          </a:solidFill>
                        </a:rPr>
                        <a:t>Age 18-39</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0.1590</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200" dirty="0">
                          <a:solidFill>
                            <a:schemeClr val="tx1"/>
                          </a:solidFill>
                        </a:rPr>
                        <a:t>Age 65+</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rPr>
                        <a:t>0.6335</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2"/>
                  </a:ext>
                </a:extLst>
              </a:tr>
              <a:tr h="329184">
                <a:tc>
                  <a:txBody>
                    <a:bodyPr/>
                    <a:lstStyle/>
                    <a:p>
                      <a:pPr marL="0" indent="0" algn="l">
                        <a:buNone/>
                      </a:pPr>
                      <a:r>
                        <a:rPr lang="en-US" sz="1200" dirty="0">
                          <a:solidFill>
                            <a:schemeClr val="tx1"/>
                          </a:solidFill>
                        </a:rPr>
                        <a:t>Income low</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0.6705</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200" dirty="0">
                          <a:solidFill>
                            <a:schemeClr val="tx1"/>
                          </a:solidFill>
                        </a:rPr>
                        <a:t>Income high</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rPr>
                        <a:t>0.4880</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4"/>
                  </a:ext>
                </a:extLst>
              </a:tr>
              <a:tr h="329184">
                <a:tc>
                  <a:txBody>
                    <a:bodyPr/>
                    <a:lstStyle/>
                    <a:p>
                      <a:pPr marL="0" indent="0" algn="l">
                        <a:buNone/>
                      </a:pPr>
                      <a:r>
                        <a:rPr lang="en-US" sz="1200" dirty="0">
                          <a:solidFill>
                            <a:schemeClr val="tx1"/>
                          </a:solidFill>
                        </a:rPr>
                        <a:t>Educ. low</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0.6615</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200" dirty="0">
                          <a:solidFill>
                            <a:schemeClr val="tx1"/>
                          </a:solidFill>
                        </a:rPr>
                        <a:t>Educ. high</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tc>
                  <a:txBody>
                    <a:bodyPr/>
                    <a:lstStyle/>
                    <a:p>
                      <a:pPr marL="0" indent="0" algn="ctr">
                        <a:buNone/>
                      </a:pPr>
                      <a:r>
                        <a:rPr lang="en-US" sz="1200" dirty="0">
                          <a:solidFill>
                            <a:schemeClr val="tx1"/>
                          </a:solidFill>
                        </a:rPr>
                        <a:t>0.4771</a:t>
                      </a:r>
                      <a:endParaRPr lang="en-US" sz="1200" dirty="0"/>
                    </a:p>
                  </a:txBody>
                  <a:tcPr anchor="ctr">
                    <a:lnL w="6350" cap="flat" cmpd="sng" algn="ctr">
                      <a:solidFill>
                        <a:srgbClr val="E3D2D4"/>
                      </a:solidFill>
                      <a:prstDash val="solid"/>
                      <a:round/>
                      <a:headEnd type="none" w="med" len="med"/>
                      <a:tailEnd type="none" w="med" len="med"/>
                    </a:lnL>
                    <a:lnR w="6350" cap="flat" cmpd="sng" algn="ctr">
                      <a:solidFill>
                        <a:srgbClr val="E3D2D4"/>
                      </a:solidFill>
                      <a:prstDash val="solid"/>
                      <a:round/>
                      <a:headEnd type="none" w="med" len="med"/>
                      <a:tailEnd type="none" w="med" len="med"/>
                    </a:lnR>
                    <a:lnT w="6350" cap="flat" cmpd="sng" algn="ctr">
                      <a:solidFill>
                        <a:srgbClr val="E3D2D4"/>
                      </a:solidFill>
                      <a:prstDash val="solid"/>
                      <a:round/>
                      <a:headEnd type="none" w="med" len="med"/>
                      <a:tailEnd type="none" w="med" len="med"/>
                    </a:lnT>
                    <a:lnB w="6350" cap="flat" cmpd="sng" algn="ctr">
                      <a:solidFill>
                        <a:srgbClr val="E3D2D4"/>
                      </a:solidFill>
                      <a:prstDash val="solid"/>
                      <a:round/>
                      <a:headEnd type="none" w="med" len="med"/>
                      <a:tailEnd type="none" w="med" len="med"/>
                    </a:lnB>
                    <a:solidFill>
                      <a:srgbClr val="F7F3F3"/>
                    </a:solidFill>
                  </a:tcPr>
                </a:tc>
                <a:extLst>
                  <a:ext uri="{0D108BD9-81ED-4DB2-BD59-A6C34878D82A}">
                    <a16:rowId xmlns:a16="http://schemas.microsoft.com/office/drawing/2014/main" val="10006"/>
                  </a:ext>
                </a:extLst>
              </a:tr>
            </a:tbl>
          </a:graphicData>
        </a:graphic>
      </p:graphicFrame>
      <p:sp>
        <p:nvSpPr>
          <p:cNvPr id="12" name="Text 7"/>
          <p:cNvSpPr txBox="1"/>
          <p:nvPr/>
        </p:nvSpPr>
        <p:spPr>
          <a:xfrm>
            <a:off x="457200" y="4434840"/>
            <a:ext cx="361188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1"/>
                </a:solidFill>
              </a:rPr>
              <a:t>SHAP (diabetes class) and LIME explain XGBoost, not the hybrid.</a:t>
            </a:r>
            <a:endParaRPr lang="en-US" sz="1350" dirty="0"/>
          </a:p>
          <a:p>
            <a:pPr marL="342900" indent="-342900">
              <a:spcAft>
                <a:spcPts val="300"/>
              </a:spcAft>
              <a:buSzPct val="100000"/>
              <a:buChar char="•"/>
            </a:pPr>
            <a:r>
              <a:rPr lang="en-US" sz="1350" dirty="0">
                <a:solidFill>
                  <a:schemeClr val="tx1"/>
                </a:solidFill>
              </a:rPr>
              <a:t>Describes model behaviour, not causes.</a:t>
            </a:r>
            <a:endParaRPr lang="en-US" sz="1350" dirty="0"/>
          </a:p>
        </p:txBody>
      </p:sp>
      <p:sp>
        <p:nvSpPr>
          <p:cNvPr id="13" name="Text 8"/>
          <p:cNvSpPr txBox="1"/>
          <p:nvPr/>
        </p:nvSpPr>
        <p:spPr>
          <a:xfrm>
            <a:off x="4279392" y="4434840"/>
            <a:ext cx="361188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1"/>
                </a:solidFill>
              </a:rPr>
              <a:t>Prediabetes probabilities are far above observed frequency (class-weighted models).</a:t>
            </a:r>
            <a:endParaRPr lang="en-US" sz="1350" dirty="0"/>
          </a:p>
          <a:p>
            <a:pPr marL="342900" indent="-342900">
              <a:spcAft>
                <a:spcPts val="300"/>
              </a:spcAft>
              <a:buSzPct val="100000"/>
              <a:buChar char="•"/>
            </a:pPr>
            <a:r>
              <a:rPr lang="en-US" sz="1350" dirty="0">
                <a:solidFill>
                  <a:schemeClr val="tx1"/>
                </a:solidFill>
              </a:rPr>
              <a:t>Brier and log loss reported; no recalibration; never tune on the locked test set.</a:t>
            </a:r>
            <a:endParaRPr lang="en-US" sz="1350" dirty="0"/>
          </a:p>
          <a:p>
            <a:pPr marL="342900" indent="-342900">
              <a:spcAft>
                <a:spcPts val="300"/>
              </a:spcAft>
              <a:buSzPct val="100000"/>
              <a:buChar char="•"/>
            </a:pPr>
            <a:r>
              <a:rPr lang="en-US" sz="1350" dirty="0">
                <a:solidFill>
                  <a:schemeClr val="tx1"/>
                </a:solidFill>
              </a:rPr>
              <a:t>Legend label "SVM" = SGD Modified Huber.</a:t>
            </a:r>
            <a:endParaRPr lang="en-US" sz="1350" dirty="0"/>
          </a:p>
        </p:txBody>
      </p:sp>
      <p:sp>
        <p:nvSpPr>
          <p:cNvPr id="11" name="Text 9"/>
          <p:cNvSpPr txBox="1"/>
          <p:nvPr/>
        </p:nvSpPr>
        <p:spPr>
          <a:xfrm>
            <a:off x="8101584" y="4434840"/>
            <a:ext cx="3648456"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1"/>
                </a:solidFill>
              </a:rPr>
              <a:t>Sex, age, income, education, XGBoost only.</a:t>
            </a:r>
            <a:endParaRPr lang="en-US" sz="1350" dirty="0"/>
          </a:p>
          <a:p>
            <a:pPr marL="342900" indent="-342900">
              <a:spcAft>
                <a:spcPts val="300"/>
              </a:spcAft>
              <a:buSzPct val="100000"/>
              <a:buChar char="•"/>
            </a:pPr>
            <a:r>
              <a:rPr lang="en-US" sz="1350" dirty="0">
                <a:solidFill>
                  <a:schemeClr val="tx1"/>
                </a:solidFill>
              </a:rPr>
              <a:t>Descriptive differences, not fairness conclusions.</a:t>
            </a:r>
            <a:endParaRPr lang="en-US" sz="1350" dirty="0"/>
          </a:p>
          <a:p>
            <a:pPr marL="342900" indent="-342900">
              <a:spcAft>
                <a:spcPts val="300"/>
              </a:spcAft>
              <a:buSzPct val="100000"/>
              <a:buChar char="•"/>
            </a:pPr>
            <a:r>
              <a:rPr lang="en-US" sz="1350" dirty="0">
                <a:solidFill>
                  <a:schemeClr val="tx1"/>
                </a:solidFill>
              </a:rPr>
              <a:t>Add confidence intervals and class counts.</a:t>
            </a:r>
            <a:endParaRPr lang="en-US" sz="13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CODE VALIDATION AND GITHUB REPOSITORY UPDATE</a:t>
            </a:r>
            <a:endParaRPr lang="en-US" sz="2400" dirty="0"/>
          </a:p>
        </p:txBody>
      </p:sp>
      <p:sp>
        <p:nvSpPr>
          <p:cNvPr id="3" name="Shape 1"/>
          <p:cNvSpPr/>
          <p:nvPr/>
        </p:nvSpPr>
        <p:spPr>
          <a:xfrm>
            <a:off x="457200" y="1280160"/>
            <a:ext cx="5669280" cy="4160520"/>
          </a:xfrm>
          <a:prstGeom prst="rect">
            <a:avLst/>
          </a:prstGeom>
          <a:solidFill>
            <a:srgbClr val="FBF8F8"/>
          </a:solidFill>
          <a:ln w="9525">
            <a:solidFill>
              <a:schemeClr val="accent4"/>
            </a:solidFill>
            <a:prstDash val="solid"/>
          </a:ln>
        </p:spPr>
      </p:sp>
      <p:sp>
        <p:nvSpPr>
          <p:cNvPr id="4" name="Text 2"/>
          <p:cNvSpPr txBox="1"/>
          <p:nvPr/>
        </p:nvSpPr>
        <p:spPr>
          <a:xfrm>
            <a:off x="594360" y="1325880"/>
            <a:ext cx="5394960" cy="320040"/>
          </a:xfrm>
          <a:prstGeom prst="rect">
            <a:avLst/>
          </a:prstGeom>
          <a:noFill/>
          <a:ln/>
        </p:spPr>
        <p:txBody>
          <a:bodyPr wrap="square" lIns="0" tIns="0" rIns="0" bIns="0" rtlCol="0" anchor="ctr"/>
          <a:lstStyle/>
          <a:p>
            <a:pPr marL="0" indent="0">
              <a:buNone/>
            </a:pPr>
            <a:r>
              <a:rPr lang="en-US" sz="1400" b="1" dirty="0">
                <a:solidFill>
                  <a:schemeClr val="tx2"/>
                </a:solidFill>
                <a:latin typeface="Cambria" pitchFamily="34" charset="0"/>
                <a:ea typeface="Cambria" pitchFamily="34" charset="-122"/>
                <a:cs typeface="Cambria" pitchFamily="34" charset="-120"/>
              </a:rPr>
              <a:t>Planned repository organisation</a:t>
            </a:r>
            <a:endParaRPr lang="en-US" sz="1400" dirty="0"/>
          </a:p>
        </p:txBody>
      </p:sp>
      <p:sp>
        <p:nvSpPr>
          <p:cNvPr id="5" name="Text 3"/>
          <p:cNvSpPr txBox="1"/>
          <p:nvPr/>
        </p:nvSpPr>
        <p:spPr>
          <a:xfrm>
            <a:off x="640080" y="1691640"/>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data/</a:t>
            </a:r>
            <a:r>
              <a:rPr lang="en-US" sz="1200" dirty="0">
                <a:solidFill>
                  <a:schemeClr val="tx1"/>
                </a:solidFill>
              </a:rPr>
              <a:t>  dataset documentation, permitted artifacts</a:t>
            </a:r>
            <a:endParaRPr lang="en-US" sz="1200" dirty="0"/>
          </a:p>
        </p:txBody>
      </p:sp>
      <p:sp>
        <p:nvSpPr>
          <p:cNvPr id="6" name="Text 4"/>
          <p:cNvSpPr txBox="1"/>
          <p:nvPr/>
        </p:nvSpPr>
        <p:spPr>
          <a:xfrm>
            <a:off x="640080" y="2029968"/>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notebooks/</a:t>
            </a:r>
            <a:r>
              <a:rPr lang="en-US" sz="1200" dirty="0">
                <a:solidFill>
                  <a:schemeClr val="tx1"/>
                </a:solidFill>
              </a:rPr>
              <a:t>  exploratory and experiment notebooks</a:t>
            </a:r>
            <a:endParaRPr lang="en-US" sz="1200" dirty="0"/>
          </a:p>
        </p:txBody>
      </p:sp>
      <p:sp>
        <p:nvSpPr>
          <p:cNvPr id="7" name="Text 5"/>
          <p:cNvSpPr txBox="1"/>
          <p:nvPr/>
        </p:nvSpPr>
        <p:spPr>
          <a:xfrm>
            <a:off x="640080" y="2368296"/>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src/</a:t>
            </a:r>
            <a:r>
              <a:rPr lang="en-US" sz="1200" dirty="0">
                <a:solidFill>
                  <a:schemeClr val="tx1"/>
                </a:solidFill>
              </a:rPr>
              <a:t>  preprocessing, features, training, prediction</a:t>
            </a:r>
            <a:endParaRPr lang="en-US" sz="1200" dirty="0"/>
          </a:p>
        </p:txBody>
      </p:sp>
      <p:sp>
        <p:nvSpPr>
          <p:cNvPr id="8" name="Text 6"/>
          <p:cNvSpPr txBox="1"/>
          <p:nvPr/>
        </p:nvSpPr>
        <p:spPr>
          <a:xfrm>
            <a:off x="640080" y="2706624"/>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models/</a:t>
            </a:r>
            <a:r>
              <a:rPr lang="en-US" sz="1200" dirty="0">
                <a:solidFill>
                  <a:schemeClr val="tx1"/>
                </a:solidFill>
              </a:rPr>
              <a:t>  model artifacts where permitted</a:t>
            </a:r>
            <a:endParaRPr lang="en-US" sz="1200" dirty="0"/>
          </a:p>
        </p:txBody>
      </p:sp>
      <p:sp>
        <p:nvSpPr>
          <p:cNvPr id="9" name="Text 7"/>
          <p:cNvSpPr txBox="1"/>
          <p:nvPr/>
        </p:nvSpPr>
        <p:spPr>
          <a:xfrm>
            <a:off x="640080" y="3044952"/>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results/</a:t>
            </a:r>
            <a:r>
              <a:rPr lang="en-US" sz="1200" dirty="0">
                <a:solidFill>
                  <a:schemeClr val="tx1"/>
                </a:solidFill>
              </a:rPr>
              <a:t>  metrics, plots, experiment outputs</a:t>
            </a:r>
            <a:endParaRPr lang="en-US" sz="1200" dirty="0"/>
          </a:p>
        </p:txBody>
      </p:sp>
      <p:sp>
        <p:nvSpPr>
          <p:cNvPr id="10" name="Text 8"/>
          <p:cNvSpPr txBox="1"/>
          <p:nvPr/>
        </p:nvSpPr>
        <p:spPr>
          <a:xfrm>
            <a:off x="640080" y="3383280"/>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dashboard/</a:t>
            </a:r>
            <a:r>
              <a:rPr lang="en-US" sz="1200" dirty="0">
                <a:solidFill>
                  <a:schemeClr val="tx1"/>
                </a:solidFill>
              </a:rPr>
              <a:t>  dashboard source</a:t>
            </a:r>
            <a:endParaRPr lang="en-US" sz="1200" dirty="0"/>
          </a:p>
        </p:txBody>
      </p:sp>
      <p:sp>
        <p:nvSpPr>
          <p:cNvPr id="11" name="Text 9"/>
          <p:cNvSpPr txBox="1"/>
          <p:nvPr/>
        </p:nvSpPr>
        <p:spPr>
          <a:xfrm>
            <a:off x="640080" y="3721608"/>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configs/</a:t>
            </a:r>
            <a:r>
              <a:rPr lang="en-US" sz="1200" dirty="0">
                <a:solidFill>
                  <a:schemeClr val="tx1"/>
                </a:solidFill>
              </a:rPr>
              <a:t>  model and experiment configuration</a:t>
            </a:r>
            <a:endParaRPr lang="en-US" sz="1200" dirty="0"/>
          </a:p>
        </p:txBody>
      </p:sp>
      <p:sp>
        <p:nvSpPr>
          <p:cNvPr id="12" name="Text 10"/>
          <p:cNvSpPr txBox="1"/>
          <p:nvPr/>
        </p:nvSpPr>
        <p:spPr>
          <a:xfrm>
            <a:off x="640080" y="4059936"/>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tests/</a:t>
            </a:r>
            <a:r>
              <a:rPr lang="en-US" sz="1200" dirty="0">
                <a:solidFill>
                  <a:schemeClr val="tx1"/>
                </a:solidFill>
              </a:rPr>
              <a:t>  code and pipeline tests</a:t>
            </a:r>
            <a:endParaRPr lang="en-US" sz="1200" dirty="0"/>
          </a:p>
        </p:txBody>
      </p:sp>
      <p:sp>
        <p:nvSpPr>
          <p:cNvPr id="13" name="Text 11"/>
          <p:cNvSpPr txBox="1"/>
          <p:nvPr/>
        </p:nvSpPr>
        <p:spPr>
          <a:xfrm>
            <a:off x="640080" y="4398264"/>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docs/</a:t>
            </a:r>
            <a:r>
              <a:rPr lang="en-US" sz="1200" dirty="0">
                <a:solidFill>
                  <a:schemeClr val="tx1"/>
                </a:solidFill>
              </a:rPr>
              <a:t>  methodology, setup, reproducibility</a:t>
            </a:r>
            <a:endParaRPr lang="en-US" sz="1200" dirty="0"/>
          </a:p>
        </p:txBody>
      </p:sp>
      <p:sp>
        <p:nvSpPr>
          <p:cNvPr id="14" name="Text 12"/>
          <p:cNvSpPr txBox="1"/>
          <p:nvPr/>
        </p:nvSpPr>
        <p:spPr>
          <a:xfrm>
            <a:off x="640080" y="4736592"/>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README.md</a:t>
            </a:r>
            <a:r>
              <a:rPr lang="en-US" sz="1200" dirty="0">
                <a:solidFill>
                  <a:schemeClr val="tx1"/>
                </a:solidFill>
              </a:rPr>
              <a:t>  overview and setup</a:t>
            </a:r>
            <a:endParaRPr lang="en-US" sz="1200" dirty="0"/>
          </a:p>
        </p:txBody>
      </p:sp>
      <p:sp>
        <p:nvSpPr>
          <p:cNvPr id="15" name="Text 13"/>
          <p:cNvSpPr txBox="1"/>
          <p:nvPr/>
        </p:nvSpPr>
        <p:spPr>
          <a:xfrm>
            <a:off x="640080" y="5074920"/>
            <a:ext cx="5394960" cy="32004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requirements.txt</a:t>
            </a:r>
            <a:r>
              <a:rPr lang="en-US" sz="1200" dirty="0">
                <a:solidFill>
                  <a:schemeClr val="tx1"/>
                </a:solidFill>
              </a:rPr>
              <a:t>  environment specification</a:t>
            </a:r>
            <a:endParaRPr lang="en-US" sz="1200" dirty="0"/>
          </a:p>
        </p:txBody>
      </p:sp>
      <p:sp>
        <p:nvSpPr>
          <p:cNvPr id="16" name="Card Validation checklist (verify before reporting)"/>
          <p:cNvSpPr/>
          <p:nvPr/>
        </p:nvSpPr>
        <p:spPr>
          <a:xfrm>
            <a:off x="6400800" y="1280160"/>
            <a:ext cx="5349240" cy="416052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7" name="Text 15"/>
          <p:cNvSpPr txBox="1"/>
          <p:nvPr/>
        </p:nvSpPr>
        <p:spPr>
          <a:xfrm>
            <a:off x="6537960" y="1353312"/>
            <a:ext cx="507492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Validation checklist (verify before reporting)</a:t>
            </a:r>
            <a:endParaRPr lang="en-US" sz="1500" dirty="0"/>
          </a:p>
        </p:txBody>
      </p:sp>
      <p:sp>
        <p:nvSpPr>
          <p:cNvPr id="18" name="Text 16"/>
          <p:cNvSpPr txBox="1"/>
          <p:nvPr/>
        </p:nvSpPr>
        <p:spPr>
          <a:xfrm>
            <a:off x="6537960" y="1755648"/>
            <a:ext cx="5074920" cy="3611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Code runs in a clean environment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Dependencies and versions documented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Random seeds and data splits recorded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Training and evaluation reproducible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Results match saved experiment outputs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Dataset licensing and privacy respected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Commits and repository status verified</a:t>
            </a:r>
            <a:endParaRPr lang="en-US" sz="1500" dirty="0"/>
          </a:p>
        </p:txBody>
      </p:sp>
      <p:sp>
        <p:nvSpPr>
          <p:cNvPr id="19" name="Shape 17"/>
          <p:cNvSpPr/>
          <p:nvPr/>
        </p:nvSpPr>
        <p:spPr>
          <a:xfrm>
            <a:off x="457200" y="5623560"/>
            <a:ext cx="11292840" cy="685800"/>
          </a:xfrm>
          <a:prstGeom prst="rect">
            <a:avLst/>
          </a:prstGeom>
          <a:solidFill>
            <a:schemeClr val="accent4"/>
          </a:solidFill>
          <a:ln w="6350">
            <a:solidFill>
              <a:schemeClr val="accent4"/>
            </a:solidFill>
            <a:prstDash val="solid"/>
          </a:ln>
        </p:spPr>
      </p:sp>
      <p:sp>
        <p:nvSpPr>
          <p:cNvPr id="20" name="Text 18"/>
          <p:cNvSpPr txBox="1"/>
          <p:nvPr/>
        </p:nvSpPr>
        <p:spPr>
          <a:xfrm>
            <a:off x="640080" y="5623560"/>
            <a:ext cx="10927080" cy="685800"/>
          </a:xfrm>
          <a:prstGeom prst="rect">
            <a:avLst/>
          </a:prstGeom>
          <a:noFill/>
          <a:ln/>
        </p:spPr>
        <p:txBody>
          <a:bodyPr wrap="square" lIns="0" tIns="0" rIns="0" bIns="0" rtlCol="0" anchor="ctr"/>
          <a:lstStyle/>
          <a:p>
            <a:pPr marL="0" indent="0">
              <a:buNone/>
            </a:pPr>
            <a:r>
              <a:rPr lang="en-US" sz="1400" dirty="0">
                <a:solidFill>
                  <a:schemeClr val="tx2"/>
                </a:solidFill>
                <a:latin typeface="Calibri" pitchFamily="34" charset="0"/>
                <a:ea typeface="Calibri" pitchFamily="34" charset="-122"/>
                <a:cs typeface="Calibri" pitchFamily="34" charset="-120"/>
              </a:rPr>
              <a:t>Repository URL: [insert]    Last verified commit: [insert]    Clean-environment run: [Requires Validation]</a:t>
            </a:r>
            <a:endParaRPr lang="en-US" sz="14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RESEARCH PAPER DRAFT AND PUBLICATION READINESS</a:t>
            </a:r>
            <a:endParaRPr lang="en-US" sz="2400" dirty="0"/>
          </a:p>
        </p:txBody>
      </p:sp>
      <p:sp>
        <p:nvSpPr>
          <p:cNvPr id="3" name="Text 1"/>
          <p:cNvSpPr txBox="1"/>
          <p:nvPr/>
        </p:nvSpPr>
        <p:spPr>
          <a:xfrm>
            <a:off x="457200" y="1234440"/>
            <a:ext cx="4572000" cy="32004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Manuscript structure</a:t>
            </a:r>
            <a:endParaRPr lang="en-US" sz="1500" dirty="0"/>
          </a:p>
        </p:txBody>
      </p:sp>
      <p:sp>
        <p:nvSpPr>
          <p:cNvPr id="4" name="Text 2"/>
          <p:cNvSpPr txBox="1"/>
          <p:nvPr/>
        </p:nvSpPr>
        <p:spPr>
          <a:xfrm>
            <a:off x="457200" y="1600200"/>
            <a:ext cx="5120640" cy="420624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450" dirty="0">
                <a:solidFill>
                  <a:schemeClr val="tx1"/>
                </a:solidFill>
              </a:rPr>
              <a:t>Title and abstract</a:t>
            </a:r>
            <a:endParaRPr lang="en-US" sz="1450" dirty="0"/>
          </a:p>
          <a:p>
            <a:pPr marL="342900" indent="-342900">
              <a:spcAft>
                <a:spcPts val="300"/>
              </a:spcAft>
              <a:buSzPct val="100000"/>
              <a:buFont typeface="+mj-lt"/>
              <a:buAutoNum type="arabicPeriod"/>
            </a:pPr>
            <a:r>
              <a:rPr lang="en-US" sz="1450" dirty="0">
                <a:solidFill>
                  <a:schemeClr val="tx1"/>
                </a:solidFill>
              </a:rPr>
              <a:t>Introduction and motivation</a:t>
            </a:r>
            <a:endParaRPr lang="en-US" sz="1450" dirty="0"/>
          </a:p>
          <a:p>
            <a:pPr marL="342900" indent="-342900">
              <a:spcAft>
                <a:spcPts val="300"/>
              </a:spcAft>
              <a:buSzPct val="100000"/>
              <a:buFont typeface="+mj-lt"/>
              <a:buAutoNum type="arabicPeriod"/>
            </a:pPr>
            <a:r>
              <a:rPr lang="en-US" sz="1450" dirty="0">
                <a:solidFill>
                  <a:schemeClr val="tx1"/>
                </a:solidFill>
              </a:rPr>
              <a:t>Literature review and gap</a:t>
            </a:r>
            <a:endParaRPr lang="en-US" sz="1450" dirty="0"/>
          </a:p>
          <a:p>
            <a:pPr marL="342900" indent="-342900">
              <a:spcAft>
                <a:spcPts val="300"/>
              </a:spcAft>
              <a:buSzPct val="100000"/>
              <a:buFont typeface="+mj-lt"/>
              <a:buAutoNum type="arabicPeriod"/>
            </a:pPr>
            <a:r>
              <a:rPr lang="en-US" sz="1450" dirty="0">
                <a:solidFill>
                  <a:schemeClr val="tx1"/>
                </a:solidFill>
              </a:rPr>
              <a:t>Dataset and preprocessing</a:t>
            </a:r>
            <a:endParaRPr lang="en-US" sz="1450" dirty="0"/>
          </a:p>
          <a:p>
            <a:pPr marL="342900" indent="-342900">
              <a:spcAft>
                <a:spcPts val="300"/>
              </a:spcAft>
              <a:buSzPct val="100000"/>
              <a:buFont typeface="+mj-lt"/>
              <a:buAutoNum type="arabicPeriod"/>
            </a:pPr>
            <a:r>
              <a:rPr lang="en-US" sz="1450" dirty="0">
                <a:solidFill>
                  <a:schemeClr val="tx1"/>
                </a:solidFill>
              </a:rPr>
              <a:t>Methodology and hybrid architecture</a:t>
            </a:r>
            <a:endParaRPr lang="en-US" sz="1450" dirty="0"/>
          </a:p>
          <a:p>
            <a:pPr marL="342900" indent="-342900">
              <a:spcAft>
                <a:spcPts val="300"/>
              </a:spcAft>
              <a:buSzPct val="100000"/>
              <a:buFont typeface="+mj-lt"/>
              <a:buAutoNum type="arabicPeriod"/>
            </a:pPr>
            <a:r>
              <a:rPr lang="en-US" sz="1450" dirty="0">
                <a:solidFill>
                  <a:schemeClr val="tx1"/>
                </a:solidFill>
              </a:rPr>
              <a:t>Experimental setup and metrics</a:t>
            </a:r>
            <a:endParaRPr lang="en-US" sz="1450" dirty="0"/>
          </a:p>
          <a:p>
            <a:pPr marL="342900" indent="-342900">
              <a:spcAft>
                <a:spcPts val="300"/>
              </a:spcAft>
              <a:buSzPct val="100000"/>
              <a:buFont typeface="+mj-lt"/>
              <a:buAutoNum type="arabicPeriod"/>
            </a:pPr>
            <a:r>
              <a:rPr lang="en-US" sz="1450" dirty="0">
                <a:solidFill>
                  <a:schemeClr val="tx1"/>
                </a:solidFill>
              </a:rPr>
              <a:t>Comparative results</a:t>
            </a:r>
            <a:endParaRPr lang="en-US" sz="1450" dirty="0"/>
          </a:p>
          <a:p>
            <a:pPr marL="342900" indent="-342900">
              <a:spcAft>
                <a:spcPts val="300"/>
              </a:spcAft>
              <a:buSzPct val="100000"/>
              <a:buFont typeface="+mj-lt"/>
              <a:buAutoNum type="arabicPeriod"/>
            </a:pPr>
            <a:r>
              <a:rPr lang="en-US" sz="1450" dirty="0">
                <a:solidFill>
                  <a:schemeClr val="tx1"/>
                </a:solidFill>
              </a:rPr>
              <a:t>Failure analysis and ablation</a:t>
            </a:r>
            <a:endParaRPr lang="en-US" sz="1450" dirty="0"/>
          </a:p>
          <a:p>
            <a:pPr marL="342900" indent="-342900">
              <a:spcAft>
                <a:spcPts val="300"/>
              </a:spcAft>
              <a:buSzPct val="100000"/>
              <a:buFont typeface="+mj-lt"/>
              <a:buAutoNum type="arabicPeriod"/>
            </a:pPr>
            <a:r>
              <a:rPr lang="en-US" sz="1450" dirty="0">
                <a:solidFill>
                  <a:schemeClr val="tx1"/>
                </a:solidFill>
              </a:rPr>
              <a:t>Explainable AI</a:t>
            </a:r>
            <a:endParaRPr lang="en-US" sz="1450" dirty="0"/>
          </a:p>
          <a:p>
            <a:pPr marL="342900" indent="-342900">
              <a:spcAft>
                <a:spcPts val="300"/>
              </a:spcAft>
              <a:buSzPct val="100000"/>
              <a:buFont typeface="+mj-lt"/>
              <a:buAutoNum type="arabicPeriod"/>
            </a:pPr>
            <a:r>
              <a:rPr lang="en-US" sz="1450" dirty="0">
                <a:solidFill>
                  <a:schemeClr val="tx1"/>
                </a:solidFill>
              </a:rPr>
              <a:t>Calibration and subgroup analysis</a:t>
            </a:r>
            <a:endParaRPr lang="en-US" sz="1450" dirty="0"/>
          </a:p>
          <a:p>
            <a:pPr marL="342900" indent="-342900">
              <a:spcAft>
                <a:spcPts val="300"/>
              </a:spcAft>
              <a:buSzPct val="100000"/>
              <a:buFont typeface="+mj-lt"/>
              <a:buAutoNum type="arabicPeriod"/>
            </a:pPr>
            <a:r>
              <a:rPr lang="en-US" sz="1450" dirty="0">
                <a:solidFill>
                  <a:schemeClr val="tx1"/>
                </a:solidFill>
              </a:rPr>
              <a:t>Discussion and limitations</a:t>
            </a:r>
            <a:endParaRPr lang="en-US" sz="1450" dirty="0"/>
          </a:p>
          <a:p>
            <a:pPr marL="342900" indent="-342900">
              <a:spcAft>
                <a:spcPts val="300"/>
              </a:spcAft>
              <a:buSzPct val="100000"/>
              <a:buFont typeface="+mj-lt"/>
              <a:buAutoNum type="arabicPeriod"/>
            </a:pPr>
            <a:r>
              <a:rPr lang="en-US" sz="1450" dirty="0">
                <a:solidFill>
                  <a:schemeClr val="tx1"/>
                </a:solidFill>
              </a:rPr>
              <a:t>Conclusion and future work</a:t>
            </a:r>
            <a:endParaRPr lang="en-US" sz="1450" dirty="0"/>
          </a:p>
          <a:p>
            <a:pPr marL="342900" indent="-342900">
              <a:spcAft>
                <a:spcPts val="300"/>
              </a:spcAft>
              <a:buSzPct val="100000"/>
              <a:buFont typeface="+mj-lt"/>
              <a:buAutoNum type="arabicPeriod"/>
            </a:pPr>
            <a:r>
              <a:rPr lang="en-US" sz="1450" dirty="0">
                <a:solidFill>
                  <a:schemeClr val="tx1"/>
                </a:solidFill>
              </a:rPr>
              <a:t>References and supplement</a:t>
            </a:r>
            <a:endParaRPr lang="en-US" sz="1450" dirty="0"/>
          </a:p>
        </p:txBody>
      </p:sp>
      <p:sp>
        <p:nvSpPr>
          <p:cNvPr id="5" name="Card Issues to address before submission"/>
          <p:cNvSpPr/>
          <p:nvPr/>
        </p:nvSpPr>
        <p:spPr>
          <a:xfrm>
            <a:off x="5852160" y="1234440"/>
            <a:ext cx="5897880" cy="448056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6" name="Text 4"/>
          <p:cNvSpPr txBox="1"/>
          <p:nvPr/>
        </p:nvSpPr>
        <p:spPr>
          <a:xfrm>
            <a:off x="5989320" y="1307592"/>
            <a:ext cx="562356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Issues to address before submission</a:t>
            </a:r>
            <a:endParaRPr lang="en-US" sz="1500" dirty="0"/>
          </a:p>
        </p:txBody>
      </p:sp>
      <p:sp>
        <p:nvSpPr>
          <p:cNvPr id="7" name="Text 5"/>
          <p:cNvSpPr txBox="1"/>
          <p:nvPr/>
        </p:nvSpPr>
        <p:spPr>
          <a:xfrm>
            <a:off x="5989320" y="1709928"/>
            <a:ext cx="5623560" cy="39319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Verify the exact 50 meta-features from source code</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Correct the XGBoost OOF sample-weight inconsistency</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Make tables and figures match saved results</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Do not claim hybrid superiority</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Explain weak Prediabetes performance clearly</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Add full hyperparameters and reproducibility details</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Add uncertainty analysis if predictions are available</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Remove unsupported CDC-dataset claims</a:t>
            </a:r>
            <a:endParaRPr lang="en-US" sz="1450" dirty="0"/>
          </a:p>
          <a:p>
            <a:pPr marL="342900" indent="-342900">
              <a:spcAft>
                <a:spcPts val="500"/>
              </a:spcAft>
              <a:buSzPct val="100000"/>
              <a:buChar char="•"/>
            </a:pPr>
            <a:r>
              <a:rPr lang="en-US" sz="1450" dirty="0">
                <a:solidFill>
                  <a:schemeClr val="tx1"/>
                </a:solidFill>
                <a:latin typeface="Calibri" pitchFamily="34" charset="0"/>
                <a:ea typeface="Calibri" pitchFamily="34" charset="-122"/>
                <a:cs typeface="Calibri" pitchFamily="34" charset="-120"/>
              </a:rPr>
              <a:t>Complete author, ethics, funding, conflict and code statements</a:t>
            </a:r>
            <a:endParaRPr lang="en-US" sz="1450" dirty="0"/>
          </a:p>
        </p:txBody>
      </p:sp>
      <p:sp>
        <p:nvSpPr>
          <p:cNvPr id="8" name="Shape 6"/>
          <p:cNvSpPr/>
          <p:nvPr/>
        </p:nvSpPr>
        <p:spPr>
          <a:xfrm>
            <a:off x="457200" y="5897880"/>
            <a:ext cx="2377440" cy="256032"/>
          </a:xfrm>
          <a:prstGeom prst="roundRect">
            <a:avLst>
              <a:gd name="adj" fmla="val 28571"/>
            </a:avLst>
          </a:prstGeom>
          <a:solidFill>
            <a:srgbClr val="B7791F"/>
          </a:solidFill>
          <a:ln w="6350">
            <a:solidFill>
              <a:srgbClr val="B7791F"/>
            </a:solidFill>
            <a:prstDash val="solid"/>
          </a:ln>
        </p:spPr>
      </p:sp>
      <p:sp>
        <p:nvSpPr>
          <p:cNvPr id="9" name="Text 7"/>
          <p:cNvSpPr txBox="1"/>
          <p:nvPr/>
        </p:nvSpPr>
        <p:spPr>
          <a:xfrm>
            <a:off x="457200" y="5897880"/>
            <a:ext cx="2377440" cy="256032"/>
          </a:xfrm>
          <a:prstGeom prst="rect">
            <a:avLst/>
          </a:prstGeom>
          <a:noFill/>
          <a:ln/>
        </p:spPr>
        <p:txBody>
          <a:bodyPr wrap="square" lIns="0" tIns="0" rIns="0" bIns="0" rtlCol="0" anchor="ctr"/>
          <a:lstStyle/>
          <a:p>
            <a:pPr marL="0" indent="0" algn="ctr">
              <a:buNone/>
            </a:pPr>
            <a:r>
              <a:rPr lang="en-US" sz="1000" b="1" dirty="0">
                <a:solidFill>
                  <a:schemeClr val="bg1"/>
                </a:solidFill>
              </a:rPr>
              <a:t>Status: Draft in progress</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VALIDATION CHECKLIST AND WORK COMPLETED</a:t>
            </a:r>
            <a:endParaRPr lang="en-US" sz="2400" dirty="0"/>
          </a:p>
        </p:txBody>
      </p:sp>
      <p:sp>
        <p:nvSpPr>
          <p:cNvPr id="3" name="Shape 1"/>
          <p:cNvSpPr/>
          <p:nvPr/>
        </p:nvSpPr>
        <p:spPr>
          <a:xfrm>
            <a:off x="457200" y="1280160"/>
            <a:ext cx="3657600" cy="4572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Shape 2"/>
          <p:cNvSpPr/>
          <p:nvPr/>
        </p:nvSpPr>
        <p:spPr>
          <a:xfrm>
            <a:off x="457200" y="1280160"/>
            <a:ext cx="3657600" cy="502920"/>
          </a:xfrm>
          <a:prstGeom prst="rect">
            <a:avLst/>
          </a:prstGeom>
          <a:solidFill>
            <a:srgbClr val="3F7D5A"/>
          </a:solidFill>
          <a:ln/>
        </p:spPr>
      </p:sp>
      <p:pic>
        <p:nvPicPr>
          <p:cNvPr id="5" name="Image 0" descr="preencoded.png"/>
          <p:cNvPicPr>
            <a:picLocks noChangeAspect="1"/>
          </p:cNvPicPr>
          <p:nvPr/>
        </p:nvPicPr>
        <p:blipFill>
          <a:blip r:embed="rId3"/>
          <a:stretch>
            <a:fillRect/>
          </a:stretch>
        </p:blipFill>
        <p:spPr>
          <a:xfrm>
            <a:off x="594360" y="1389888"/>
            <a:ext cx="274320" cy="274320"/>
          </a:xfrm>
          <a:prstGeom prst="rect">
            <a:avLst/>
          </a:prstGeom>
        </p:spPr>
      </p:pic>
      <p:sp>
        <p:nvSpPr>
          <p:cNvPr id="6" name="Text 3"/>
          <p:cNvSpPr txBox="1"/>
          <p:nvPr/>
        </p:nvSpPr>
        <p:spPr>
          <a:xfrm>
            <a:off x="960120" y="1280160"/>
            <a:ext cx="3063240" cy="502920"/>
          </a:xfrm>
          <a:prstGeom prst="rect">
            <a:avLst/>
          </a:prstGeom>
          <a:noFill/>
          <a:ln/>
        </p:spPr>
        <p:txBody>
          <a:bodyPr wrap="square" lIns="0" tIns="0" rIns="0" bIns="0" rtlCol="0" anchor="ctr"/>
          <a:lstStyle/>
          <a:p>
            <a:pPr marL="0" indent="0">
              <a:buNone/>
            </a:pPr>
            <a:r>
              <a:rPr lang="en-US" sz="1400" b="1" dirty="0">
                <a:solidFill>
                  <a:schemeClr val="bg1"/>
                </a:solidFill>
              </a:rPr>
              <a:t>Completed (only if verified)</a:t>
            </a:r>
            <a:endParaRPr lang="en-US" sz="1400" dirty="0"/>
          </a:p>
        </p:txBody>
      </p:sp>
      <p:sp>
        <p:nvSpPr>
          <p:cNvPr id="7" name="Text 4"/>
          <p:cNvSpPr txBox="1"/>
          <p:nvPr/>
        </p:nvSpPr>
        <p:spPr>
          <a:xfrm>
            <a:off x="640080" y="1920240"/>
            <a:ext cx="3337560" cy="38404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1"/>
                </a:solidFill>
              </a:rPr>
              <a:t>Dataset loading and preprocessing</a:t>
            </a:r>
            <a:endParaRPr lang="en-US" sz="1450" dirty="0"/>
          </a:p>
          <a:p>
            <a:pPr marL="342900" indent="-342900">
              <a:spcAft>
                <a:spcPts val="700"/>
              </a:spcAft>
              <a:buSzPct val="100000"/>
              <a:buChar char="•"/>
            </a:pPr>
            <a:r>
              <a:rPr lang="en-US" sz="1450" dirty="0">
                <a:solidFill>
                  <a:schemeClr val="tx1"/>
                </a:solidFill>
              </a:rPr>
              <a:t>Baseline model implementation</a:t>
            </a:r>
            <a:endParaRPr lang="en-US" sz="1450" dirty="0"/>
          </a:p>
          <a:p>
            <a:pPr marL="342900" indent="-342900">
              <a:spcAft>
                <a:spcPts val="700"/>
              </a:spcAft>
              <a:buSzPct val="100000"/>
              <a:buChar char="•"/>
            </a:pPr>
            <a:r>
              <a:rPr lang="en-US" sz="1450" dirty="0">
                <a:solidFill>
                  <a:schemeClr val="tx1"/>
                </a:solidFill>
              </a:rPr>
              <a:t>Current comparative evaluation</a:t>
            </a:r>
            <a:endParaRPr lang="en-US" sz="1450" dirty="0"/>
          </a:p>
          <a:p>
            <a:pPr marL="342900" indent="-342900">
              <a:spcAft>
                <a:spcPts val="700"/>
              </a:spcAft>
              <a:buSzPct val="100000"/>
              <a:buChar char="•"/>
            </a:pPr>
            <a:r>
              <a:rPr lang="en-US" sz="1450" dirty="0">
                <a:solidFill>
                  <a:schemeClr val="tx1"/>
                </a:solidFill>
              </a:rPr>
              <a:t>Initial hybrid implementation</a:t>
            </a:r>
            <a:endParaRPr lang="en-US" sz="1450" dirty="0"/>
          </a:p>
          <a:p>
            <a:pPr marL="342900" indent="-342900">
              <a:spcAft>
                <a:spcPts val="700"/>
              </a:spcAft>
              <a:buSzPct val="100000"/>
              <a:buChar char="•"/>
            </a:pPr>
            <a:r>
              <a:rPr lang="en-US" sz="1450" dirty="0">
                <a:solidFill>
                  <a:schemeClr val="tx1"/>
                </a:solidFill>
              </a:rPr>
              <a:t>Existing XAI experiments</a:t>
            </a:r>
            <a:endParaRPr lang="en-US" sz="1450" dirty="0"/>
          </a:p>
          <a:p>
            <a:pPr marL="342900" indent="-342900">
              <a:spcAft>
                <a:spcPts val="700"/>
              </a:spcAft>
              <a:buSzPct val="100000"/>
              <a:buChar char="•"/>
            </a:pPr>
            <a:r>
              <a:rPr lang="en-US" sz="1450" dirty="0">
                <a:solidFill>
                  <a:schemeClr val="tx1"/>
                </a:solidFill>
              </a:rPr>
              <a:t>Initial dashboard implementation</a:t>
            </a:r>
            <a:endParaRPr lang="en-US" sz="1450" dirty="0"/>
          </a:p>
          <a:p>
            <a:pPr marL="342900" indent="-342900">
              <a:spcAft>
                <a:spcPts val="700"/>
              </a:spcAft>
              <a:buSzPct val="100000"/>
              <a:buChar char="•"/>
            </a:pPr>
            <a:r>
              <a:rPr lang="en-US" sz="1450" dirty="0">
                <a:solidFill>
                  <a:schemeClr val="tx1"/>
                </a:solidFill>
              </a:rPr>
              <a:t>Research paper draft</a:t>
            </a:r>
            <a:endParaRPr lang="en-US" sz="1450" dirty="0"/>
          </a:p>
        </p:txBody>
      </p:sp>
      <p:sp>
        <p:nvSpPr>
          <p:cNvPr id="8" name="Shape 5"/>
          <p:cNvSpPr/>
          <p:nvPr/>
        </p:nvSpPr>
        <p:spPr>
          <a:xfrm>
            <a:off x="4279392" y="1280160"/>
            <a:ext cx="3657600" cy="4572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9" name="Shape 6"/>
          <p:cNvSpPr/>
          <p:nvPr/>
        </p:nvSpPr>
        <p:spPr>
          <a:xfrm>
            <a:off x="4279392" y="1280160"/>
            <a:ext cx="3657600" cy="502920"/>
          </a:xfrm>
          <a:prstGeom prst="rect">
            <a:avLst/>
          </a:prstGeom>
          <a:solidFill>
            <a:srgbClr val="B7791F"/>
          </a:solidFill>
          <a:ln/>
        </p:spPr>
      </p:sp>
      <p:pic>
        <p:nvPicPr>
          <p:cNvPr id="10" name="Image 1" descr="preencoded.png"/>
          <p:cNvPicPr>
            <a:picLocks noChangeAspect="1"/>
          </p:cNvPicPr>
          <p:nvPr/>
        </p:nvPicPr>
        <p:blipFill>
          <a:blip r:embed="rId4"/>
          <a:stretch>
            <a:fillRect/>
          </a:stretch>
        </p:blipFill>
        <p:spPr>
          <a:xfrm>
            <a:off x="4416552" y="1389888"/>
            <a:ext cx="274320" cy="274320"/>
          </a:xfrm>
          <a:prstGeom prst="rect">
            <a:avLst/>
          </a:prstGeom>
        </p:spPr>
      </p:pic>
      <p:sp>
        <p:nvSpPr>
          <p:cNvPr id="11" name="Text 7"/>
          <p:cNvSpPr txBox="1"/>
          <p:nvPr/>
        </p:nvSpPr>
        <p:spPr>
          <a:xfrm>
            <a:off x="4782312" y="1280160"/>
            <a:ext cx="3063240" cy="502920"/>
          </a:xfrm>
          <a:prstGeom prst="rect">
            <a:avLst/>
          </a:prstGeom>
          <a:noFill/>
          <a:ln/>
        </p:spPr>
        <p:txBody>
          <a:bodyPr wrap="square" lIns="0" tIns="0" rIns="0" bIns="0" rtlCol="0" anchor="ctr"/>
          <a:lstStyle/>
          <a:p>
            <a:pPr marL="0" indent="0">
              <a:buNone/>
            </a:pPr>
            <a:r>
              <a:rPr lang="en-US" sz="1400" b="1" dirty="0">
                <a:solidFill>
                  <a:schemeClr val="bg1"/>
                </a:solidFill>
              </a:rPr>
              <a:t>Requires validation</a:t>
            </a:r>
            <a:endParaRPr lang="en-US" sz="1400" dirty="0"/>
          </a:p>
        </p:txBody>
      </p:sp>
      <p:sp>
        <p:nvSpPr>
          <p:cNvPr id="12" name="Text 8"/>
          <p:cNvSpPr txBox="1"/>
          <p:nvPr/>
        </p:nvSpPr>
        <p:spPr>
          <a:xfrm>
            <a:off x="4462272" y="1920240"/>
            <a:ext cx="3337560" cy="38404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1"/>
                </a:solidFill>
              </a:rPr>
              <a:t>Corrected XGBoost OOF predictions</a:t>
            </a:r>
            <a:endParaRPr lang="en-US" sz="1450" dirty="0"/>
          </a:p>
          <a:p>
            <a:pPr marL="342900" indent="-342900">
              <a:spcAft>
                <a:spcPts val="700"/>
              </a:spcAft>
              <a:buSzPct val="100000"/>
              <a:buChar char="•"/>
            </a:pPr>
            <a:r>
              <a:rPr lang="en-US" sz="1450" dirty="0">
                <a:solidFill>
                  <a:schemeClr val="tx1"/>
                </a:solidFill>
              </a:rPr>
              <a:t>Exact 50-feature reconstruction</a:t>
            </a:r>
            <a:endParaRPr lang="en-US" sz="1450" dirty="0"/>
          </a:p>
          <a:p>
            <a:pPr marL="342900" indent="-342900">
              <a:spcAft>
                <a:spcPts val="700"/>
              </a:spcAft>
              <a:buSzPct val="100000"/>
              <a:buChar char="•"/>
            </a:pPr>
            <a:r>
              <a:rPr lang="en-US" sz="1450" dirty="0">
                <a:solidFill>
                  <a:schemeClr val="tx1"/>
                </a:solidFill>
              </a:rPr>
              <a:t>Train/test duplicate overlap</a:t>
            </a:r>
            <a:endParaRPr lang="en-US" sz="1450" dirty="0"/>
          </a:p>
          <a:p>
            <a:pPr marL="342900" indent="-342900">
              <a:spcAft>
                <a:spcPts val="700"/>
              </a:spcAft>
              <a:buSzPct val="100000"/>
              <a:buChar char="•"/>
            </a:pPr>
            <a:r>
              <a:rPr lang="en-US" sz="1450" dirty="0">
                <a:solidFill>
                  <a:schemeClr val="tx1"/>
                </a:solidFill>
              </a:rPr>
              <a:t>Saved outputs vs manuscript tables</a:t>
            </a:r>
            <a:endParaRPr lang="en-US" sz="1450" dirty="0"/>
          </a:p>
          <a:p>
            <a:pPr marL="342900" indent="-342900">
              <a:spcAft>
                <a:spcPts val="700"/>
              </a:spcAft>
              <a:buSzPct val="100000"/>
              <a:buChar char="•"/>
            </a:pPr>
            <a:r>
              <a:rPr lang="en-US" sz="1450" dirty="0">
                <a:solidFill>
                  <a:schemeClr val="tx1"/>
                </a:solidFill>
              </a:rPr>
              <a:t>Full dashboard run and error handling</a:t>
            </a:r>
            <a:endParaRPr lang="en-US" sz="1450" dirty="0"/>
          </a:p>
          <a:p>
            <a:pPr marL="342900" indent="-342900">
              <a:spcAft>
                <a:spcPts val="700"/>
              </a:spcAft>
              <a:buSzPct val="100000"/>
              <a:buChar char="•"/>
            </a:pPr>
            <a:r>
              <a:rPr lang="en-US" sz="1450" dirty="0">
                <a:solidFill>
                  <a:schemeClr val="tx1"/>
                </a:solidFill>
              </a:rPr>
              <a:t>Clean-environment reproducibility</a:t>
            </a:r>
            <a:endParaRPr lang="en-US" sz="1450" dirty="0"/>
          </a:p>
          <a:p>
            <a:pPr marL="342900" indent="-342900">
              <a:spcAft>
                <a:spcPts val="700"/>
              </a:spcAft>
              <a:buSzPct val="100000"/>
              <a:buChar char="•"/>
            </a:pPr>
            <a:r>
              <a:rPr lang="en-US" sz="1450" dirty="0">
                <a:solidFill>
                  <a:schemeClr val="tx1"/>
                </a:solidFill>
              </a:rPr>
              <a:t>Final GitHub repository state</a:t>
            </a:r>
            <a:endParaRPr lang="en-US" sz="1450" dirty="0"/>
          </a:p>
        </p:txBody>
      </p:sp>
      <p:sp>
        <p:nvSpPr>
          <p:cNvPr id="13" name="Shape 9"/>
          <p:cNvSpPr/>
          <p:nvPr/>
        </p:nvSpPr>
        <p:spPr>
          <a:xfrm>
            <a:off x="8101584" y="1280160"/>
            <a:ext cx="3657600" cy="457200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14" name="Shape 10"/>
          <p:cNvSpPr/>
          <p:nvPr/>
        </p:nvSpPr>
        <p:spPr>
          <a:xfrm>
            <a:off x="8101584" y="1280160"/>
            <a:ext cx="3657600" cy="502920"/>
          </a:xfrm>
          <a:prstGeom prst="rect">
            <a:avLst/>
          </a:prstGeom>
          <a:solidFill>
            <a:srgbClr val="B3262E"/>
          </a:solidFill>
          <a:ln/>
        </p:spPr>
      </p:sp>
      <p:pic>
        <p:nvPicPr>
          <p:cNvPr id="15" name="Image 2" descr="preencoded.png"/>
          <p:cNvPicPr>
            <a:picLocks noChangeAspect="1"/>
          </p:cNvPicPr>
          <p:nvPr/>
        </p:nvPicPr>
        <p:blipFill>
          <a:blip r:embed="rId5"/>
          <a:stretch>
            <a:fillRect/>
          </a:stretch>
        </p:blipFill>
        <p:spPr>
          <a:xfrm>
            <a:off x="8238744" y="1389888"/>
            <a:ext cx="274320" cy="274320"/>
          </a:xfrm>
          <a:prstGeom prst="rect">
            <a:avLst/>
          </a:prstGeom>
        </p:spPr>
      </p:pic>
      <p:sp>
        <p:nvSpPr>
          <p:cNvPr id="16" name="Text 11"/>
          <p:cNvSpPr txBox="1"/>
          <p:nvPr/>
        </p:nvSpPr>
        <p:spPr>
          <a:xfrm>
            <a:off x="8604504" y="1280160"/>
            <a:ext cx="3063240" cy="502920"/>
          </a:xfrm>
          <a:prstGeom prst="rect">
            <a:avLst/>
          </a:prstGeom>
          <a:noFill/>
          <a:ln/>
        </p:spPr>
        <p:txBody>
          <a:bodyPr wrap="square" lIns="0" tIns="0" rIns="0" bIns="0" rtlCol="0" anchor="ctr"/>
          <a:lstStyle/>
          <a:p>
            <a:pPr marL="0" indent="0">
              <a:buNone/>
            </a:pPr>
            <a:r>
              <a:rPr lang="en-US" sz="1400" b="1" dirty="0">
                <a:solidFill>
                  <a:schemeClr val="bg1"/>
                </a:solidFill>
              </a:rPr>
              <a:t>Next actions</a:t>
            </a:r>
            <a:endParaRPr lang="en-US" sz="1400" dirty="0"/>
          </a:p>
        </p:txBody>
      </p:sp>
      <p:sp>
        <p:nvSpPr>
          <p:cNvPr id="17" name="Text 12"/>
          <p:cNvSpPr txBox="1"/>
          <p:nvPr/>
        </p:nvSpPr>
        <p:spPr>
          <a:xfrm>
            <a:off x="8284464" y="1920240"/>
            <a:ext cx="3337560" cy="38404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1"/>
                </a:solidFill>
              </a:rPr>
              <a:t>Correct the OOF weighting issue</a:t>
            </a:r>
            <a:endParaRPr lang="en-US" sz="1450" dirty="0"/>
          </a:p>
          <a:p>
            <a:pPr marL="342900" indent="-342900">
              <a:spcAft>
                <a:spcPts val="700"/>
              </a:spcAft>
              <a:buSzPct val="100000"/>
              <a:buChar char="•"/>
            </a:pPr>
            <a:r>
              <a:rPr lang="en-US" sz="1450" dirty="0">
                <a:solidFill>
                  <a:schemeClr val="tx1"/>
                </a:solidFill>
              </a:rPr>
              <a:t>Rebuild the affected hybrid if needed</a:t>
            </a:r>
            <a:endParaRPr lang="en-US" sz="1450" dirty="0"/>
          </a:p>
          <a:p>
            <a:pPr marL="342900" indent="-342900">
              <a:spcAft>
                <a:spcPts val="700"/>
              </a:spcAft>
              <a:buSzPct val="100000"/>
              <a:buChar char="•"/>
            </a:pPr>
            <a:r>
              <a:rPr lang="en-US" sz="1450" dirty="0">
                <a:solidFill>
                  <a:schemeClr val="tx1"/>
                </a:solidFill>
              </a:rPr>
              <a:t>Targeted Prediabetes improvements</a:t>
            </a:r>
            <a:endParaRPr lang="en-US" sz="1450" dirty="0"/>
          </a:p>
          <a:p>
            <a:pPr marL="342900" indent="-342900">
              <a:spcAft>
                <a:spcPts val="700"/>
              </a:spcAft>
              <a:buSzPct val="100000"/>
              <a:buChar char="•"/>
            </a:pPr>
            <a:r>
              <a:rPr lang="en-US" sz="1450" dirty="0">
                <a:solidFill>
                  <a:schemeClr val="tx1"/>
                </a:solidFill>
              </a:rPr>
              <a:t>Leakage-safe final validation</a:t>
            </a:r>
            <a:endParaRPr lang="en-US" sz="1450" dirty="0"/>
          </a:p>
          <a:p>
            <a:pPr marL="342900" indent="-342900">
              <a:spcAft>
                <a:spcPts val="700"/>
              </a:spcAft>
              <a:buSzPct val="100000"/>
              <a:buChar char="•"/>
            </a:pPr>
            <a:r>
              <a:rPr lang="en-US" sz="1450" dirty="0">
                <a:solidFill>
                  <a:schemeClr val="tx1"/>
                </a:solidFill>
              </a:rPr>
              <a:t>Update figures, tables and manuscript</a:t>
            </a:r>
            <a:endParaRPr lang="en-US" sz="1450" dirty="0"/>
          </a:p>
          <a:p>
            <a:pPr marL="342900" indent="-342900">
              <a:spcAft>
                <a:spcPts val="700"/>
              </a:spcAft>
              <a:buSzPct val="100000"/>
              <a:buChar char="•"/>
            </a:pPr>
            <a:r>
              <a:rPr lang="en-US" sz="1450" dirty="0">
                <a:solidFill>
                  <a:schemeClr val="tx1"/>
                </a:solidFill>
              </a:rPr>
              <a:t>Finalise repository documentation</a:t>
            </a:r>
            <a:endParaRPr lang="en-US" sz="1450" dirty="0"/>
          </a:p>
        </p:txBody>
      </p:sp>
      <p:sp>
        <p:nvSpPr>
          <p:cNvPr id="18" name="Shape 13"/>
          <p:cNvSpPr/>
          <p:nvPr/>
        </p:nvSpPr>
        <p:spPr>
          <a:xfrm>
            <a:off x="457200" y="5943600"/>
            <a:ext cx="11292840" cy="411480"/>
          </a:xfrm>
          <a:prstGeom prst="rect">
            <a:avLst/>
          </a:prstGeom>
          <a:solidFill>
            <a:schemeClr val="tx2"/>
          </a:solidFill>
          <a:ln w="6350">
            <a:solidFill>
              <a:schemeClr val="tx2"/>
            </a:solidFill>
            <a:prstDash val="solid"/>
          </a:ln>
        </p:spPr>
      </p:sp>
      <p:sp>
        <p:nvSpPr>
          <p:cNvPr id="19" name="Text 14"/>
          <p:cNvSpPr txBox="1"/>
          <p:nvPr/>
        </p:nvSpPr>
        <p:spPr>
          <a:xfrm>
            <a:off x="640080" y="5943600"/>
            <a:ext cx="10927080" cy="411480"/>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Mark an item complete only if the corresponding evidence exists.</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148840" y="347472"/>
            <a:ext cx="9601200" cy="65836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CONCLUSION AND FUTURE SCOPE</a:t>
            </a:r>
            <a:endParaRPr lang="en-US" sz="2400" dirty="0"/>
          </a:p>
        </p:txBody>
      </p:sp>
      <p:sp>
        <p:nvSpPr>
          <p:cNvPr id="3" name="Card Conclusion"/>
          <p:cNvSpPr/>
          <p:nvPr/>
        </p:nvSpPr>
        <p:spPr>
          <a:xfrm>
            <a:off x="457200" y="1280160"/>
            <a:ext cx="5532120" cy="374904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4" name="Text 2"/>
          <p:cNvSpPr txBox="1"/>
          <p:nvPr/>
        </p:nvSpPr>
        <p:spPr>
          <a:xfrm>
            <a:off x="594360" y="135331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Conclusion</a:t>
            </a:r>
            <a:endParaRPr lang="en-US" sz="1500" dirty="0"/>
          </a:p>
        </p:txBody>
      </p:sp>
      <p:sp>
        <p:nvSpPr>
          <p:cNvPr id="5" name="Text 3"/>
          <p:cNvSpPr txBox="1"/>
          <p:nvPr/>
        </p:nvSpPr>
        <p:spPr>
          <a:xfrm>
            <a:off x="594360" y="1755648"/>
            <a:ext cx="525780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Implemented a three-class diabetes classification workflow on BRFSS indicators.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Evaluated seven standalone models and several ensembles.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Investigated a confidence- and disagreement-aware hybrid with a balanced Logistic Regression meta-learner.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 more complex ensemble did not automatically beat simpler ones.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Class imbalance and weak Prediabetes recognition remain central challenges.</a:t>
            </a:r>
            <a:endParaRPr lang="en-US" sz="1500" dirty="0"/>
          </a:p>
        </p:txBody>
      </p:sp>
      <p:sp>
        <p:nvSpPr>
          <p:cNvPr id="6" name="Card Future scope"/>
          <p:cNvSpPr/>
          <p:nvPr/>
        </p:nvSpPr>
        <p:spPr>
          <a:xfrm>
            <a:off x="6217920" y="1280160"/>
            <a:ext cx="5532120" cy="3749040"/>
          </a:xfrm>
          <a:prstGeom prst="rect">
            <a:avLst/>
          </a:prstGeom>
          <a:solidFill>
            <a:schemeClr val="bg2"/>
          </a:solidFill>
          <a:ln w="9525">
            <a:solidFill>
              <a:schemeClr val="accent4"/>
            </a:solidFill>
            <a:prstDash val="solid"/>
          </a:ln>
          <a:effectLst>
            <a:outerShdw blurRad="76200" dist="25400" dir="5400000" algn="bl" rotWithShape="0">
              <a:srgbClr val="000000">
                <a:alpha val="12000"/>
              </a:srgbClr>
            </a:outerShdw>
          </a:effectLst>
        </p:spPr>
      </p:sp>
      <p:sp>
        <p:nvSpPr>
          <p:cNvPr id="7" name="Text 5"/>
          <p:cNvSpPr txBox="1"/>
          <p:nvPr/>
        </p:nvSpPr>
        <p:spPr>
          <a:xfrm>
            <a:off x="6355080" y="1353312"/>
            <a:ext cx="5257800" cy="365760"/>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Future scope</a:t>
            </a:r>
            <a:endParaRPr lang="en-US" sz="1500" dirty="0"/>
          </a:p>
        </p:txBody>
      </p:sp>
      <p:sp>
        <p:nvSpPr>
          <p:cNvPr id="8" name="Text 6"/>
          <p:cNvSpPr txBox="1"/>
          <p:nvPr/>
        </p:nvSpPr>
        <p:spPr>
          <a:xfrm>
            <a:off x="6355080" y="1755648"/>
            <a:ext cx="525780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Correct and validate OOF generation.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Improve Prediabetes-sensitive learning; cost-sensitive and hierarchical models.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Improve probability calibration.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Statistical uncertainty analysis.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Validate on an independent dataset.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Improve dashboard usability; complete manuscript and repository.</a:t>
            </a:r>
            <a:endParaRPr lang="en-US" sz="1500" dirty="0"/>
          </a:p>
        </p:txBody>
      </p:sp>
      <p:sp>
        <p:nvSpPr>
          <p:cNvPr id="9" name="Shape 7"/>
          <p:cNvSpPr/>
          <p:nvPr/>
        </p:nvSpPr>
        <p:spPr>
          <a:xfrm>
            <a:off x="457200" y="5257800"/>
            <a:ext cx="11292840" cy="1005840"/>
          </a:xfrm>
          <a:prstGeom prst="rect">
            <a:avLst/>
          </a:prstGeom>
          <a:solidFill>
            <a:schemeClr val="tx2"/>
          </a:solidFill>
          <a:ln/>
        </p:spPr>
      </p:sp>
      <p:sp>
        <p:nvSpPr>
          <p:cNvPr id="10" name="Text 8"/>
          <p:cNvSpPr txBox="1"/>
          <p:nvPr/>
        </p:nvSpPr>
        <p:spPr>
          <a:xfrm>
            <a:off x="731520" y="5257800"/>
            <a:ext cx="10744200" cy="1005840"/>
          </a:xfrm>
          <a:prstGeom prst="rect">
            <a:avLst/>
          </a:prstGeom>
          <a:noFill/>
          <a:ln/>
        </p:spPr>
        <p:txBody>
          <a:bodyPr wrap="square" lIns="0" tIns="0" rIns="0" bIns="0" rtlCol="0" anchor="ctr"/>
          <a:lstStyle/>
          <a:p>
            <a:pPr marL="0" indent="0">
              <a:buNone/>
            </a:pPr>
            <a:r>
              <a:rPr lang="en-US" sz="1800" i="1" dirty="0">
                <a:solidFill>
                  <a:schemeClr val="bg1"/>
                </a:solidFill>
                <a:latin typeface="Cambria" pitchFamily="34" charset="0"/>
                <a:ea typeface="Cambria" pitchFamily="34" charset="-122"/>
                <a:cs typeface="Cambria" pitchFamily="34" charset="-120"/>
              </a:rPr>
              <a:t>Our objective is not simply to maximise accuracy, but to develop a reproducible, interpretable and rigorously evaluated diabetes classification framework.</a:t>
            </a:r>
            <a:endParaRPr lang="en-US" sz="18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480560" y="2446020"/>
            <a:ext cx="2720340" cy="1554480"/>
          </a:xfrm>
          <a:prstGeom prst="rect">
            <a:avLst/>
          </a:prstGeom>
          <a:noFill/>
          <a:ln/>
        </p:spPr>
        <p:txBody>
          <a:bodyPr wrap="square" lIns="0" tIns="0" rIns="0" bIns="0"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822960" y="3429000"/>
            <a:ext cx="7315200" cy="457200"/>
          </a:xfrm>
          <a:prstGeom prst="rect">
            <a:avLst/>
          </a:prstGeom>
          <a:noFill/>
          <a:ln/>
        </p:spPr>
        <p:txBody>
          <a:bodyPr wrap="square" lIns="0" tIns="0" rIns="0" bIns="0" rtlCol="0" anchor="ctr"/>
          <a:lstStyle/>
          <a:p>
            <a:pPr marL="0" indent="0">
              <a:buNone/>
            </a:pPr>
            <a:endParaRPr lang="en-US" sz="2400" dirty="0"/>
          </a:p>
        </p:txBody>
      </p:sp>
    </p:spTree>
  </p:cSld>
  <p:clrMapOvr>
    <a:masterClrMapping/>
  </p:clrMapOvr>
</p:sld>
</file>

<file path=ppt/theme/theme1.xml><?xml version="1.0" encoding="utf-8"?>
<a:theme xmlns:a="http://schemas.openxmlformats.org/drawingml/2006/main" name="Maroon Academic">
  <a:themeElements>
    <a:clrScheme name="Maroon Academic">
      <a:dk1>
        <a:srgbClr val="222222"/>
      </a:dk1>
      <a:lt1>
        <a:srgbClr val="FFFFFF"/>
      </a:lt1>
      <a:dk2>
        <a:srgbClr val="5E1520"/>
      </a:dk2>
      <a:lt2>
        <a:srgbClr val="F4F1F1"/>
      </a:lt2>
      <a:accent1>
        <a:srgbClr val="B3262E"/>
      </a:accent1>
      <a:accent2>
        <a:srgbClr val="7A1F2B"/>
      </a:accent2>
      <a:accent3>
        <a:srgbClr val="8C8C8C"/>
      </a:accent3>
      <a:accent4>
        <a:srgbClr val="E9CDD0"/>
      </a:accent4>
      <a:accent5>
        <a:srgbClr val="3F7D5A"/>
      </a:accent5>
      <a:accent6>
        <a:srgbClr val="B7791F"/>
      </a:accent6>
      <a:hlink>
        <a:srgbClr val="7A1F2B"/>
      </a:hlink>
      <a:folHlink>
        <a:srgbClr val="8C8C8C"/>
      </a:folHlink>
    </a:clrScheme>
    <a:fontScheme name="Maroon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3258</Words>
  <Application>Microsoft Office PowerPoint</Application>
  <PresentationFormat>Widescreen</PresentationFormat>
  <Paragraphs>463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Maroon Academic</vt:lpstr>
      <vt:lpstr>Three-Class Diabetes Status Prediction with Failure-Aware Ensemble Learning and Explainable AI </vt:lpstr>
      <vt:lpstr>PROJECT OVERVIEW AND MOTIVATION</vt:lpstr>
      <vt:lpstr>PROJECT OBJECTIVES</vt:lpstr>
      <vt:lpstr>LITERATURE REVIEW: EXISTING APPROACHES</vt:lpstr>
      <vt:lpstr>LITERATURE REVIEW: RESEARCH GAP</vt:lpstr>
      <vt:lpstr>DATASET DESCRIPTION AND PREPROCESSING</vt:lpstr>
      <vt:lpstr>SYSTEM ARCHITECTURE AND METHODOLOGY</vt:lpstr>
      <vt:lpstr>BASELINE MODELS AND IMPLEMENTATION</vt:lpstr>
      <vt:lpstr>FAILURE-AWARE HYBRID ARCHITECTURE</vt:lpstr>
      <vt:lpstr>DASHBOARD EXECUTION AND FUNCTIONALITY</vt:lpstr>
      <vt:lpstr>COMPARATIVE MODEL RESULTS</vt:lpstr>
      <vt:lpstr>PREDIABETES PERFORMANCE AND FAILURE ANALYSIS</vt:lpstr>
      <vt:lpstr>EXPLAINABLE AI, CALIBRATION AND SUBGROUP ANALYSIS</vt:lpstr>
      <vt:lpstr>CODE VALIDATION AND GITHUB REPOSITORY UPDATE</vt:lpstr>
      <vt:lpstr>RESEARCH PAPER DRAFT AND PUBLICATION READINESS</vt:lpstr>
      <vt:lpstr>VALIDATION CHECKLIST AND WORK COMPLETED</vt:lpstr>
      <vt:lpstr>CONCLUSION AND FUTURE SCOPE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Public Health Surveillance Using Data Analytics - Project Review-3</dc:title>
  <dc:subject>PptxGenJS Presentation</dc:subject>
  <dc:creator>Team 11</dc:creator>
  <cp:lastModifiedBy>sidharth reddy</cp:lastModifiedBy>
  <cp:revision>3</cp:revision>
  <dcterms:created xsi:type="dcterms:W3CDTF">2026-10-12T05:09:25Z</dcterms:created>
  <dcterms:modified xsi:type="dcterms:W3CDTF">2026-10-28T06:48:47Z</dcterms:modified>
</cp:coreProperties>
</file>